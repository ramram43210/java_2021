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6"/>
  </p:notesMasterIdLst>
  <p:sldIdLst>
    <p:sldId id="472" r:id="rId2"/>
    <p:sldId id="473" r:id="rId3"/>
    <p:sldId id="474" r:id="rId4"/>
    <p:sldId id="475" r:id="rId5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291" autoAdjust="0"/>
  </p:normalViewPr>
  <p:slideViewPr>
    <p:cSldViewPr>
      <p:cViewPr>
        <p:scale>
          <a:sx n="90" d="100"/>
          <a:sy n="90" d="100"/>
        </p:scale>
        <p:origin x="418" y="-34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32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02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75432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Imagine you want to order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from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restaurant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, but you're too busy to go there yourself. So, you ask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(the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) to go to the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restaurant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and bring back the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for you. In this scenario, your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acts as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middleman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between you and the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restaurant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, handling the task of getting the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on your behalf.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1800" dirty="0">
              <a:solidFill>
                <a:srgbClr val="0D0D0D"/>
              </a:solidFill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Similarly, in computer world,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is like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middleman server or service 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that acts on behalf of a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client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 to interact with other </a:t>
            </a:r>
            <a:r>
              <a:rPr lang="en-US" sz="1800" i="0" dirty="0">
                <a:solidFill>
                  <a:srgbClr val="FF0000"/>
                </a:solidFill>
                <a:effectLst/>
                <a:latin typeface="Söhne"/>
              </a:rPr>
              <a:t>servers or services</a:t>
            </a:r>
            <a:r>
              <a:rPr lang="en-US" sz="180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280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1026" name="Picture 2" descr="Cartoon Man Images - Free Download on Freepik">
            <a:extLst>
              <a:ext uri="{FF2B5EF4-FFF2-40B4-BE49-F238E27FC236}">
                <a16:creationId xmlns:a16="http://schemas.microsoft.com/office/drawing/2014/main" id="{EFCAD2B6-2D3E-8A5B-DE53-DF5622413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63" y="2991072"/>
            <a:ext cx="2036722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oon Man Images - Free Download on Freepik">
            <a:extLst>
              <a:ext uri="{FF2B5EF4-FFF2-40B4-BE49-F238E27FC236}">
                <a16:creationId xmlns:a16="http://schemas.microsoft.com/office/drawing/2014/main" id="{0D67217E-EC44-7B0B-69B0-24E43639C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607" y="2961488"/>
            <a:ext cx="122311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1EA04BD7-3DA7-C9FE-9B60-4BCE6C0E24F4}"/>
              </a:ext>
            </a:extLst>
          </p:cNvPr>
          <p:cNvSpPr/>
          <p:nvPr/>
        </p:nvSpPr>
        <p:spPr>
          <a:xfrm>
            <a:off x="2057400" y="4114800"/>
            <a:ext cx="22098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35BDD43F-6EE5-2A8F-D34C-1E31B49C0FDB}"/>
              </a:ext>
            </a:extLst>
          </p:cNvPr>
          <p:cNvSpPr/>
          <p:nvPr/>
        </p:nvSpPr>
        <p:spPr>
          <a:xfrm>
            <a:off x="5456633" y="4114800"/>
            <a:ext cx="17526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2F9DD-4B7C-0CA5-6E79-76D906FDA0A8}"/>
              </a:ext>
            </a:extLst>
          </p:cNvPr>
          <p:cNvSpPr txBox="1"/>
          <p:nvPr/>
        </p:nvSpPr>
        <p:spPr>
          <a:xfrm>
            <a:off x="4313168" y="2423165"/>
            <a:ext cx="889987" cy="47000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3DEB3-2E6B-2CA4-1F42-70C378D0D8E0}"/>
              </a:ext>
            </a:extLst>
          </p:cNvPr>
          <p:cNvSpPr txBox="1"/>
          <p:nvPr/>
        </p:nvSpPr>
        <p:spPr>
          <a:xfrm>
            <a:off x="8915400" y="2612565"/>
            <a:ext cx="1566583" cy="47000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Restaurant</a:t>
            </a:r>
          </a:p>
        </p:txBody>
      </p:sp>
      <p:pic>
        <p:nvPicPr>
          <p:cNvPr id="8" name="Picture 2" descr="pizza restaurant - Google Search">
            <a:extLst>
              <a:ext uri="{FF2B5EF4-FFF2-40B4-BE49-F238E27FC236}">
                <a16:creationId xmlns:a16="http://schemas.microsoft.com/office/drawing/2014/main" id="{CDC11E43-F958-949F-B1EC-B6684B0CA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49" y="3171578"/>
            <a:ext cx="4649648" cy="306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A3E781F-D617-255A-FA82-C77E6A6DA463}"/>
              </a:ext>
            </a:extLst>
          </p:cNvPr>
          <p:cNvSpPr/>
          <p:nvPr/>
        </p:nvSpPr>
        <p:spPr>
          <a:xfrm>
            <a:off x="985945" y="3156354"/>
            <a:ext cx="2263237" cy="328612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93899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Söhne"/>
              </a:rPr>
              <a:t>Forward Proxy: 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Continuing with the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analogy, let's say you want to order a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from a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restaurant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, but the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is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restricted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in your region. So, you use a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forward proxy 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(like a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VPN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proxy server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) to access the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indirectly.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0D0D0D"/>
              </a:solidFill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forward proxy 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sits between your device and the internet, forwarding your requests to the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 on your behalf. It helps you 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bypass restrictions </a:t>
            </a:r>
            <a:r>
              <a:rPr lang="en-US" sz="2000" i="0" dirty="0">
                <a:solidFill>
                  <a:srgbClr val="0D0D0D"/>
                </a:solidFill>
                <a:effectLst/>
                <a:latin typeface="Söhne"/>
              </a:rPr>
              <a:t>and access content that might otherwise be blocked.</a:t>
            </a:r>
            <a:endParaRPr lang="en-US" sz="320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5" name="Picture 2" descr="Cartoon Man Images - Free Download on Freepik">
            <a:extLst>
              <a:ext uri="{FF2B5EF4-FFF2-40B4-BE49-F238E27FC236}">
                <a16:creationId xmlns:a16="http://schemas.microsoft.com/office/drawing/2014/main" id="{8C45759C-ABBB-EFC4-F296-B20EB91B7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89" y="3285642"/>
            <a:ext cx="2036722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047D2F8F-68F7-521A-D0DE-5791DFA82210}"/>
              </a:ext>
            </a:extLst>
          </p:cNvPr>
          <p:cNvSpPr/>
          <p:nvPr/>
        </p:nvSpPr>
        <p:spPr>
          <a:xfrm>
            <a:off x="2868182" y="4438954"/>
            <a:ext cx="22098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980B6922-D997-1CB2-897C-686BB7346647}"/>
              </a:ext>
            </a:extLst>
          </p:cNvPr>
          <p:cNvSpPr/>
          <p:nvPr/>
        </p:nvSpPr>
        <p:spPr>
          <a:xfrm>
            <a:off x="6267415" y="4438954"/>
            <a:ext cx="17526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FB0BCC-FE04-5758-0830-528D06922F48}"/>
              </a:ext>
            </a:extLst>
          </p:cNvPr>
          <p:cNvSpPr txBox="1"/>
          <p:nvPr/>
        </p:nvSpPr>
        <p:spPr>
          <a:xfrm>
            <a:off x="4876800" y="3429250"/>
            <a:ext cx="17526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  Forward Proxy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E2166-82D3-2430-5B54-13ACB20B5D81}"/>
              </a:ext>
            </a:extLst>
          </p:cNvPr>
          <p:cNvSpPr txBox="1"/>
          <p:nvPr/>
        </p:nvSpPr>
        <p:spPr>
          <a:xfrm>
            <a:off x="8471611" y="2727530"/>
            <a:ext cx="2681824" cy="47000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Restaurant Website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978CBF-E796-1F4F-10A7-A7D95D3929C9}"/>
              </a:ext>
            </a:extLst>
          </p:cNvPr>
          <p:cNvSpPr txBox="1"/>
          <p:nvPr/>
        </p:nvSpPr>
        <p:spPr>
          <a:xfrm>
            <a:off x="1221417" y="2667000"/>
            <a:ext cx="1822615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Restricted Region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56ACC4EB-B861-E861-D969-46265FCD9CAB}"/>
              </a:ext>
            </a:extLst>
          </p:cNvPr>
          <p:cNvSpPr/>
          <p:nvPr/>
        </p:nvSpPr>
        <p:spPr>
          <a:xfrm>
            <a:off x="3167420" y="5540336"/>
            <a:ext cx="1709380" cy="612648"/>
          </a:xfrm>
          <a:prstGeom prst="wedgeRoundRectCallout">
            <a:avLst>
              <a:gd name="adj1" fmla="val -88241"/>
              <a:gd name="adj2" fmla="val -6217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Cannot access Restaurant website</a:t>
            </a:r>
          </a:p>
        </p:txBody>
      </p:sp>
      <p:pic>
        <p:nvPicPr>
          <p:cNvPr id="1026" name="Picture 2" descr="Internet Generic Blue icon">
            <a:extLst>
              <a:ext uri="{FF2B5EF4-FFF2-40B4-BE49-F238E27FC236}">
                <a16:creationId xmlns:a16="http://schemas.microsoft.com/office/drawing/2014/main" id="{560C1992-CC26-FA43-1481-3915ABF45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611" y="3320706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6CFA93-6ED3-4C01-447E-4ED8BD755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102" y="3996905"/>
            <a:ext cx="866896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1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81588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Reverse Proxy: 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Now, imagine you're running a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food delivery service with multiple restaurants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, and you want to streamline the ordering process for your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customers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. You set up a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central hub (the reverse proxy) 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where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customers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 can place their orders. When a customer requests a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, the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reverse proxy 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forwards the request to the appropriate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restaurant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, collects the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 when it's ready, and delivers it back to the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customer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1600" dirty="0">
              <a:solidFill>
                <a:srgbClr val="0D0D0D"/>
              </a:solidFill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In computer world, a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reverse proxy 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sits in front of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servers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 and handles incoming requests from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clients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. It can perform tasks like  </a:t>
            </a:r>
          </a:p>
          <a:p>
            <a:pPr algn="l"/>
            <a:r>
              <a:rPr lang="en-US" sz="1600" dirty="0">
                <a:solidFill>
                  <a:srgbClr val="0D0D0D"/>
                </a:solidFill>
                <a:latin typeface="Söhne"/>
              </a:rPr>
              <a:t>      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load balancing, caching, or security checks before forwarding requests to the appropriate </a:t>
            </a:r>
            <a:r>
              <a:rPr lang="en-US" sz="1600" i="0" dirty="0">
                <a:solidFill>
                  <a:srgbClr val="FF0000"/>
                </a:solidFill>
                <a:effectLst/>
                <a:latin typeface="Söhne"/>
              </a:rPr>
              <a:t>backend servers</a:t>
            </a:r>
            <a:r>
              <a:rPr lang="en-US" sz="160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240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ABC58-268A-46F6-3DA5-CC677E4378D5}"/>
              </a:ext>
            </a:extLst>
          </p:cNvPr>
          <p:cNvSpPr txBox="1"/>
          <p:nvPr/>
        </p:nvSpPr>
        <p:spPr>
          <a:xfrm>
            <a:off x="5527353" y="3171981"/>
            <a:ext cx="16002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Central Hub = Reverse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A5783-660E-0BA4-EF23-913992938C72}"/>
              </a:ext>
            </a:extLst>
          </p:cNvPr>
          <p:cNvSpPr txBox="1"/>
          <p:nvPr/>
        </p:nvSpPr>
        <p:spPr>
          <a:xfrm>
            <a:off x="410635" y="2517839"/>
            <a:ext cx="3925177" cy="33855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Multiple Pizza Restaurants = Backend Servers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C36BC-E7CF-7441-6FB9-F6E8B8C106F8}"/>
              </a:ext>
            </a:extLst>
          </p:cNvPr>
          <p:cNvSpPr txBox="1"/>
          <p:nvPr/>
        </p:nvSpPr>
        <p:spPr>
          <a:xfrm>
            <a:off x="9022994" y="2911815"/>
            <a:ext cx="214706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Customers == Clients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64443653-BB5F-55B7-6F90-5CCA6C48B286}"/>
              </a:ext>
            </a:extLst>
          </p:cNvPr>
          <p:cNvSpPr/>
          <p:nvPr/>
        </p:nvSpPr>
        <p:spPr>
          <a:xfrm rot="1500493">
            <a:off x="3956324" y="3635793"/>
            <a:ext cx="1779205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A8B03F67-DD1C-B87A-2A85-DF4060C6230C}"/>
              </a:ext>
            </a:extLst>
          </p:cNvPr>
          <p:cNvSpPr/>
          <p:nvPr/>
        </p:nvSpPr>
        <p:spPr>
          <a:xfrm>
            <a:off x="6823546" y="4133992"/>
            <a:ext cx="165159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8806FD-DD37-3877-7CC7-9EEB77A1B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005" y="3819591"/>
            <a:ext cx="866896" cy="1086002"/>
          </a:xfrm>
          <a:prstGeom prst="rect">
            <a:avLst/>
          </a:prstGeom>
        </p:spPr>
      </p:pic>
      <p:pic>
        <p:nvPicPr>
          <p:cNvPr id="17" name="Picture 2" descr="7 new restaurants to try in Bengaluru | Condé Nast Traveller India">
            <a:extLst>
              <a:ext uri="{FF2B5EF4-FFF2-40B4-BE49-F238E27FC236}">
                <a16:creationId xmlns:a16="http://schemas.microsoft.com/office/drawing/2014/main" id="{2C1C0C1F-90E5-0468-F765-C6C3BAFC8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35" y="3049352"/>
            <a:ext cx="2897925" cy="163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se Are 10 Best Restaurants In India For 2024, According To La Liste">
            <a:extLst>
              <a:ext uri="{FF2B5EF4-FFF2-40B4-BE49-F238E27FC236}">
                <a16:creationId xmlns:a16="http://schemas.microsoft.com/office/drawing/2014/main" id="{330D2446-DA40-A065-581D-7894DBAE9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95" y="4927237"/>
            <a:ext cx="2897925" cy="178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Make Customers for your Small Business?">
            <a:extLst>
              <a:ext uri="{FF2B5EF4-FFF2-40B4-BE49-F238E27FC236}">
                <a16:creationId xmlns:a16="http://schemas.microsoft.com/office/drawing/2014/main" id="{820DEA9C-D23F-D48E-33E2-BE848A169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542" y="3434297"/>
            <a:ext cx="3422458" cy="190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52E63122-7F84-E9DA-3071-B9ECCA3636CE}"/>
              </a:ext>
            </a:extLst>
          </p:cNvPr>
          <p:cNvSpPr/>
          <p:nvPr/>
        </p:nvSpPr>
        <p:spPr>
          <a:xfrm rot="19825113">
            <a:off x="3808926" y="4894734"/>
            <a:ext cx="1930442" cy="457200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2057400"/>
            <a:ext cx="11963399" cy="2400657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latin typeface="Söhne"/>
              </a:rPr>
              <a:t>In summary:</a:t>
            </a:r>
          </a:p>
          <a:p>
            <a:pPr algn="l"/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Acts as a middleman between clients and servers.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Forward Proxy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: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Helps clients access servers or services indirectly, especially when direct access is restricted.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Reverse Proxy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Handles incoming requests from clients and forwards them to backend servers, often providing additional features like load balancing or security measures.</a:t>
            </a:r>
          </a:p>
        </p:txBody>
      </p:sp>
    </p:spTree>
    <p:extLst>
      <p:ext uri="{BB962C8B-B14F-4D97-AF65-F5344CB8AC3E}">
        <p14:creationId xmlns:p14="http://schemas.microsoft.com/office/powerpoint/2010/main" val="280363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91803</TotalTime>
  <Words>437</Words>
  <Application>Microsoft Office PowerPoint</Application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9977</cp:revision>
  <dcterms:created xsi:type="dcterms:W3CDTF">2006-08-16T00:00:00Z</dcterms:created>
  <dcterms:modified xsi:type="dcterms:W3CDTF">2024-04-11T04:07:34Z</dcterms:modified>
</cp:coreProperties>
</file>