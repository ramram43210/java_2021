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5"/>
  </p:notesMasterIdLst>
  <p:sldIdLst>
    <p:sldId id="473" r:id="rId2"/>
    <p:sldId id="472" r:id="rId3"/>
    <p:sldId id="474" r:id="rId4"/>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mesh N" initials="RN" lastIdx="1" clrIdx="0">
    <p:extLst>
      <p:ext uri="{19B8F6BF-5375-455C-9EA6-DF929625EA0E}">
        <p15:presenceInfo xmlns:p15="http://schemas.microsoft.com/office/powerpoint/2012/main" userId="10c340b3cc87b9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E4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31" autoAdjust="0"/>
    <p:restoredTop sz="94291" autoAdjust="0"/>
  </p:normalViewPr>
  <p:slideViewPr>
    <p:cSldViewPr>
      <p:cViewPr varScale="1">
        <p:scale>
          <a:sx n="71" d="100"/>
          <a:sy n="71" d="100"/>
        </p:scale>
        <p:origin x="1099" y="91"/>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5/6/2024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3139225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4231762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3</a:t>
            </a:fld>
            <a:endParaRPr lang="en-US" dirty="0"/>
          </a:p>
        </p:txBody>
      </p:sp>
    </p:spTree>
    <p:extLst>
      <p:ext uri="{BB962C8B-B14F-4D97-AF65-F5344CB8AC3E}">
        <p14:creationId xmlns:p14="http://schemas.microsoft.com/office/powerpoint/2010/main" val="4717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5/6/2024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380318" y="33992"/>
            <a:ext cx="54102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Scrum Explained Simply: What You Need to Know</a:t>
            </a:r>
          </a:p>
        </p:txBody>
      </p:sp>
      <p:sp>
        <p:nvSpPr>
          <p:cNvPr id="11" name="TextBox 10">
            <a:extLst>
              <a:ext uri="{FF2B5EF4-FFF2-40B4-BE49-F238E27FC236}">
                <a16:creationId xmlns:a16="http://schemas.microsoft.com/office/drawing/2014/main" id="{11705DA6-4EF9-EB0E-94C5-017DBC9DCF70}"/>
              </a:ext>
            </a:extLst>
          </p:cNvPr>
          <p:cNvSpPr txBox="1"/>
          <p:nvPr/>
        </p:nvSpPr>
        <p:spPr>
          <a:xfrm>
            <a:off x="207436" y="581055"/>
            <a:ext cx="11755964" cy="1938992"/>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lgn="l">
              <a:buFont typeface="Wingdings" panose="05000000000000000000" pitchFamily="2" charset="2"/>
              <a:buChar char="ü"/>
            </a:pPr>
            <a:r>
              <a:rPr lang="en-US" sz="2000" dirty="0">
                <a:solidFill>
                  <a:srgbClr val="0D0D0D"/>
                </a:solidFill>
                <a:highlight>
                  <a:srgbClr val="FFFFFF"/>
                </a:highlight>
                <a:latin typeface="Söhne"/>
              </a:rPr>
              <a:t>Imagine you're part of a </a:t>
            </a:r>
            <a:r>
              <a:rPr lang="en-US" sz="2000" dirty="0">
                <a:solidFill>
                  <a:srgbClr val="FF0000"/>
                </a:solidFill>
                <a:highlight>
                  <a:srgbClr val="FFFFFF"/>
                </a:highlight>
                <a:latin typeface="Söhne"/>
              </a:rPr>
              <a:t>team</a:t>
            </a:r>
            <a:r>
              <a:rPr lang="en-US" sz="2000" dirty="0">
                <a:solidFill>
                  <a:srgbClr val="0D0D0D"/>
                </a:solidFill>
                <a:highlight>
                  <a:srgbClr val="FFFFFF"/>
                </a:highlight>
                <a:latin typeface="Söhne"/>
              </a:rPr>
              <a:t> that needs to </a:t>
            </a:r>
            <a:r>
              <a:rPr lang="en-US" sz="2000" dirty="0">
                <a:solidFill>
                  <a:srgbClr val="FF0000"/>
                </a:solidFill>
                <a:highlight>
                  <a:srgbClr val="FFFFFF"/>
                </a:highlight>
                <a:latin typeface="Söhne"/>
              </a:rPr>
              <a:t>build</a:t>
            </a:r>
            <a:r>
              <a:rPr lang="en-US" sz="2000" dirty="0">
                <a:solidFill>
                  <a:srgbClr val="0D0D0D"/>
                </a:solidFill>
                <a:highlight>
                  <a:srgbClr val="FFFFFF"/>
                </a:highlight>
                <a:latin typeface="Söhne"/>
              </a:rPr>
              <a:t> </a:t>
            </a:r>
            <a:r>
              <a:rPr lang="en-US" sz="2000" dirty="0">
                <a:solidFill>
                  <a:srgbClr val="FF0000"/>
                </a:solidFill>
                <a:highlight>
                  <a:srgbClr val="FFFFFF"/>
                </a:highlight>
                <a:latin typeface="Söhne"/>
              </a:rPr>
              <a:t>something</a:t>
            </a:r>
            <a:r>
              <a:rPr lang="en-US" sz="2000" dirty="0">
                <a:solidFill>
                  <a:srgbClr val="0D0D0D"/>
                </a:solidFill>
                <a:highlight>
                  <a:srgbClr val="FFFFFF"/>
                </a:highlight>
                <a:latin typeface="Söhne"/>
              </a:rPr>
              <a:t>, like a </a:t>
            </a:r>
            <a:r>
              <a:rPr lang="en-US" sz="2000" dirty="0">
                <a:solidFill>
                  <a:srgbClr val="FF0000"/>
                </a:solidFill>
                <a:highlight>
                  <a:srgbClr val="FFFFFF"/>
                </a:highlight>
                <a:latin typeface="Söhne"/>
              </a:rPr>
              <a:t>new product or software</a:t>
            </a:r>
            <a:r>
              <a:rPr lang="en-US" sz="2000" dirty="0">
                <a:solidFill>
                  <a:srgbClr val="0D0D0D"/>
                </a:solidFill>
                <a:highlight>
                  <a:srgbClr val="FFFFFF"/>
                </a:highlight>
                <a:latin typeface="Söhne"/>
              </a:rPr>
              <a:t>. Now, you want to make sure the </a:t>
            </a:r>
            <a:r>
              <a:rPr lang="en-US" sz="2000" dirty="0">
                <a:solidFill>
                  <a:srgbClr val="FF0000"/>
                </a:solidFill>
                <a:highlight>
                  <a:srgbClr val="FFFFFF"/>
                </a:highlight>
                <a:latin typeface="Söhne"/>
              </a:rPr>
              <a:t>team</a:t>
            </a:r>
            <a:r>
              <a:rPr lang="en-US" sz="2000" dirty="0">
                <a:solidFill>
                  <a:srgbClr val="0D0D0D"/>
                </a:solidFill>
                <a:highlight>
                  <a:srgbClr val="FFFFFF"/>
                </a:highlight>
                <a:latin typeface="Söhne"/>
              </a:rPr>
              <a:t> works </a:t>
            </a:r>
            <a:r>
              <a:rPr lang="en-US" sz="2000" dirty="0">
                <a:solidFill>
                  <a:srgbClr val="FF0000"/>
                </a:solidFill>
                <a:highlight>
                  <a:srgbClr val="FFFFFF"/>
                </a:highlight>
                <a:latin typeface="Söhne"/>
              </a:rPr>
              <a:t>efficiently</a:t>
            </a:r>
            <a:r>
              <a:rPr lang="en-US" sz="2000" dirty="0">
                <a:solidFill>
                  <a:srgbClr val="0D0D0D"/>
                </a:solidFill>
                <a:highlight>
                  <a:srgbClr val="FFFFFF"/>
                </a:highlight>
                <a:latin typeface="Söhne"/>
              </a:rPr>
              <a:t> and </a:t>
            </a:r>
            <a:r>
              <a:rPr lang="en-US" sz="2000" dirty="0">
                <a:solidFill>
                  <a:srgbClr val="FF0000"/>
                </a:solidFill>
                <a:highlight>
                  <a:srgbClr val="FFFFFF"/>
                </a:highlight>
                <a:latin typeface="Söhne"/>
              </a:rPr>
              <a:t>delivers</a:t>
            </a:r>
            <a:r>
              <a:rPr lang="en-US" sz="2000" dirty="0">
                <a:solidFill>
                  <a:srgbClr val="0D0D0D"/>
                </a:solidFill>
                <a:highlight>
                  <a:srgbClr val="FFFFFF"/>
                </a:highlight>
                <a:latin typeface="Söhne"/>
              </a:rPr>
              <a:t> the best results. That's where </a:t>
            </a:r>
            <a:r>
              <a:rPr lang="en-US" sz="2000" dirty="0">
                <a:solidFill>
                  <a:srgbClr val="FF0000"/>
                </a:solidFill>
                <a:highlight>
                  <a:srgbClr val="FFFFFF"/>
                </a:highlight>
                <a:latin typeface="Söhne"/>
              </a:rPr>
              <a:t>Scrum</a:t>
            </a:r>
            <a:r>
              <a:rPr lang="en-US" sz="2000" dirty="0">
                <a:solidFill>
                  <a:srgbClr val="0D0D0D"/>
                </a:solidFill>
                <a:highlight>
                  <a:srgbClr val="FFFFFF"/>
                </a:highlight>
                <a:latin typeface="Söhne"/>
              </a:rPr>
              <a:t> comes in!</a:t>
            </a:r>
          </a:p>
          <a:p>
            <a:pPr marL="342900" indent="-342900" algn="l">
              <a:buFont typeface="Wingdings" panose="05000000000000000000" pitchFamily="2" charset="2"/>
              <a:buChar char="ü"/>
            </a:pPr>
            <a:endParaRPr lang="en-US" sz="2000" dirty="0">
              <a:solidFill>
                <a:srgbClr val="0D0D0D"/>
              </a:solidFill>
              <a:highlight>
                <a:srgbClr val="FFFFFF"/>
              </a:highlight>
              <a:latin typeface="Söhne"/>
            </a:endParaRPr>
          </a:p>
          <a:p>
            <a:pPr marL="342900" indent="-342900" algn="l">
              <a:buFont typeface="Wingdings" panose="05000000000000000000" pitchFamily="2" charset="2"/>
              <a:buChar char="ü"/>
            </a:pPr>
            <a:r>
              <a:rPr lang="en-US" sz="2000" dirty="0">
                <a:solidFill>
                  <a:srgbClr val="FF0000"/>
                </a:solidFill>
                <a:highlight>
                  <a:srgbClr val="FFFFFF"/>
                </a:highlight>
                <a:latin typeface="Söhne"/>
              </a:rPr>
              <a:t>Scrum</a:t>
            </a:r>
            <a:r>
              <a:rPr lang="en-US" sz="2000" dirty="0">
                <a:solidFill>
                  <a:srgbClr val="0D0D0D"/>
                </a:solidFill>
                <a:highlight>
                  <a:srgbClr val="FFFFFF"/>
                </a:highlight>
                <a:latin typeface="Söhne"/>
              </a:rPr>
              <a:t> is like a </a:t>
            </a:r>
            <a:r>
              <a:rPr lang="en-US" sz="2000" dirty="0">
                <a:solidFill>
                  <a:srgbClr val="FF0000"/>
                </a:solidFill>
                <a:highlight>
                  <a:srgbClr val="FFFFFF"/>
                </a:highlight>
                <a:latin typeface="Söhne"/>
              </a:rPr>
              <a:t>playbook or set of rules </a:t>
            </a:r>
            <a:r>
              <a:rPr lang="en-US" sz="2000" dirty="0">
                <a:solidFill>
                  <a:srgbClr val="0D0D0D"/>
                </a:solidFill>
                <a:highlight>
                  <a:srgbClr val="FFFFFF"/>
                </a:highlight>
                <a:latin typeface="Söhne"/>
              </a:rPr>
              <a:t>that helps </a:t>
            </a:r>
            <a:r>
              <a:rPr lang="en-US" sz="2000" dirty="0">
                <a:solidFill>
                  <a:srgbClr val="FF0000"/>
                </a:solidFill>
                <a:highlight>
                  <a:srgbClr val="FFFFFF"/>
                </a:highlight>
                <a:latin typeface="Söhne"/>
              </a:rPr>
              <a:t>teams</a:t>
            </a:r>
            <a:r>
              <a:rPr lang="en-US" sz="2000" dirty="0">
                <a:solidFill>
                  <a:srgbClr val="0D0D0D"/>
                </a:solidFill>
                <a:highlight>
                  <a:srgbClr val="FFFFFF"/>
                </a:highlight>
                <a:latin typeface="Söhne"/>
              </a:rPr>
              <a:t> work together smoothly and stay focused on their </a:t>
            </a:r>
            <a:r>
              <a:rPr lang="en-US" sz="2000" dirty="0">
                <a:solidFill>
                  <a:srgbClr val="FF0000"/>
                </a:solidFill>
                <a:highlight>
                  <a:srgbClr val="FFFFFF"/>
                </a:highlight>
                <a:latin typeface="Söhne"/>
              </a:rPr>
              <a:t>goals</a:t>
            </a:r>
            <a:r>
              <a:rPr lang="en-US" sz="2000" dirty="0">
                <a:solidFill>
                  <a:srgbClr val="0D0D0D"/>
                </a:solidFill>
                <a:highlight>
                  <a:srgbClr val="FFFFFF"/>
                </a:highlight>
                <a:latin typeface="Söhne"/>
              </a:rPr>
              <a:t>. It's often used in industries like software development, but its principles can be applied to many different kinds of projects.</a:t>
            </a:r>
            <a:endParaRPr lang="en-US" sz="4400" b="0" i="0" dirty="0">
              <a:solidFill>
                <a:srgbClr val="0D0D0D"/>
              </a:solidFill>
              <a:effectLst/>
              <a:highlight>
                <a:srgbClr val="FFFFFF"/>
              </a:highlight>
              <a:latin typeface="Söhne"/>
            </a:endParaRPr>
          </a:p>
        </p:txBody>
      </p:sp>
      <p:pic>
        <p:nvPicPr>
          <p:cNvPr id="1026" name="Picture 2" descr="Team Cartoon Images - Free Download on Freepik">
            <a:extLst>
              <a:ext uri="{FF2B5EF4-FFF2-40B4-BE49-F238E27FC236}">
                <a16:creationId xmlns:a16="http://schemas.microsoft.com/office/drawing/2014/main" id="{9DC1A330-2890-CC80-1F64-657D6D6C6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2683136"/>
            <a:ext cx="5410200" cy="4061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2976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380318" y="33992"/>
            <a:ext cx="54102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Scrum Explained Simply: What You Need to Know</a:t>
            </a:r>
          </a:p>
        </p:txBody>
      </p:sp>
      <p:sp>
        <p:nvSpPr>
          <p:cNvPr id="9" name="TextBox 8">
            <a:extLst>
              <a:ext uri="{FF2B5EF4-FFF2-40B4-BE49-F238E27FC236}">
                <a16:creationId xmlns:a16="http://schemas.microsoft.com/office/drawing/2014/main" id="{20CF7848-873F-1C2B-87DD-7C1001F1C790}"/>
              </a:ext>
            </a:extLst>
          </p:cNvPr>
          <p:cNvSpPr txBox="1"/>
          <p:nvPr/>
        </p:nvSpPr>
        <p:spPr>
          <a:xfrm>
            <a:off x="218018" y="813224"/>
            <a:ext cx="11755964" cy="5940088"/>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algn="l">
              <a:buFont typeface="+mj-lt"/>
              <a:buAutoNum type="arabicPeriod"/>
            </a:pPr>
            <a:r>
              <a:rPr lang="en-US" sz="2000" b="1" i="0" dirty="0">
                <a:solidFill>
                  <a:srgbClr val="FF0000"/>
                </a:solidFill>
                <a:effectLst/>
                <a:highlight>
                  <a:srgbClr val="FFFFFF"/>
                </a:highlight>
                <a:latin typeface="Söhne"/>
              </a:rPr>
              <a:t>Team Collaboration</a:t>
            </a:r>
            <a:r>
              <a:rPr lang="en-US" sz="2000" b="0" i="0" dirty="0">
                <a:solidFill>
                  <a:srgbClr val="0D0D0D"/>
                </a:solidFill>
                <a:effectLst/>
                <a:highlight>
                  <a:srgbClr val="FFFFFF"/>
                </a:highlight>
                <a:latin typeface="Söhne"/>
              </a:rPr>
              <a:t>: In Scrum, you have a team of people with different skills (like developers, designers, and testers) who work together closely. They all have a specific role to play.</a:t>
            </a:r>
            <a:br>
              <a:rPr lang="en-US" sz="2000" b="0" i="0" dirty="0">
                <a:solidFill>
                  <a:srgbClr val="0D0D0D"/>
                </a:solidFill>
                <a:effectLst/>
                <a:highlight>
                  <a:srgbClr val="FFFFFF"/>
                </a:highlight>
                <a:latin typeface="Söhne"/>
              </a:rPr>
            </a:br>
            <a:endParaRPr lang="en-US" sz="2000" b="0" i="0" dirty="0">
              <a:solidFill>
                <a:srgbClr val="0D0D0D"/>
              </a:solidFill>
              <a:effectLst/>
              <a:highlight>
                <a:srgbClr val="FFFFFF"/>
              </a:highlight>
              <a:latin typeface="Söhne"/>
            </a:endParaRPr>
          </a:p>
          <a:p>
            <a:pPr algn="l">
              <a:buFont typeface="+mj-lt"/>
              <a:buAutoNum type="arabicPeriod"/>
            </a:pPr>
            <a:r>
              <a:rPr lang="en-US" sz="2000" b="1" i="0" dirty="0">
                <a:solidFill>
                  <a:srgbClr val="FF0000"/>
                </a:solidFill>
                <a:effectLst/>
                <a:highlight>
                  <a:srgbClr val="FFFFFF"/>
                </a:highlight>
                <a:latin typeface="Söhne"/>
              </a:rPr>
              <a:t>Clear Goals</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The team knows exactly what they need to achieve by the end of a certain period, usually a few weeks. This period is called a "sprint.“</a:t>
            </a:r>
            <a:br>
              <a:rPr lang="en-US" sz="2000" b="0" i="0" dirty="0">
                <a:solidFill>
                  <a:srgbClr val="0D0D0D"/>
                </a:solidFill>
                <a:effectLst/>
                <a:highlight>
                  <a:srgbClr val="FFFFFF"/>
                </a:highlight>
                <a:latin typeface="Söhne"/>
              </a:rPr>
            </a:br>
            <a:endParaRPr lang="en-US" sz="2000" b="0" i="0" dirty="0">
              <a:solidFill>
                <a:srgbClr val="0D0D0D"/>
              </a:solidFill>
              <a:effectLst/>
              <a:highlight>
                <a:srgbClr val="FFFFFF"/>
              </a:highlight>
              <a:latin typeface="Söhne"/>
            </a:endParaRPr>
          </a:p>
          <a:p>
            <a:pPr algn="l">
              <a:buFont typeface="+mj-lt"/>
              <a:buAutoNum type="arabicPeriod"/>
            </a:pPr>
            <a:r>
              <a:rPr lang="en-US" sz="2000" b="1" i="0" dirty="0">
                <a:solidFill>
                  <a:srgbClr val="FF0000"/>
                </a:solidFill>
                <a:effectLst/>
                <a:highlight>
                  <a:srgbClr val="FFFFFF"/>
                </a:highlight>
                <a:latin typeface="Söhne"/>
              </a:rPr>
              <a:t>Daily Meetings</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Every day, the team has a quick meeting (often standing up, hence called a "stand-up meeting") to discuss what they did yesterday, what they're doing today, and if there are any roadblocks.</a:t>
            </a:r>
            <a:br>
              <a:rPr lang="en-US" sz="2000" b="0" i="0" dirty="0">
                <a:solidFill>
                  <a:srgbClr val="0D0D0D"/>
                </a:solidFill>
                <a:effectLst/>
                <a:highlight>
                  <a:srgbClr val="FFFFFF"/>
                </a:highlight>
                <a:latin typeface="Söhne"/>
              </a:rPr>
            </a:br>
            <a:endParaRPr lang="en-US" sz="2000" b="0" i="0" dirty="0">
              <a:solidFill>
                <a:srgbClr val="FF0000"/>
              </a:solidFill>
              <a:effectLst/>
              <a:highlight>
                <a:srgbClr val="FFFFFF"/>
              </a:highlight>
              <a:latin typeface="Söhne"/>
            </a:endParaRPr>
          </a:p>
          <a:p>
            <a:pPr algn="l">
              <a:buFont typeface="+mj-lt"/>
              <a:buAutoNum type="arabicPeriod"/>
            </a:pPr>
            <a:r>
              <a:rPr lang="en-US" sz="2000" b="1" i="0" dirty="0">
                <a:solidFill>
                  <a:srgbClr val="FF0000"/>
                </a:solidFill>
                <a:effectLst/>
                <a:highlight>
                  <a:srgbClr val="FFFFFF"/>
                </a:highlight>
                <a:latin typeface="Söhne"/>
              </a:rPr>
              <a:t>Flexible Planning</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Instead of planning everything from start to finish upfront (which can be hard!), Scrum breaks the work into smaller tasks. The team plans for each sprint, and they can adjust their plans based on what they learn along the way.</a:t>
            </a:r>
            <a:br>
              <a:rPr lang="en-US" sz="2000" b="0" i="0" dirty="0">
                <a:solidFill>
                  <a:srgbClr val="0D0D0D"/>
                </a:solidFill>
                <a:effectLst/>
                <a:highlight>
                  <a:srgbClr val="FFFFFF"/>
                </a:highlight>
                <a:latin typeface="Söhne"/>
              </a:rPr>
            </a:br>
            <a:endParaRPr lang="en-US" sz="2000" b="0" i="0" dirty="0">
              <a:solidFill>
                <a:srgbClr val="0D0D0D"/>
              </a:solidFill>
              <a:effectLst/>
              <a:highlight>
                <a:srgbClr val="FFFFFF"/>
              </a:highlight>
              <a:latin typeface="Söhne"/>
            </a:endParaRPr>
          </a:p>
          <a:p>
            <a:pPr algn="l">
              <a:buFont typeface="+mj-lt"/>
              <a:buAutoNum type="arabicPeriod"/>
            </a:pPr>
            <a:r>
              <a:rPr lang="en-US" sz="2000" b="1" i="0" dirty="0">
                <a:solidFill>
                  <a:srgbClr val="FF0000"/>
                </a:solidFill>
                <a:effectLst/>
                <a:highlight>
                  <a:srgbClr val="FFFFFF"/>
                </a:highlight>
                <a:latin typeface="Söhne"/>
              </a:rPr>
              <a:t>Feedback and Adaptation</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At the end of each sprint, the team reviews what they've done and gets feedback from others, like stakeholders or customers. They use this feedback to improve and adjust their approach for the next sprint.</a:t>
            </a:r>
            <a:br>
              <a:rPr lang="en-US" sz="2000" b="0" i="0" dirty="0">
                <a:solidFill>
                  <a:srgbClr val="0D0D0D"/>
                </a:solidFill>
                <a:effectLst/>
                <a:highlight>
                  <a:srgbClr val="FFFFFF"/>
                </a:highlight>
                <a:latin typeface="Söhne"/>
              </a:rPr>
            </a:br>
            <a:endParaRPr lang="en-US" sz="2000" b="0" i="0" dirty="0">
              <a:solidFill>
                <a:srgbClr val="0D0D0D"/>
              </a:solidFill>
              <a:effectLst/>
              <a:highlight>
                <a:srgbClr val="FFFFFF"/>
              </a:highlight>
              <a:latin typeface="Söhne"/>
            </a:endParaRPr>
          </a:p>
          <a:p>
            <a:pPr algn="l">
              <a:buFont typeface="+mj-lt"/>
              <a:buAutoNum type="arabicPeriod"/>
            </a:pPr>
            <a:r>
              <a:rPr lang="en-US" sz="2000" b="1" i="0" dirty="0">
                <a:solidFill>
                  <a:srgbClr val="FF0000"/>
                </a:solidFill>
                <a:effectLst/>
                <a:highlight>
                  <a:srgbClr val="FFFFFF"/>
                </a:highlight>
                <a:latin typeface="Söhne"/>
              </a:rPr>
              <a:t>Continuous Improvement</a:t>
            </a:r>
            <a:r>
              <a:rPr lang="en-US" sz="2000" b="0" i="0" dirty="0">
                <a:solidFill>
                  <a:srgbClr val="FF0000"/>
                </a:solidFill>
                <a:effectLst/>
                <a:highlight>
                  <a:srgbClr val="FFFFFF"/>
                </a:highlight>
                <a:latin typeface="Söhne"/>
              </a:rPr>
              <a:t>: </a:t>
            </a:r>
            <a:r>
              <a:rPr lang="en-US" sz="2000" b="0" i="0" dirty="0">
                <a:solidFill>
                  <a:srgbClr val="0D0D0D"/>
                </a:solidFill>
                <a:effectLst/>
                <a:highlight>
                  <a:srgbClr val="FFFFFF"/>
                </a:highlight>
                <a:latin typeface="Söhne"/>
              </a:rPr>
              <a:t>Scrum encourages teams to keep getting better. They have regular opportunities to reflect on what's working well and what needs to change.</a:t>
            </a:r>
          </a:p>
        </p:txBody>
      </p:sp>
      <p:sp>
        <p:nvSpPr>
          <p:cNvPr id="10" name="TextBox 9">
            <a:extLst>
              <a:ext uri="{FF2B5EF4-FFF2-40B4-BE49-F238E27FC236}">
                <a16:creationId xmlns:a16="http://schemas.microsoft.com/office/drawing/2014/main" id="{B8B9DBB7-9FDD-4495-D6CB-B7CB76D12100}"/>
              </a:ext>
            </a:extLst>
          </p:cNvPr>
          <p:cNvSpPr txBox="1"/>
          <p:nvPr/>
        </p:nvSpPr>
        <p:spPr>
          <a:xfrm>
            <a:off x="218018" y="304800"/>
            <a:ext cx="2559611" cy="470000"/>
          </a:xfrm>
          <a:prstGeom prst="rect">
            <a:avLst/>
          </a:prstGeom>
          <a:solidFill>
            <a:srgbClr val="C00000"/>
          </a:solidFill>
        </p:spPr>
        <p:txBody>
          <a:bodyPr wrap="none" rtlCol="0">
            <a:spAutoFit/>
          </a:bodyPr>
          <a:lstStyle/>
          <a:p>
            <a:r>
              <a:rPr lang="en-US" dirty="0">
                <a:solidFill>
                  <a:schemeClr val="bg1"/>
                </a:solidFill>
              </a:rPr>
              <a:t>How Scrum works:</a:t>
            </a:r>
          </a:p>
        </p:txBody>
      </p:sp>
    </p:spTree>
    <p:extLst>
      <p:ext uri="{BB962C8B-B14F-4D97-AF65-F5344CB8AC3E}">
        <p14:creationId xmlns:p14="http://schemas.microsoft.com/office/powerpoint/2010/main" val="2322786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613835" y="2899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4" name="Rectangle 3">
            <a:extLst>
              <a:ext uri="{FF2B5EF4-FFF2-40B4-BE49-F238E27FC236}">
                <a16:creationId xmlns:a16="http://schemas.microsoft.com/office/drawing/2014/main" id="{C732CC46-37AA-1E07-46A7-484FC3D881EC}"/>
              </a:ext>
            </a:extLst>
          </p:cNvPr>
          <p:cNvSpPr/>
          <p:nvPr/>
        </p:nvSpPr>
        <p:spPr>
          <a:xfrm>
            <a:off x="3380318" y="33992"/>
            <a:ext cx="54102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Scrum Explained Simply: What You Need to Know</a:t>
            </a:r>
          </a:p>
        </p:txBody>
      </p:sp>
      <p:sp>
        <p:nvSpPr>
          <p:cNvPr id="9" name="TextBox 8">
            <a:extLst>
              <a:ext uri="{FF2B5EF4-FFF2-40B4-BE49-F238E27FC236}">
                <a16:creationId xmlns:a16="http://schemas.microsoft.com/office/drawing/2014/main" id="{20CF7848-873F-1C2B-87DD-7C1001F1C790}"/>
              </a:ext>
            </a:extLst>
          </p:cNvPr>
          <p:cNvSpPr txBox="1"/>
          <p:nvPr/>
        </p:nvSpPr>
        <p:spPr>
          <a:xfrm>
            <a:off x="218018" y="924398"/>
            <a:ext cx="11755964" cy="2246769"/>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wrap="square">
            <a:spAutoFit/>
          </a:bodyPr>
          <a:lstStyle/>
          <a:p>
            <a:pPr marL="285750" indent="-285750" algn="l">
              <a:buFont typeface="Wingdings" panose="05000000000000000000" pitchFamily="2" charset="2"/>
              <a:buChar char="ü"/>
            </a:pPr>
            <a:r>
              <a:rPr lang="en-US" sz="2000" b="0" i="0" dirty="0">
                <a:solidFill>
                  <a:srgbClr val="0D0D0D"/>
                </a:solidFill>
                <a:effectLst/>
                <a:highlight>
                  <a:srgbClr val="FFFFFF"/>
                </a:highlight>
                <a:latin typeface="Söhne"/>
              </a:rPr>
              <a:t>Overall, </a:t>
            </a:r>
            <a:r>
              <a:rPr lang="en-US" sz="2000" b="0" i="0" dirty="0">
                <a:solidFill>
                  <a:srgbClr val="FF0000"/>
                </a:solidFill>
                <a:effectLst/>
                <a:highlight>
                  <a:srgbClr val="FFFFFF"/>
                </a:highlight>
                <a:latin typeface="Söhne"/>
              </a:rPr>
              <a:t>Scrum</a:t>
            </a:r>
            <a:r>
              <a:rPr lang="en-US" sz="2000" b="0" i="0" dirty="0">
                <a:solidFill>
                  <a:srgbClr val="0D0D0D"/>
                </a:solidFill>
                <a:effectLst/>
                <a:highlight>
                  <a:srgbClr val="FFFFFF"/>
                </a:highlight>
                <a:latin typeface="Söhne"/>
              </a:rPr>
              <a:t> helps teams be more </a:t>
            </a:r>
            <a:r>
              <a:rPr lang="en-US" sz="2000" b="0" i="0" dirty="0">
                <a:solidFill>
                  <a:srgbClr val="FF0000"/>
                </a:solidFill>
                <a:effectLst/>
                <a:highlight>
                  <a:srgbClr val="FFFFFF"/>
                </a:highlight>
                <a:latin typeface="Söhne"/>
              </a:rPr>
              <a:t>flexible</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communicate better</a:t>
            </a:r>
            <a:r>
              <a:rPr lang="en-US" sz="2000" b="0" i="0" dirty="0">
                <a:solidFill>
                  <a:srgbClr val="0D0D0D"/>
                </a:solidFill>
                <a:effectLst/>
                <a:highlight>
                  <a:srgbClr val="FFFFFF"/>
                </a:highlight>
                <a:latin typeface="Söhne"/>
              </a:rPr>
              <a:t>, and </a:t>
            </a:r>
            <a:r>
              <a:rPr lang="en-US" sz="2000" b="0" i="0" dirty="0">
                <a:solidFill>
                  <a:srgbClr val="FF0000"/>
                </a:solidFill>
                <a:effectLst/>
                <a:highlight>
                  <a:srgbClr val="FFFFFF"/>
                </a:highlight>
                <a:latin typeface="Söhne"/>
              </a:rPr>
              <a:t>deliver valuable results faster</a:t>
            </a:r>
            <a:r>
              <a:rPr lang="en-US" sz="2000" b="0" i="0" dirty="0">
                <a:solidFill>
                  <a:srgbClr val="0D0D0D"/>
                </a:solidFill>
                <a:effectLst/>
                <a:highlight>
                  <a:srgbClr val="FFFFFF"/>
                </a:highlight>
                <a:latin typeface="Söhne"/>
              </a:rPr>
              <a:t>. It's all about </a:t>
            </a:r>
            <a:r>
              <a:rPr lang="en-US" sz="2000" b="0" i="0" dirty="0">
                <a:solidFill>
                  <a:srgbClr val="FF0000"/>
                </a:solidFill>
                <a:effectLst/>
                <a:highlight>
                  <a:srgbClr val="FFFFFF"/>
                </a:highlight>
                <a:latin typeface="Söhne"/>
              </a:rPr>
              <a:t>teamwork</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transparency</a:t>
            </a:r>
            <a:r>
              <a:rPr lang="en-US" sz="2000" b="0" i="0" dirty="0">
                <a:solidFill>
                  <a:srgbClr val="0D0D0D"/>
                </a:solidFill>
                <a:effectLst/>
                <a:highlight>
                  <a:srgbClr val="FFFFFF"/>
                </a:highlight>
                <a:latin typeface="Söhne"/>
              </a:rPr>
              <a:t>, and </a:t>
            </a:r>
            <a:r>
              <a:rPr lang="en-US" sz="2000" b="0" i="0" dirty="0">
                <a:solidFill>
                  <a:srgbClr val="FF0000"/>
                </a:solidFill>
                <a:effectLst/>
                <a:highlight>
                  <a:srgbClr val="FFFFFF"/>
                </a:highlight>
                <a:latin typeface="Söhne"/>
              </a:rPr>
              <a:t>adapting</a:t>
            </a:r>
            <a:r>
              <a:rPr lang="en-US" sz="2000" b="0" i="0" dirty="0">
                <a:solidFill>
                  <a:srgbClr val="0D0D0D"/>
                </a:solidFill>
                <a:effectLst/>
                <a:highlight>
                  <a:srgbClr val="FFFFFF"/>
                </a:highlight>
                <a:latin typeface="Söhne"/>
              </a:rPr>
              <a:t> to make sure the team </a:t>
            </a:r>
            <a:r>
              <a:rPr lang="en-US" sz="2000" b="0" i="0" dirty="0">
                <a:solidFill>
                  <a:srgbClr val="FF0000"/>
                </a:solidFill>
                <a:effectLst/>
                <a:highlight>
                  <a:srgbClr val="FFFFFF"/>
                </a:highlight>
                <a:latin typeface="Söhne"/>
              </a:rPr>
              <a:t>stays on track </a:t>
            </a:r>
            <a:r>
              <a:rPr lang="en-US" sz="2000" b="0" i="0" dirty="0">
                <a:solidFill>
                  <a:srgbClr val="0D0D0D"/>
                </a:solidFill>
                <a:effectLst/>
                <a:highlight>
                  <a:srgbClr val="FFFFFF"/>
                </a:highlight>
                <a:latin typeface="Söhne"/>
              </a:rPr>
              <a:t>and </a:t>
            </a:r>
            <a:r>
              <a:rPr lang="en-US" sz="2000" b="0" i="0" dirty="0">
                <a:solidFill>
                  <a:srgbClr val="FF0000"/>
                </a:solidFill>
                <a:effectLst/>
                <a:highlight>
                  <a:srgbClr val="FFFFFF"/>
                </a:highlight>
                <a:latin typeface="Söhne"/>
              </a:rPr>
              <a:t>delivers what's needed.</a:t>
            </a:r>
            <a:br>
              <a:rPr lang="en-US" sz="2000" b="0" i="0" dirty="0">
                <a:solidFill>
                  <a:srgbClr val="0D0D0D"/>
                </a:solidFill>
                <a:effectLst/>
                <a:highlight>
                  <a:srgbClr val="FFFFFF"/>
                </a:highlight>
                <a:latin typeface="Söhne"/>
              </a:rPr>
            </a:br>
            <a:endParaRPr lang="en-US" sz="2000" b="0" i="0" dirty="0">
              <a:solidFill>
                <a:srgbClr val="0D0D0D"/>
              </a:solidFill>
              <a:effectLst/>
              <a:highlight>
                <a:srgbClr val="FFFFFF"/>
              </a:highlight>
              <a:latin typeface="Söhne"/>
            </a:endParaRPr>
          </a:p>
          <a:p>
            <a:pPr marL="285750" indent="-285750" algn="l">
              <a:buFont typeface="Wingdings" panose="05000000000000000000" pitchFamily="2" charset="2"/>
              <a:buChar char="ü"/>
            </a:pPr>
            <a:r>
              <a:rPr lang="en-US" sz="2000" b="0" i="0" dirty="0">
                <a:solidFill>
                  <a:srgbClr val="0D0D0D"/>
                </a:solidFill>
                <a:effectLst/>
                <a:highlight>
                  <a:srgbClr val="FFFFFF"/>
                </a:highlight>
                <a:latin typeface="Söhne"/>
              </a:rPr>
              <a:t>Think of </a:t>
            </a:r>
            <a:r>
              <a:rPr lang="en-US" sz="2000" b="0" i="0" dirty="0">
                <a:solidFill>
                  <a:srgbClr val="FF0000"/>
                </a:solidFill>
                <a:effectLst/>
                <a:highlight>
                  <a:srgbClr val="FFFFFF"/>
                </a:highlight>
                <a:latin typeface="Söhne"/>
              </a:rPr>
              <a:t>Scrum</a:t>
            </a:r>
            <a:r>
              <a:rPr lang="en-US" sz="2000" b="0" i="0" dirty="0">
                <a:solidFill>
                  <a:srgbClr val="0D0D0D"/>
                </a:solidFill>
                <a:effectLst/>
                <a:highlight>
                  <a:srgbClr val="FFFFFF"/>
                </a:highlight>
                <a:latin typeface="Söhne"/>
              </a:rPr>
              <a:t> like a </a:t>
            </a:r>
            <a:r>
              <a:rPr lang="en-US" sz="2000" b="0" i="0" dirty="0">
                <a:solidFill>
                  <a:srgbClr val="FF0000"/>
                </a:solidFill>
                <a:effectLst/>
                <a:highlight>
                  <a:srgbClr val="FFFFFF"/>
                </a:highlight>
                <a:latin typeface="Söhne"/>
              </a:rPr>
              <a:t>sports team playbook</a:t>
            </a:r>
            <a:r>
              <a:rPr lang="en-US" sz="2000" b="0" i="0" dirty="0">
                <a:solidFill>
                  <a:srgbClr val="0D0D0D"/>
                </a:solidFill>
                <a:effectLst/>
                <a:highlight>
                  <a:srgbClr val="FFFFFF"/>
                </a:highlight>
                <a:latin typeface="Söhne"/>
              </a:rPr>
              <a:t>. Just as a </a:t>
            </a:r>
            <a:r>
              <a:rPr lang="en-US" sz="2000" b="0" i="0" dirty="0">
                <a:solidFill>
                  <a:srgbClr val="FF0000"/>
                </a:solidFill>
                <a:effectLst/>
                <a:highlight>
                  <a:srgbClr val="FFFFFF"/>
                </a:highlight>
                <a:latin typeface="Söhne"/>
              </a:rPr>
              <a:t>playbook</a:t>
            </a:r>
            <a:r>
              <a:rPr lang="en-US" sz="2000" b="0" i="0" dirty="0">
                <a:solidFill>
                  <a:srgbClr val="0D0D0D"/>
                </a:solidFill>
                <a:effectLst/>
                <a:highlight>
                  <a:srgbClr val="FFFFFF"/>
                </a:highlight>
                <a:latin typeface="Söhne"/>
              </a:rPr>
              <a:t> helps a team coordinate their moves on the field to score goals, </a:t>
            </a:r>
            <a:r>
              <a:rPr lang="en-US" sz="2000" b="0" i="0" dirty="0">
                <a:solidFill>
                  <a:srgbClr val="FF0000"/>
                </a:solidFill>
                <a:effectLst/>
                <a:highlight>
                  <a:srgbClr val="FFFFFF"/>
                </a:highlight>
                <a:latin typeface="Söhne"/>
              </a:rPr>
              <a:t>Scrum</a:t>
            </a:r>
            <a:r>
              <a:rPr lang="en-US" sz="2000" b="0" i="0" dirty="0">
                <a:solidFill>
                  <a:srgbClr val="0D0D0D"/>
                </a:solidFill>
                <a:effectLst/>
                <a:highlight>
                  <a:srgbClr val="FFFFFF"/>
                </a:highlight>
                <a:latin typeface="Söhne"/>
              </a:rPr>
              <a:t> helps a team coordinate their efforts to achieve their project goals effectively and efficiently.</a:t>
            </a:r>
          </a:p>
        </p:txBody>
      </p:sp>
      <p:sp>
        <p:nvSpPr>
          <p:cNvPr id="10" name="TextBox 9">
            <a:extLst>
              <a:ext uri="{FF2B5EF4-FFF2-40B4-BE49-F238E27FC236}">
                <a16:creationId xmlns:a16="http://schemas.microsoft.com/office/drawing/2014/main" id="{B8B9DBB7-9FDD-4495-D6CB-B7CB76D12100}"/>
              </a:ext>
            </a:extLst>
          </p:cNvPr>
          <p:cNvSpPr txBox="1"/>
          <p:nvPr/>
        </p:nvSpPr>
        <p:spPr>
          <a:xfrm>
            <a:off x="218018" y="415974"/>
            <a:ext cx="1486241" cy="470000"/>
          </a:xfrm>
          <a:prstGeom prst="rect">
            <a:avLst/>
          </a:prstGeom>
          <a:solidFill>
            <a:srgbClr val="C00000"/>
          </a:solidFill>
        </p:spPr>
        <p:txBody>
          <a:bodyPr wrap="none" rtlCol="0">
            <a:spAutoFit/>
          </a:bodyPr>
          <a:lstStyle/>
          <a:p>
            <a:r>
              <a:rPr lang="en-US" dirty="0">
                <a:solidFill>
                  <a:schemeClr val="bg1"/>
                </a:solidFill>
              </a:rPr>
              <a:t>Summary:</a:t>
            </a:r>
          </a:p>
        </p:txBody>
      </p:sp>
      <p:pic>
        <p:nvPicPr>
          <p:cNvPr id="5" name="Picture 2" descr="Team Cartoon Images - Free Download on Freepik">
            <a:extLst>
              <a:ext uri="{FF2B5EF4-FFF2-40B4-BE49-F238E27FC236}">
                <a16:creationId xmlns:a16="http://schemas.microsoft.com/office/drawing/2014/main" id="{FB3F1E9C-2E2F-F674-1DBA-DF807841C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352800"/>
            <a:ext cx="4457700" cy="3346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4556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91863</TotalTime>
  <Words>442</Words>
  <Application>Microsoft Office PowerPoint</Application>
  <PresentationFormat>Widescreen</PresentationFormat>
  <Paragraphs>19</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Söhne</vt:lpstr>
      <vt:lpstr>Wingdings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10051</cp:revision>
  <dcterms:created xsi:type="dcterms:W3CDTF">2006-08-16T00:00:00Z</dcterms:created>
  <dcterms:modified xsi:type="dcterms:W3CDTF">2024-05-06T03:09:54Z</dcterms:modified>
</cp:coreProperties>
</file>