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9"/>
  </p:notesMasterIdLst>
  <p:sldIdLst>
    <p:sldId id="472" r:id="rId2"/>
    <p:sldId id="473" r:id="rId3"/>
    <p:sldId id="478" r:id="rId4"/>
    <p:sldId id="474" r:id="rId5"/>
    <p:sldId id="480" r:id="rId6"/>
    <p:sldId id="477" r:id="rId7"/>
    <p:sldId id="479" r:id="rId8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77" autoAdjust="0"/>
    <p:restoredTop sz="94291" autoAdjust="0"/>
  </p:normalViewPr>
  <p:slideViewPr>
    <p:cSldViewPr>
      <p:cViewPr varScale="1">
        <p:scale>
          <a:sx n="72" d="100"/>
          <a:sy n="72" d="100"/>
        </p:scale>
        <p:origin x="1123" y="62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4/16/2024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762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932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721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101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380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303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78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xample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22546" y="1265592"/>
            <a:ext cx="11963399" cy="1323439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internet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connects us to a vast amount of information, but sometimes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middleman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is needed to facilitate communication. This is where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proxies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come in. A </a:t>
            </a:r>
            <a:r>
              <a:rPr lang="en-US" sz="2000" b="1" i="0" dirty="0">
                <a:solidFill>
                  <a:srgbClr val="FF0000"/>
                </a:solidFill>
                <a:effectLst/>
                <a:latin typeface="Google Sans"/>
              </a:rPr>
              <a:t>proxy server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 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acts as an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intermediary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between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client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(your computer or device) and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server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(the website or online resource you're trying to access). It essentially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relays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requests and responses 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between the two, offering various benefits depending on its configuration.</a:t>
            </a:r>
            <a:endParaRPr lang="en-US" sz="3200" b="0" i="0" dirty="0">
              <a:solidFill>
                <a:srgbClr val="1F1F1F"/>
              </a:solidFill>
              <a:effectLst/>
              <a:latin typeface="Google Sans"/>
            </a:endParaRPr>
          </a:p>
        </p:txBody>
      </p:sp>
      <p:pic>
        <p:nvPicPr>
          <p:cNvPr id="8" name="Picture 2" descr="Microsoft Laptop 4 - 15&quot; inches Screen, AMD R7/Windows 10 Home/8GB RAM/256  GB SSD/ Platinum - (5UI-00049) : Amazon.in: Electronics">
            <a:extLst>
              <a:ext uri="{FF2B5EF4-FFF2-40B4-BE49-F238E27FC236}">
                <a16:creationId xmlns:a16="http://schemas.microsoft.com/office/drawing/2014/main" id="{DF6FACA3-AFFC-960A-0E23-4458D88FC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852" y="3141950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Logo Internet Explorer PNG Images, Ie Logo Clipart Free Download - Free  Transparent PNG Logos">
            <a:extLst>
              <a:ext uri="{FF2B5EF4-FFF2-40B4-BE49-F238E27FC236}">
                <a16:creationId xmlns:a16="http://schemas.microsoft.com/office/drawing/2014/main" id="{712FA882-5403-E1C7-1922-211A77F8D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617" y="3141950"/>
            <a:ext cx="3323165" cy="3231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C6C648-FBF1-4339-5762-12E43E590E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8763" y="3615926"/>
            <a:ext cx="1571708" cy="2099906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A6BAD0-B05D-F2D8-C133-100CDCBA0FA8}"/>
              </a:ext>
            </a:extLst>
          </p:cNvPr>
          <p:cNvCxnSpPr>
            <a:endCxn id="14" idx="1"/>
          </p:cNvCxnSpPr>
          <p:nvPr/>
        </p:nvCxnSpPr>
        <p:spPr>
          <a:xfrm>
            <a:off x="4006852" y="4513550"/>
            <a:ext cx="118956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E882B82-09CD-E43C-5C53-187A63DC1263}"/>
              </a:ext>
            </a:extLst>
          </p:cNvPr>
          <p:cNvCxnSpPr>
            <a:cxnSpLocks/>
          </p:cNvCxnSpPr>
          <p:nvPr/>
        </p:nvCxnSpPr>
        <p:spPr>
          <a:xfrm>
            <a:off x="6949017" y="4513550"/>
            <a:ext cx="12954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226561D-D989-34DF-3BDA-F2959BB92DA5}"/>
              </a:ext>
            </a:extLst>
          </p:cNvPr>
          <p:cNvSpPr txBox="1"/>
          <p:nvPr/>
        </p:nvSpPr>
        <p:spPr>
          <a:xfrm>
            <a:off x="9311217" y="6229290"/>
            <a:ext cx="1030988" cy="40011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Internet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54A3D0-8FCF-4A44-3975-7B6DD7FB7ABB}"/>
              </a:ext>
            </a:extLst>
          </p:cNvPr>
          <p:cNvSpPr txBox="1"/>
          <p:nvPr/>
        </p:nvSpPr>
        <p:spPr>
          <a:xfrm>
            <a:off x="1967358" y="6173061"/>
            <a:ext cx="559833" cy="40011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501418-D175-B31A-9FB9-23F3973AE847}"/>
              </a:ext>
            </a:extLst>
          </p:cNvPr>
          <p:cNvSpPr txBox="1"/>
          <p:nvPr/>
        </p:nvSpPr>
        <p:spPr>
          <a:xfrm>
            <a:off x="122546" y="882328"/>
            <a:ext cx="5076198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b="1" i="0" dirty="0">
                <a:solidFill>
                  <a:schemeClr val="bg1"/>
                </a:solidFill>
                <a:effectLst/>
                <a:latin typeface="Google Sans"/>
              </a:rPr>
              <a:t>Understanding Proxies: The Middlemen of the Web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664F2A-D337-186E-97CB-3890B1A3E666}"/>
              </a:ext>
            </a:extLst>
          </p:cNvPr>
          <p:cNvSpPr/>
          <p:nvPr/>
        </p:nvSpPr>
        <p:spPr>
          <a:xfrm>
            <a:off x="1905000" y="64077"/>
            <a:ext cx="85344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Proxies: A Beginner's Guide to Forward and Reverse Proxy Servers</a:t>
            </a:r>
          </a:p>
        </p:txBody>
      </p:sp>
    </p:spTree>
    <p:extLst>
      <p:ext uri="{BB962C8B-B14F-4D97-AF65-F5344CB8AC3E}">
        <p14:creationId xmlns:p14="http://schemas.microsoft.com/office/powerpoint/2010/main" val="232278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300" y="696390"/>
            <a:ext cx="11963399" cy="2308324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1600" b="0" i="0" dirty="0">
                <a:solidFill>
                  <a:srgbClr val="FF0000"/>
                </a:solidFill>
                <a:effectLst/>
                <a:latin typeface="Google Sans"/>
              </a:rPr>
              <a:t>A forward proxy sits in front of the client, acting on its behalf</a:t>
            </a:r>
            <a:r>
              <a:rPr lang="en-US" sz="1600" b="0" i="0" dirty="0">
                <a:solidFill>
                  <a:srgbClr val="1F1F1F"/>
                </a:solidFill>
                <a:effectLst/>
                <a:latin typeface="Google Sans"/>
              </a:rPr>
              <a:t>. Here's how it works:</a:t>
            </a:r>
            <a:br>
              <a:rPr lang="en-US" sz="16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16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buFont typeface="+mj-lt"/>
              <a:buAutoNum type="arabicPeriod"/>
            </a:pPr>
            <a:r>
              <a:rPr lang="en-US" sz="1600" b="1" i="0" dirty="0">
                <a:solidFill>
                  <a:srgbClr val="1F1F1F"/>
                </a:solidFill>
                <a:effectLst/>
                <a:latin typeface="Google Sans"/>
              </a:rPr>
              <a:t>Client Request:</a:t>
            </a:r>
            <a:r>
              <a:rPr lang="en-US" sz="1600" b="0" i="0" dirty="0">
                <a:solidFill>
                  <a:srgbClr val="1F1F1F"/>
                </a:solidFill>
                <a:effectLst/>
                <a:latin typeface="Google Sans"/>
              </a:rPr>
              <a:t> You, the client, send a request to access a website (e.g., </a:t>
            </a:r>
            <a:r>
              <a:rPr lang="en-US" sz="1600" b="0" i="0" dirty="0">
                <a:solidFill>
                  <a:srgbClr val="1F1F1F"/>
                </a:solidFill>
                <a:effectLst/>
                <a:latin typeface="Google Sans"/>
                <a:hlinkClick r:id="rId3"/>
              </a:rPr>
              <a:t>www.</a:t>
            </a:r>
            <a:r>
              <a:rPr lang="en-US" sz="1600" dirty="0">
                <a:solidFill>
                  <a:srgbClr val="1F1F1F"/>
                </a:solidFill>
                <a:latin typeface="Google Sans"/>
                <a:hlinkClick r:id="rId3"/>
              </a:rPr>
              <a:t>google</a:t>
            </a:r>
            <a:r>
              <a:rPr lang="en-US" sz="1600" b="0" i="0" dirty="0">
                <a:solidFill>
                  <a:srgbClr val="1F1F1F"/>
                </a:solidFill>
                <a:effectLst/>
                <a:latin typeface="Google Sans"/>
                <a:hlinkClick r:id="rId3"/>
              </a:rPr>
              <a:t>.com</a:t>
            </a:r>
            <a:r>
              <a:rPr lang="en-US" sz="1600" b="0" i="0" dirty="0">
                <a:solidFill>
                  <a:srgbClr val="1F1F1F"/>
                </a:solidFill>
                <a:effectLst/>
                <a:latin typeface="Google Sans"/>
              </a:rPr>
              <a:t>).</a:t>
            </a:r>
            <a:br>
              <a:rPr lang="en-US" sz="16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16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buFont typeface="+mj-lt"/>
              <a:buAutoNum type="arabicPeriod"/>
            </a:pPr>
            <a:r>
              <a:rPr lang="en-US" sz="1600" b="1" i="0" dirty="0">
                <a:solidFill>
                  <a:srgbClr val="1F1F1F"/>
                </a:solidFill>
                <a:effectLst/>
                <a:latin typeface="Google Sans"/>
              </a:rPr>
              <a:t>Forward Proxy:</a:t>
            </a:r>
            <a:r>
              <a:rPr lang="en-US" sz="1600" b="0" i="0" dirty="0">
                <a:solidFill>
                  <a:srgbClr val="1F1F1F"/>
                </a:solidFill>
                <a:effectLst/>
                <a:latin typeface="Google Sans"/>
              </a:rPr>
              <a:t> Instead of connecting directly to the website, your request is directed to the forward proxy server.</a:t>
            </a:r>
            <a:br>
              <a:rPr lang="en-US" sz="16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16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buFont typeface="+mj-lt"/>
              <a:buAutoNum type="arabicPeriod"/>
            </a:pPr>
            <a:r>
              <a:rPr lang="en-US" sz="1600" b="1" i="0" dirty="0">
                <a:solidFill>
                  <a:srgbClr val="1F1F1F"/>
                </a:solidFill>
                <a:effectLst/>
                <a:latin typeface="Google Sans"/>
              </a:rPr>
              <a:t>Proxy Fetches Data:</a:t>
            </a:r>
            <a:r>
              <a:rPr lang="en-US" sz="1600" b="0" i="0" dirty="0">
                <a:solidFill>
                  <a:srgbClr val="1F1F1F"/>
                </a:solidFill>
                <a:effectLst/>
                <a:latin typeface="Google Sans"/>
              </a:rPr>
              <a:t> The forward proxy acts as your go-between. It retrieves the requested information from the website.</a:t>
            </a:r>
            <a:br>
              <a:rPr lang="en-US" sz="16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16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buFont typeface="+mj-lt"/>
              <a:buAutoNum type="arabicPeriod"/>
            </a:pPr>
            <a:r>
              <a:rPr lang="en-US" sz="1600" b="1" i="0" dirty="0">
                <a:solidFill>
                  <a:srgbClr val="1F1F1F"/>
                </a:solidFill>
                <a:effectLst/>
                <a:latin typeface="Google Sans"/>
              </a:rPr>
              <a:t>Delivery to Client:</a:t>
            </a:r>
            <a:r>
              <a:rPr lang="en-US" sz="1600" b="0" i="0" dirty="0">
                <a:solidFill>
                  <a:srgbClr val="1F1F1F"/>
                </a:solidFill>
                <a:effectLst/>
                <a:latin typeface="Google Sans"/>
              </a:rPr>
              <a:t> Finally, the forward proxy delivers the website data back to you.</a:t>
            </a:r>
          </a:p>
        </p:txBody>
      </p:sp>
      <p:pic>
        <p:nvPicPr>
          <p:cNvPr id="17" name="Picture 2" descr="Microsoft Laptop 4 - 15&quot; inches Screen, AMD R7/Windows 10 Home/8GB RAM/256  GB SSD/ Platinum - (5UI-00049) : Amazon.in: Electronics">
            <a:extLst>
              <a:ext uri="{FF2B5EF4-FFF2-40B4-BE49-F238E27FC236}">
                <a16:creationId xmlns:a16="http://schemas.microsoft.com/office/drawing/2014/main" id="{5C05276B-226B-BD25-B65A-EBA2B40C9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235" y="3474434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Logo Internet Explorer PNG Images, Ie Logo Clipart Free Download - Free  Transparent PNG Logos">
            <a:extLst>
              <a:ext uri="{FF2B5EF4-FFF2-40B4-BE49-F238E27FC236}">
                <a16:creationId xmlns:a16="http://schemas.microsoft.com/office/drawing/2014/main" id="{79BC6277-F4BA-79FD-35F8-686418E49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3474434"/>
            <a:ext cx="3323165" cy="3231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CFFB879-30A7-F9C3-C39D-FC04F80570CA}"/>
              </a:ext>
            </a:extLst>
          </p:cNvPr>
          <p:cNvCxnSpPr/>
          <p:nvPr/>
        </p:nvCxnSpPr>
        <p:spPr>
          <a:xfrm>
            <a:off x="4068235" y="4846034"/>
            <a:ext cx="118956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078FF01-EA66-FC45-717D-140DF4059113}"/>
              </a:ext>
            </a:extLst>
          </p:cNvPr>
          <p:cNvCxnSpPr>
            <a:cxnSpLocks/>
          </p:cNvCxnSpPr>
          <p:nvPr/>
        </p:nvCxnSpPr>
        <p:spPr>
          <a:xfrm>
            <a:off x="7010400" y="4846034"/>
            <a:ext cx="12954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050" name="Picture 2" descr="Proxy server Generic color lineal-color icon">
            <a:extLst>
              <a:ext uri="{FF2B5EF4-FFF2-40B4-BE49-F238E27FC236}">
                <a16:creationId xmlns:a16="http://schemas.microsoft.com/office/drawing/2014/main" id="{FA9E3224-1393-E255-C52E-5CDB700EB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3" y="4004657"/>
            <a:ext cx="1682753" cy="1682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E51428E-613D-3162-1CD9-3F6A9EF2675F}"/>
              </a:ext>
            </a:extLst>
          </p:cNvPr>
          <p:cNvSpPr txBox="1"/>
          <p:nvPr/>
        </p:nvSpPr>
        <p:spPr>
          <a:xfrm>
            <a:off x="9085706" y="3209728"/>
            <a:ext cx="1030988" cy="40011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Internet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AA7B35-26A5-A3C6-7E0D-3E3CDE51CDD7}"/>
              </a:ext>
            </a:extLst>
          </p:cNvPr>
          <p:cNvSpPr txBox="1"/>
          <p:nvPr/>
        </p:nvSpPr>
        <p:spPr>
          <a:xfrm>
            <a:off x="5131449" y="3350474"/>
            <a:ext cx="2420496" cy="40011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2000" i="0" dirty="0">
                <a:solidFill>
                  <a:schemeClr val="bg1"/>
                </a:solidFill>
                <a:effectLst/>
                <a:latin typeface="Google Sans"/>
              </a:rPr>
              <a:t>Forward Proxy Server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4E5612-63CC-F1C7-2088-E36A19C238DE}"/>
              </a:ext>
            </a:extLst>
          </p:cNvPr>
          <p:cNvSpPr txBox="1"/>
          <p:nvPr/>
        </p:nvSpPr>
        <p:spPr>
          <a:xfrm>
            <a:off x="2240291" y="3484333"/>
            <a:ext cx="559833" cy="40011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4A5A56-B95D-BE6D-7D85-9630D54AFAD3}"/>
              </a:ext>
            </a:extLst>
          </p:cNvPr>
          <p:cNvSpPr txBox="1"/>
          <p:nvPr/>
        </p:nvSpPr>
        <p:spPr>
          <a:xfrm>
            <a:off x="114300" y="246489"/>
            <a:ext cx="1725344" cy="40011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Forward Proxy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9BC3C8-FC08-7A14-AB0F-719F5F49F758}"/>
              </a:ext>
            </a:extLst>
          </p:cNvPr>
          <p:cNvSpPr/>
          <p:nvPr/>
        </p:nvSpPr>
        <p:spPr>
          <a:xfrm>
            <a:off x="1905000" y="64077"/>
            <a:ext cx="85344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Proxies: A Beginner's Guide to Forward and Reverse Proxy Servers</a:t>
            </a:r>
          </a:p>
        </p:txBody>
      </p:sp>
    </p:spTree>
    <p:extLst>
      <p:ext uri="{BB962C8B-B14F-4D97-AF65-F5344CB8AC3E}">
        <p14:creationId xmlns:p14="http://schemas.microsoft.com/office/powerpoint/2010/main" val="1377819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300" y="1085671"/>
            <a:ext cx="11963399" cy="2246769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F0000"/>
                </a:solidFill>
                <a:effectLst/>
                <a:latin typeface="Google Sans"/>
              </a:rPr>
              <a:t>Privacy: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 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The website only sees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IP address 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of the forward proxy, not your own, potentially enhancing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anonymity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.</a:t>
            </a:r>
            <a:b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20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F0000"/>
                </a:solidFill>
                <a:effectLst/>
                <a:latin typeface="Google Sans"/>
              </a:rPr>
              <a:t>Security: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 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Some forward proxies offer added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security features 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like malware filtering.</a:t>
            </a:r>
            <a:b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2000" b="0" i="0" dirty="0">
              <a:solidFill>
                <a:srgbClr val="FF0000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F0000"/>
                </a:solidFill>
                <a:effectLst/>
                <a:latin typeface="Google Sans"/>
              </a:rPr>
              <a:t>Content Access: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 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In some cases, a forward proxy can bypass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geo-restrictions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, allowing access to content unavailable in your location (note: legality may vary).</a:t>
            </a:r>
          </a:p>
        </p:txBody>
      </p:sp>
      <p:pic>
        <p:nvPicPr>
          <p:cNvPr id="17" name="Picture 2" descr="Microsoft Laptop 4 - 15&quot; inches Screen, AMD R7/Windows 10 Home/8GB RAM/256  GB SSD/ Platinum - (5UI-00049) : Amazon.in: Electronics">
            <a:extLst>
              <a:ext uri="{FF2B5EF4-FFF2-40B4-BE49-F238E27FC236}">
                <a16:creationId xmlns:a16="http://schemas.microsoft.com/office/drawing/2014/main" id="{5C05276B-226B-BD25-B65A-EBA2B40C9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235" y="3931634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Logo Internet Explorer PNG Images, Ie Logo Clipart Free Download - Free  Transparent PNG Logos">
            <a:extLst>
              <a:ext uri="{FF2B5EF4-FFF2-40B4-BE49-F238E27FC236}">
                <a16:creationId xmlns:a16="http://schemas.microsoft.com/office/drawing/2014/main" id="{79BC6277-F4BA-79FD-35F8-686418E49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3931634"/>
            <a:ext cx="3323165" cy="3231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CFFB879-30A7-F9C3-C39D-FC04F80570CA}"/>
              </a:ext>
            </a:extLst>
          </p:cNvPr>
          <p:cNvCxnSpPr/>
          <p:nvPr/>
        </p:nvCxnSpPr>
        <p:spPr>
          <a:xfrm>
            <a:off x="4068235" y="5303234"/>
            <a:ext cx="118956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078FF01-EA66-FC45-717D-140DF4059113}"/>
              </a:ext>
            </a:extLst>
          </p:cNvPr>
          <p:cNvCxnSpPr>
            <a:cxnSpLocks/>
          </p:cNvCxnSpPr>
          <p:nvPr/>
        </p:nvCxnSpPr>
        <p:spPr>
          <a:xfrm>
            <a:off x="7010400" y="5303234"/>
            <a:ext cx="12954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050" name="Picture 2" descr="Proxy server Generic color lineal-color icon">
            <a:extLst>
              <a:ext uri="{FF2B5EF4-FFF2-40B4-BE49-F238E27FC236}">
                <a16:creationId xmlns:a16="http://schemas.microsoft.com/office/drawing/2014/main" id="{FA9E3224-1393-E255-C52E-5CDB700EB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3" y="4461857"/>
            <a:ext cx="1682753" cy="1682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E51428E-613D-3162-1CD9-3F6A9EF2675F}"/>
              </a:ext>
            </a:extLst>
          </p:cNvPr>
          <p:cNvSpPr txBox="1"/>
          <p:nvPr/>
        </p:nvSpPr>
        <p:spPr>
          <a:xfrm>
            <a:off x="9085706" y="3666928"/>
            <a:ext cx="1030988" cy="40011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Internet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AA7B35-26A5-A3C6-7E0D-3E3CDE51CDD7}"/>
              </a:ext>
            </a:extLst>
          </p:cNvPr>
          <p:cNvSpPr txBox="1"/>
          <p:nvPr/>
        </p:nvSpPr>
        <p:spPr>
          <a:xfrm>
            <a:off x="5131449" y="3807674"/>
            <a:ext cx="2420496" cy="40011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2000" i="0" dirty="0">
                <a:solidFill>
                  <a:schemeClr val="bg1"/>
                </a:solidFill>
                <a:effectLst/>
                <a:latin typeface="Google Sans"/>
              </a:rPr>
              <a:t>Forward Proxy Server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4E5612-63CC-F1C7-2088-E36A19C238DE}"/>
              </a:ext>
            </a:extLst>
          </p:cNvPr>
          <p:cNvSpPr txBox="1"/>
          <p:nvPr/>
        </p:nvSpPr>
        <p:spPr>
          <a:xfrm>
            <a:off x="2240291" y="3941533"/>
            <a:ext cx="559833" cy="40011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4A5A56-B95D-BE6D-7D85-9630D54AFAD3}"/>
              </a:ext>
            </a:extLst>
          </p:cNvPr>
          <p:cNvSpPr txBox="1"/>
          <p:nvPr/>
        </p:nvSpPr>
        <p:spPr>
          <a:xfrm>
            <a:off x="114300" y="635770"/>
            <a:ext cx="3108480" cy="40011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Benefits of Forward Proxies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9BC3C8-FC08-7A14-AB0F-719F5F49F758}"/>
              </a:ext>
            </a:extLst>
          </p:cNvPr>
          <p:cNvSpPr/>
          <p:nvPr/>
        </p:nvSpPr>
        <p:spPr>
          <a:xfrm>
            <a:off x="1905000" y="64077"/>
            <a:ext cx="85344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Proxies: A Beginner's Guide to Forward and Reverse Proxy Servers</a:t>
            </a:r>
          </a:p>
        </p:txBody>
      </p:sp>
    </p:spTree>
    <p:extLst>
      <p:ext uri="{BB962C8B-B14F-4D97-AF65-F5344CB8AC3E}">
        <p14:creationId xmlns:p14="http://schemas.microsoft.com/office/powerpoint/2010/main" val="874766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299" y="657761"/>
            <a:ext cx="11963399" cy="1815882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FF0000"/>
                </a:solidFill>
                <a:effectLst/>
                <a:latin typeface="Google Sans"/>
              </a:rPr>
              <a:t>A reverse proxy sits in front of one or more web servers, acting as a gatekeeper. </a:t>
            </a:r>
            <a:r>
              <a:rPr lang="en-US" sz="1400" b="0" i="0" dirty="0">
                <a:solidFill>
                  <a:srgbClr val="1F1F1F"/>
                </a:solidFill>
                <a:effectLst/>
                <a:latin typeface="Google Sans"/>
              </a:rPr>
              <a:t>Here's its workflow:</a:t>
            </a:r>
            <a:br>
              <a:rPr lang="en-US" sz="14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14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buFont typeface="+mj-lt"/>
              <a:buAutoNum type="arabicPeriod"/>
            </a:pPr>
            <a:r>
              <a:rPr lang="en-US" sz="1400" b="1" i="0" dirty="0">
                <a:solidFill>
                  <a:srgbClr val="1F1F1F"/>
                </a:solidFill>
                <a:effectLst/>
                <a:latin typeface="Google Sans"/>
              </a:rPr>
              <a:t>Client Request:</a:t>
            </a:r>
            <a:r>
              <a:rPr lang="en-US" sz="1400" b="0" i="0" dirty="0">
                <a:solidFill>
                  <a:srgbClr val="1F1F1F"/>
                </a:solidFill>
                <a:effectLst/>
                <a:latin typeface="Google Sans"/>
              </a:rPr>
              <a:t> A client sends a request to access a website (e.g., </a:t>
            </a:r>
            <a:r>
              <a:rPr lang="en-US" sz="1400" b="0" i="0" dirty="0">
                <a:solidFill>
                  <a:srgbClr val="1F1F1F"/>
                </a:solidFill>
                <a:effectLst/>
                <a:latin typeface="Google Sans"/>
                <a:hlinkClick r:id="rId3"/>
              </a:rPr>
              <a:t>www.</a:t>
            </a:r>
            <a:r>
              <a:rPr lang="en-US" sz="1400" dirty="0">
                <a:solidFill>
                  <a:srgbClr val="1F1F1F"/>
                </a:solidFill>
                <a:latin typeface="Google Sans"/>
                <a:hlinkClick r:id="rId3"/>
              </a:rPr>
              <a:t>amazon</a:t>
            </a:r>
            <a:r>
              <a:rPr lang="en-US" sz="1400" b="0" i="0" dirty="0">
                <a:solidFill>
                  <a:srgbClr val="1F1F1F"/>
                </a:solidFill>
                <a:effectLst/>
                <a:latin typeface="Google Sans"/>
                <a:hlinkClick r:id="rId3"/>
              </a:rPr>
              <a:t>.com</a:t>
            </a:r>
            <a:r>
              <a:rPr lang="en-US" sz="1400" b="0" i="0" dirty="0">
                <a:solidFill>
                  <a:srgbClr val="1F1F1F"/>
                </a:solidFill>
                <a:effectLst/>
                <a:latin typeface="Google Sans"/>
              </a:rPr>
              <a:t>).</a:t>
            </a:r>
          </a:p>
          <a:p>
            <a:pPr algn="l">
              <a:buFont typeface="+mj-lt"/>
              <a:buAutoNum type="arabicPeriod"/>
            </a:pPr>
            <a:r>
              <a:rPr lang="en-US" sz="1400" b="1" i="0" dirty="0">
                <a:solidFill>
                  <a:srgbClr val="1F1F1F"/>
                </a:solidFill>
                <a:effectLst/>
                <a:latin typeface="Google Sans"/>
              </a:rPr>
              <a:t>Reverse Proxy:</a:t>
            </a:r>
            <a:r>
              <a:rPr lang="en-US" sz="1400" b="0" i="0" dirty="0">
                <a:solidFill>
                  <a:srgbClr val="1F1F1F"/>
                </a:solidFill>
                <a:effectLst/>
                <a:latin typeface="Google Sans"/>
              </a:rPr>
              <a:t> The request first reaches the reverse proxy server.</a:t>
            </a:r>
          </a:p>
          <a:p>
            <a:pPr algn="l">
              <a:buFont typeface="+mj-lt"/>
              <a:buAutoNum type="arabicPeriod"/>
            </a:pPr>
            <a:r>
              <a:rPr lang="en-US" sz="1400" b="1" i="0" dirty="0">
                <a:solidFill>
                  <a:srgbClr val="1F1F1F"/>
                </a:solidFill>
                <a:effectLst/>
                <a:latin typeface="Google Sans"/>
              </a:rPr>
              <a:t>Traffic Distribution:</a:t>
            </a:r>
            <a:r>
              <a:rPr lang="en-US" sz="1400" b="0" i="0" dirty="0">
                <a:solidFill>
                  <a:srgbClr val="1F1F1F"/>
                </a:solidFill>
                <a:effectLst/>
                <a:latin typeface="Google Sans"/>
              </a:rPr>
              <a:t> The reverse proxy can distribute traffic among multiple web servers behind it (load balancing).</a:t>
            </a:r>
          </a:p>
          <a:p>
            <a:pPr algn="l">
              <a:buFont typeface="+mj-lt"/>
              <a:buAutoNum type="arabicPeriod"/>
            </a:pPr>
            <a:r>
              <a:rPr lang="en-US" sz="1400" b="1" i="0" dirty="0">
                <a:solidFill>
                  <a:srgbClr val="1F1F1F"/>
                </a:solidFill>
                <a:effectLst/>
                <a:latin typeface="Google Sans"/>
              </a:rPr>
              <a:t>Server Selection:</a:t>
            </a:r>
            <a:r>
              <a:rPr lang="en-US" sz="1400" b="0" i="0" dirty="0">
                <a:solidFill>
                  <a:srgbClr val="1F1F1F"/>
                </a:solidFill>
                <a:effectLst/>
                <a:latin typeface="Google Sans"/>
              </a:rPr>
              <a:t> It selects the most appropriate server to handle the request based on factors like workload or server specialization.</a:t>
            </a:r>
          </a:p>
          <a:p>
            <a:pPr algn="l">
              <a:buFont typeface="+mj-lt"/>
              <a:buAutoNum type="arabicPeriod"/>
            </a:pPr>
            <a:r>
              <a:rPr lang="en-US" sz="1400" b="1" i="0" dirty="0">
                <a:solidFill>
                  <a:srgbClr val="1F1F1F"/>
                </a:solidFill>
                <a:effectLst/>
                <a:latin typeface="Google Sans"/>
              </a:rPr>
              <a:t>Data Delivery:</a:t>
            </a:r>
            <a:r>
              <a:rPr lang="en-US" sz="1400" b="0" i="0" dirty="0">
                <a:solidFill>
                  <a:srgbClr val="1F1F1F"/>
                </a:solidFill>
                <a:effectLst/>
                <a:latin typeface="Google Sans"/>
              </a:rPr>
              <a:t> The chosen web server fulfills the request and sends the data back to the reverse proxy.</a:t>
            </a:r>
          </a:p>
          <a:p>
            <a:pPr algn="l">
              <a:buFont typeface="+mj-lt"/>
              <a:buAutoNum type="arabicPeriod"/>
            </a:pPr>
            <a:r>
              <a:rPr lang="en-US" sz="1400" b="1" i="0" dirty="0">
                <a:solidFill>
                  <a:srgbClr val="1F1F1F"/>
                </a:solidFill>
                <a:effectLst/>
                <a:latin typeface="Google Sans"/>
              </a:rPr>
              <a:t>Response to Client:</a:t>
            </a:r>
            <a:r>
              <a:rPr lang="en-US" sz="1400" b="0" i="0" dirty="0">
                <a:solidFill>
                  <a:srgbClr val="1F1F1F"/>
                </a:solidFill>
                <a:effectLst/>
                <a:latin typeface="Google Sans"/>
              </a:rPr>
              <a:t> Finally, the reverse proxy delivers the response to the client.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09673A-6E0B-AE3C-42E6-D39FCA3BD7C4}"/>
              </a:ext>
            </a:extLst>
          </p:cNvPr>
          <p:cNvSpPr txBox="1"/>
          <p:nvPr/>
        </p:nvSpPr>
        <p:spPr>
          <a:xfrm>
            <a:off x="100008" y="219820"/>
            <a:ext cx="1652592" cy="40011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Google Sans"/>
              </a:rPr>
              <a:t>Reverse</a:t>
            </a:r>
            <a:r>
              <a:rPr lang="en-US" sz="2000" i="0" dirty="0">
                <a:solidFill>
                  <a:schemeClr val="bg1"/>
                </a:solidFill>
                <a:effectLst/>
                <a:latin typeface="Google Sans"/>
              </a:rPr>
              <a:t> Proxy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39A2CD-AA0C-2CDD-B6AC-4BB65514B418}"/>
              </a:ext>
            </a:extLst>
          </p:cNvPr>
          <p:cNvSpPr/>
          <p:nvPr/>
        </p:nvSpPr>
        <p:spPr>
          <a:xfrm>
            <a:off x="1905000" y="64077"/>
            <a:ext cx="85344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Proxies: A Beginner's Guide to Forward and Reverse Proxy Servers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48A55E0-13E2-6F21-8DD6-A9C076BAB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2665424"/>
            <a:ext cx="7279870" cy="399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736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299" y="997803"/>
            <a:ext cx="11963399" cy="1477328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FF0000"/>
                </a:solidFill>
                <a:effectLst/>
                <a:latin typeface="Google Sans"/>
              </a:rPr>
              <a:t>Security</a:t>
            </a:r>
            <a:r>
              <a:rPr lang="en-US" sz="1800" b="1" i="0" dirty="0">
                <a:solidFill>
                  <a:srgbClr val="1F1F1F"/>
                </a:solidFill>
                <a:effectLst/>
                <a:latin typeface="Google Sans"/>
              </a:rPr>
              <a:t>: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 By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shielding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 the actual web servers from direct client interaction, a reverse proxy acts as a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security layer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.</a:t>
            </a:r>
            <a:b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18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FF0000"/>
                </a:solidFill>
                <a:effectLst/>
                <a:latin typeface="Google Sans"/>
              </a:rPr>
              <a:t>Performance</a:t>
            </a:r>
            <a:r>
              <a:rPr lang="en-US" sz="1800" b="1" i="0" dirty="0">
                <a:solidFill>
                  <a:srgbClr val="1F1F1F"/>
                </a:solidFill>
                <a:effectLst/>
                <a:latin typeface="Google Sans"/>
              </a:rPr>
              <a:t>: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 It can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cache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 frequently accessed content, improving website loading speed for users.</a:t>
            </a:r>
            <a:b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18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FF0000"/>
                </a:solidFill>
                <a:effectLst/>
                <a:latin typeface="Google Sans"/>
              </a:rPr>
              <a:t>Scalability</a:t>
            </a:r>
            <a:r>
              <a:rPr lang="en-US" sz="1800" b="1" i="0" dirty="0">
                <a:solidFill>
                  <a:srgbClr val="1F1F1F"/>
                </a:solidFill>
                <a:effectLst/>
                <a:latin typeface="Google Sans"/>
              </a:rPr>
              <a:t>: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 A reverse proxy can handle a high volume of traffic by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Google Sans"/>
              </a:rPr>
              <a:t>distributing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Google Sans"/>
              </a:rPr>
              <a:t> it among multiple servers.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09673A-6E0B-AE3C-42E6-D39FCA3BD7C4}"/>
              </a:ext>
            </a:extLst>
          </p:cNvPr>
          <p:cNvSpPr txBox="1"/>
          <p:nvPr/>
        </p:nvSpPr>
        <p:spPr>
          <a:xfrm>
            <a:off x="100008" y="559862"/>
            <a:ext cx="3100392" cy="40011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Google Sans"/>
              </a:rPr>
              <a:t>Benefits of Reverse Proxies: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39A2CD-AA0C-2CDD-B6AC-4BB65514B418}"/>
              </a:ext>
            </a:extLst>
          </p:cNvPr>
          <p:cNvSpPr/>
          <p:nvPr/>
        </p:nvSpPr>
        <p:spPr>
          <a:xfrm>
            <a:off x="1905000" y="64077"/>
            <a:ext cx="85344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Proxies: A Beginner's Guide to Forward and Reverse Proxy Servers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48A55E0-13E2-6F21-8DD6-A9C076BAB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665424"/>
            <a:ext cx="7279870" cy="399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859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1905000" y="64077"/>
            <a:ext cx="85344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Proxies: A Beginner's Guide to Forward and Reverse Proxy Servers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301" y="2598003"/>
            <a:ext cx="11544300" cy="707886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F0000"/>
                </a:solidFill>
                <a:effectLst/>
                <a:latin typeface="Google Sans"/>
              </a:rPr>
              <a:t>Forward Proxy: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 Works for the </a:t>
            </a:r>
            <a:r>
              <a:rPr lang="en-US" sz="2000" b="1" i="0" dirty="0">
                <a:solidFill>
                  <a:srgbClr val="FF0000"/>
                </a:solidFill>
                <a:effectLst/>
                <a:latin typeface="Google Sans"/>
              </a:rPr>
              <a:t>client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, providing privacy, security, and potentially bypassing restrictions.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F0000"/>
                </a:solidFill>
                <a:effectLst/>
                <a:latin typeface="Google Sans"/>
              </a:rPr>
              <a:t>Reverse Proxy: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 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Works for the </a:t>
            </a:r>
            <a:r>
              <a:rPr lang="en-US" sz="2000" b="1" i="0" dirty="0">
                <a:solidFill>
                  <a:srgbClr val="FF0000"/>
                </a:solidFill>
                <a:effectLst/>
                <a:latin typeface="Google Sans"/>
              </a:rPr>
              <a:t>website owner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, enhancing security, performance, and scalability.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00B9C3-313E-24D3-FF6D-B252E10DA205}"/>
              </a:ext>
            </a:extLst>
          </p:cNvPr>
          <p:cNvSpPr txBox="1"/>
          <p:nvPr/>
        </p:nvSpPr>
        <p:spPr>
          <a:xfrm>
            <a:off x="5181600" y="2165745"/>
            <a:ext cx="1447800" cy="40011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Google Sans"/>
              </a:rPr>
              <a:t>Summary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38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pic>
        <p:nvPicPr>
          <p:cNvPr id="7" name="Picture 2" descr="Proxy server Generic color lineal-color icon">
            <a:extLst>
              <a:ext uri="{FF2B5EF4-FFF2-40B4-BE49-F238E27FC236}">
                <a16:creationId xmlns:a16="http://schemas.microsoft.com/office/drawing/2014/main" id="{606B8A14-E039-CF7B-ED84-6EC8B68E6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300" y="2212881"/>
            <a:ext cx="1682753" cy="1682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7613C02-DFFF-0664-5A4E-440CCA1D2917}"/>
              </a:ext>
            </a:extLst>
          </p:cNvPr>
          <p:cNvSpPr txBox="1"/>
          <p:nvPr/>
        </p:nvSpPr>
        <p:spPr>
          <a:xfrm>
            <a:off x="4707030" y="4078453"/>
            <a:ext cx="2420496" cy="40011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Google Sans"/>
              </a:rPr>
              <a:t>Reverse</a:t>
            </a:r>
            <a:r>
              <a:rPr lang="en-US" sz="2000" i="0" dirty="0">
                <a:solidFill>
                  <a:schemeClr val="bg1"/>
                </a:solidFill>
                <a:effectLst/>
                <a:latin typeface="Google Sans"/>
              </a:rPr>
              <a:t> Proxy Server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098" name="Picture 2" descr="Web server vector icon | Free SVG">
            <a:extLst>
              <a:ext uri="{FF2B5EF4-FFF2-40B4-BE49-F238E27FC236}">
                <a16:creationId xmlns:a16="http://schemas.microsoft.com/office/drawing/2014/main" id="{AE1CFECF-395E-3CE5-BC1C-8590EFFF0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8356" y="2280681"/>
            <a:ext cx="1885966" cy="1885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Web server vector icon | Free SVG">
            <a:extLst>
              <a:ext uri="{FF2B5EF4-FFF2-40B4-BE49-F238E27FC236}">
                <a16:creationId xmlns:a16="http://schemas.microsoft.com/office/drawing/2014/main" id="{0C99FFDE-3301-8ECD-258C-A6E70CAE0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4648200"/>
            <a:ext cx="1885966" cy="1885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3220CD1-5E2A-09F2-3B21-FB8D4FA072CC}"/>
              </a:ext>
            </a:extLst>
          </p:cNvPr>
          <p:cNvSpPr txBox="1"/>
          <p:nvPr/>
        </p:nvSpPr>
        <p:spPr>
          <a:xfrm>
            <a:off x="10534323" y="802876"/>
            <a:ext cx="1394000" cy="338554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Google Sans"/>
              </a:rPr>
              <a:t>Web Server 1</a:t>
            </a: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B8DF6D5-2A50-B0BF-EB24-9EA5C144FCBB}"/>
              </a:ext>
            </a:extLst>
          </p:cNvPr>
          <p:cNvCxnSpPr>
            <a:cxnSpLocks/>
          </p:cNvCxnSpPr>
          <p:nvPr/>
        </p:nvCxnSpPr>
        <p:spPr>
          <a:xfrm>
            <a:off x="6575365" y="3101483"/>
            <a:ext cx="2187635" cy="47991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86C591A-76C8-14FE-954D-DC756D7624BC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6575365" y="3365943"/>
            <a:ext cx="2187635" cy="22252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45695A7-DF0C-7794-F50A-B94AFA9149B4}"/>
              </a:ext>
            </a:extLst>
          </p:cNvPr>
          <p:cNvCxnSpPr>
            <a:cxnSpLocks/>
          </p:cNvCxnSpPr>
          <p:nvPr/>
        </p:nvCxnSpPr>
        <p:spPr>
          <a:xfrm>
            <a:off x="3733800" y="3276600"/>
            <a:ext cx="185286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8" name="Picture 4" descr="Logo Internet Explorer PNG Images, Ie Logo Clipart Free Download - Free  Transparent PNG Logos">
            <a:extLst>
              <a:ext uri="{FF2B5EF4-FFF2-40B4-BE49-F238E27FC236}">
                <a16:creationId xmlns:a16="http://schemas.microsoft.com/office/drawing/2014/main" id="{951CB537-D524-B2AE-98BC-09465F54C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618" y="2448316"/>
            <a:ext cx="2017212" cy="1961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BBCB26-2E56-D2FC-65CB-AEE8FFBAD7F3}"/>
              </a:ext>
            </a:extLst>
          </p:cNvPr>
          <p:cNvSpPr txBox="1"/>
          <p:nvPr/>
        </p:nvSpPr>
        <p:spPr>
          <a:xfrm>
            <a:off x="2422492" y="2109375"/>
            <a:ext cx="1030988" cy="40011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Internet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2CB8D6-F0C4-219A-7CB7-55EE418EB0D0}"/>
              </a:ext>
            </a:extLst>
          </p:cNvPr>
          <p:cNvSpPr txBox="1"/>
          <p:nvPr/>
        </p:nvSpPr>
        <p:spPr>
          <a:xfrm>
            <a:off x="10534322" y="3090446"/>
            <a:ext cx="1373380" cy="338554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Google Sans"/>
              </a:rPr>
              <a:t>Web Server 2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4" name="Picture 2" descr="Microsoft Laptop 4 - 15&quot; inches Screen, AMD R7/Windows 10 Home/8GB RAM/256  GB SSD/ Platinum - (5UI-00049) : Amazon.in: Electronics">
            <a:extLst>
              <a:ext uri="{FF2B5EF4-FFF2-40B4-BE49-F238E27FC236}">
                <a16:creationId xmlns:a16="http://schemas.microsoft.com/office/drawing/2014/main" id="{F100B49D-B9B0-585B-FECF-BEB9D63AA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077" y="4156718"/>
            <a:ext cx="959834" cy="959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Microsoft Laptop 4 - 15&quot; inches Screen, AMD R7/Windows 10 Home/8GB RAM/256  GB SSD/ Platinum - (5UI-00049) : Amazon.in: Electronics">
            <a:extLst>
              <a:ext uri="{FF2B5EF4-FFF2-40B4-BE49-F238E27FC236}">
                <a16:creationId xmlns:a16="http://schemas.microsoft.com/office/drawing/2014/main" id="{C014622E-1726-759F-4468-3CB843770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077" y="1249966"/>
            <a:ext cx="959834" cy="959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Microsoft Laptop 4 - 15&quot; inches Screen, AMD R7/Windows 10 Home/8GB RAM/256  GB SSD/ Platinum - (5UI-00049) : Amazon.in: Electronics">
            <a:extLst>
              <a:ext uri="{FF2B5EF4-FFF2-40B4-BE49-F238E27FC236}">
                <a16:creationId xmlns:a16="http://schemas.microsoft.com/office/drawing/2014/main" id="{0B504048-5321-3E07-798E-F2920AC48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299" y="2703342"/>
            <a:ext cx="959834" cy="959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D111552-6035-4F7B-37DA-4C499E6541B0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1261911" y="1729883"/>
            <a:ext cx="982106" cy="11590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32F9241-4943-9E7F-012A-70B4AC7865B7}"/>
              </a:ext>
            </a:extLst>
          </p:cNvPr>
          <p:cNvCxnSpPr>
            <a:cxnSpLocks/>
          </p:cNvCxnSpPr>
          <p:nvPr/>
        </p:nvCxnSpPr>
        <p:spPr>
          <a:xfrm flipV="1">
            <a:off x="1244133" y="3760975"/>
            <a:ext cx="999884" cy="8622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1F6B5E8-DB31-8EE6-11CE-977DB9F571EF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1244133" y="3183259"/>
            <a:ext cx="88946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23166C6-6342-93AE-5802-3D7CB644D220}"/>
              </a:ext>
            </a:extLst>
          </p:cNvPr>
          <p:cNvSpPr txBox="1"/>
          <p:nvPr/>
        </p:nvSpPr>
        <p:spPr>
          <a:xfrm>
            <a:off x="10513703" y="5272753"/>
            <a:ext cx="1394000" cy="338554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Google Sans"/>
              </a:rPr>
              <a:t>Web Server 3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21" name="Picture 2" descr="Web server vector icon | Free SVG">
            <a:extLst>
              <a:ext uri="{FF2B5EF4-FFF2-40B4-BE49-F238E27FC236}">
                <a16:creationId xmlns:a16="http://schemas.microsoft.com/office/drawing/2014/main" id="{7643F58A-23FA-FF5E-34C8-923134A4C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5678" y="229972"/>
            <a:ext cx="1885966" cy="1885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1A38D8B-A654-C252-3EDE-7145844ABF45}"/>
              </a:ext>
            </a:extLst>
          </p:cNvPr>
          <p:cNvCxnSpPr>
            <a:cxnSpLocks/>
          </p:cNvCxnSpPr>
          <p:nvPr/>
        </p:nvCxnSpPr>
        <p:spPr>
          <a:xfrm flipV="1">
            <a:off x="6575365" y="1141430"/>
            <a:ext cx="2187635" cy="174920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2760137-5B79-9B55-BFC4-0E1D0AAFDC7C}"/>
              </a:ext>
            </a:extLst>
          </p:cNvPr>
          <p:cNvSpPr txBox="1"/>
          <p:nvPr/>
        </p:nvSpPr>
        <p:spPr>
          <a:xfrm>
            <a:off x="410635" y="5391128"/>
            <a:ext cx="783150" cy="40011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Google Sans"/>
              </a:rPr>
              <a:t>Users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507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91821</TotalTime>
  <Words>607</Words>
  <Application>Microsoft Office PowerPoint</Application>
  <PresentationFormat>Widescreen</PresentationFormat>
  <Paragraphs>54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10013</cp:revision>
  <dcterms:created xsi:type="dcterms:W3CDTF">2006-08-16T00:00:00Z</dcterms:created>
  <dcterms:modified xsi:type="dcterms:W3CDTF">2024-04-16T08:24:50Z</dcterms:modified>
</cp:coreProperties>
</file>