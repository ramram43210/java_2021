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3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91" r:id="rId12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DA"/>
    <a:srgbClr val="004620"/>
    <a:srgbClr val="E0ABAA"/>
    <a:srgbClr val="AF423F"/>
    <a:srgbClr val="FFCE33"/>
    <a:srgbClr val="CC9B00"/>
    <a:srgbClr val="005C2A"/>
    <a:srgbClr val="2AE456"/>
    <a:srgbClr val="FF505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6/21/2024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3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1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1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70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51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21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83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27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73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533400"/>
            <a:ext cx="357553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 Lifecycle?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14427E1-A554-EF99-7C5B-793EF1A0574E}"/>
              </a:ext>
            </a:extLst>
          </p:cNvPr>
          <p:cNvSpPr/>
          <p:nvPr/>
        </p:nvSpPr>
        <p:spPr>
          <a:xfrm>
            <a:off x="117613" y="1104452"/>
            <a:ext cx="11921987" cy="1496390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	The </a:t>
            </a:r>
            <a:r>
              <a:rPr lang="en-US" sz="2400" dirty="0">
                <a:solidFill>
                  <a:srgbClr val="FF0000"/>
                </a:solidFill>
              </a:rPr>
              <a:t>DevOps lifecycle </a:t>
            </a:r>
            <a:r>
              <a:rPr lang="en-US" sz="2400" dirty="0">
                <a:solidFill>
                  <a:schemeClr val="tx1"/>
                </a:solidFill>
              </a:rPr>
              <a:t>is a </a:t>
            </a:r>
            <a:r>
              <a:rPr lang="en-US" sz="2400" dirty="0">
                <a:solidFill>
                  <a:srgbClr val="FF0000"/>
                </a:solidFill>
              </a:rPr>
              <a:t>series of stages </a:t>
            </a:r>
            <a:r>
              <a:rPr lang="en-US" sz="2400" dirty="0">
                <a:solidFill>
                  <a:schemeClr val="tx1"/>
                </a:solidFill>
              </a:rPr>
              <a:t>that </a:t>
            </a:r>
            <a:r>
              <a:rPr lang="en-US" sz="2400" dirty="0">
                <a:solidFill>
                  <a:srgbClr val="FF0000"/>
                </a:solidFill>
              </a:rPr>
              <a:t>bridge the gap </a:t>
            </a:r>
            <a:r>
              <a:rPr lang="en-US" sz="2400" dirty="0">
                <a:solidFill>
                  <a:schemeClr val="tx1"/>
                </a:solidFill>
              </a:rPr>
              <a:t>between </a:t>
            </a:r>
            <a:r>
              <a:rPr lang="en-US" sz="2400" dirty="0">
                <a:solidFill>
                  <a:srgbClr val="FF0000"/>
                </a:solidFill>
              </a:rPr>
              <a:t>software development and IT operations</a:t>
            </a:r>
            <a:r>
              <a:rPr lang="en-US" sz="2400" dirty="0">
                <a:solidFill>
                  <a:schemeClr val="tx1"/>
                </a:solidFill>
              </a:rPr>
              <a:t>, fostering a culture of collaboration, continuous improvement, and automation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8E3CF-CD5E-8F3A-577A-C7952B8D0396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  <p:pic>
        <p:nvPicPr>
          <p:cNvPr id="1026" name="Picture 2" descr="What is DevOps? The Ultimate Guide - 2023">
            <a:extLst>
              <a:ext uri="{FF2B5EF4-FFF2-40B4-BE49-F238E27FC236}">
                <a16:creationId xmlns:a16="http://schemas.microsoft.com/office/drawing/2014/main" id="{E546DE64-BD1F-0C35-957F-06497BDC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755" y="3215094"/>
            <a:ext cx="6469290" cy="325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DevOps? The Ultimate Guide - 2023">
            <a:extLst>
              <a:ext uri="{FF2B5EF4-FFF2-40B4-BE49-F238E27FC236}">
                <a16:creationId xmlns:a16="http://schemas.microsoft.com/office/drawing/2014/main" id="{E841C107-4B3A-C5B8-02A0-B6BBC2787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748" y="3599970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567256"/>
            <a:ext cx="11758653" cy="2690774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1. Planning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the </a:t>
            </a:r>
            <a:r>
              <a:rPr lang="en-US" sz="2000" dirty="0">
                <a:solidFill>
                  <a:srgbClr val="C00000"/>
                </a:solidFill>
              </a:rPr>
              <a:t>project vision </a:t>
            </a:r>
            <a:r>
              <a:rPr lang="en-US" sz="2000" dirty="0">
                <a:solidFill>
                  <a:schemeClr val="tx1"/>
                </a:solidFill>
              </a:rPr>
              <a:t>is defined, </a:t>
            </a:r>
            <a:r>
              <a:rPr lang="en-US" sz="2000" dirty="0">
                <a:solidFill>
                  <a:srgbClr val="C00000"/>
                </a:solidFill>
              </a:rPr>
              <a:t>requirements</a:t>
            </a:r>
            <a:r>
              <a:rPr lang="en-US" sz="2000" dirty="0">
                <a:solidFill>
                  <a:schemeClr val="tx1"/>
                </a:solidFill>
              </a:rPr>
              <a:t> are gathered, and </a:t>
            </a:r>
            <a:r>
              <a:rPr lang="en-US" sz="2000" dirty="0">
                <a:solidFill>
                  <a:srgbClr val="C00000"/>
                </a:solidFill>
              </a:rPr>
              <a:t>tasks</a:t>
            </a:r>
            <a:r>
              <a:rPr lang="en-US" sz="2000" dirty="0">
                <a:solidFill>
                  <a:schemeClr val="tx1"/>
                </a:solidFill>
              </a:rPr>
              <a:t> are planned.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Setting </a:t>
            </a:r>
            <a:r>
              <a:rPr lang="en-US" sz="2000" dirty="0">
                <a:solidFill>
                  <a:srgbClr val="C00000"/>
                </a:solidFill>
              </a:rPr>
              <a:t>objectives</a:t>
            </a:r>
            <a:r>
              <a:rPr lang="en-US" sz="2000" dirty="0">
                <a:solidFill>
                  <a:schemeClr val="tx1"/>
                </a:solidFill>
              </a:rPr>
              <a:t>, defining </a:t>
            </a:r>
            <a:r>
              <a:rPr lang="en-US" sz="2000" dirty="0">
                <a:solidFill>
                  <a:srgbClr val="C00000"/>
                </a:solidFill>
              </a:rPr>
              <a:t>deliverables</a:t>
            </a:r>
            <a:r>
              <a:rPr lang="en-US" sz="2000" dirty="0">
                <a:solidFill>
                  <a:schemeClr val="tx1"/>
                </a:solidFill>
              </a:rPr>
              <a:t>, creating </a:t>
            </a:r>
            <a:r>
              <a:rPr lang="en-US" sz="2000" dirty="0">
                <a:solidFill>
                  <a:srgbClr val="C00000"/>
                </a:solidFill>
              </a:rPr>
              <a:t>user stories</a:t>
            </a:r>
            <a:r>
              <a:rPr lang="en-US" sz="2000" dirty="0">
                <a:solidFill>
                  <a:schemeClr val="tx1"/>
                </a:solidFill>
              </a:rPr>
              <a:t>, and planning </a:t>
            </a:r>
            <a:r>
              <a:rPr lang="en-US" sz="2000" dirty="0">
                <a:solidFill>
                  <a:srgbClr val="C00000"/>
                </a:solidFill>
              </a:rPr>
              <a:t>sprints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Jira, Trello, Confluence.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716793" y="3258030"/>
            <a:ext cx="369970" cy="13118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366D348-E27D-8013-7717-787009D2CC56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12902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hat is DevOps? The Ultimate Guide - 2023">
            <a:extLst>
              <a:ext uri="{FF2B5EF4-FFF2-40B4-BE49-F238E27FC236}">
                <a16:creationId xmlns:a16="http://schemas.microsoft.com/office/drawing/2014/main" id="{E4AEB9E1-6714-5EDF-0AC2-462CBD559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478481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896" y="637655"/>
            <a:ext cx="11832163" cy="2427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2. Coding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US" sz="20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developers </a:t>
            </a:r>
            <a:r>
              <a:rPr lang="en-US" sz="2000" dirty="0">
                <a:solidFill>
                  <a:srgbClr val="C00000"/>
                </a:solidFill>
              </a:rPr>
              <a:t>write the actual code </a:t>
            </a:r>
            <a:r>
              <a:rPr lang="en-US" sz="2000" dirty="0">
                <a:solidFill>
                  <a:schemeClr val="tx1"/>
                </a:solidFill>
              </a:rPr>
              <a:t>for the application.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Writing </a:t>
            </a:r>
            <a:r>
              <a:rPr lang="en-US" sz="2000" dirty="0">
                <a:solidFill>
                  <a:srgbClr val="C00000"/>
                </a:solidFill>
              </a:rPr>
              <a:t>code</a:t>
            </a:r>
            <a:r>
              <a:rPr lang="en-US" sz="2000" dirty="0">
                <a:solidFill>
                  <a:schemeClr val="tx1"/>
                </a:solidFill>
              </a:rPr>
              <a:t>, reviewing </a:t>
            </a:r>
            <a:r>
              <a:rPr lang="en-US" sz="2000" dirty="0">
                <a:solidFill>
                  <a:srgbClr val="C00000"/>
                </a:solidFill>
              </a:rPr>
              <a:t>code</a:t>
            </a:r>
            <a:r>
              <a:rPr lang="en-US" sz="2000" dirty="0">
                <a:solidFill>
                  <a:schemeClr val="tx1"/>
                </a:solidFill>
              </a:rPr>
              <a:t>, and merging </a:t>
            </a:r>
            <a:r>
              <a:rPr lang="en-US" sz="2000" dirty="0">
                <a:solidFill>
                  <a:srgbClr val="C00000"/>
                </a:solidFill>
              </a:rPr>
              <a:t>code</a:t>
            </a:r>
            <a:r>
              <a:rPr lang="en-US" sz="2000" dirty="0">
                <a:solidFill>
                  <a:schemeClr val="tx1"/>
                </a:solidFill>
              </a:rPr>
              <a:t> changes.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Git, GitHub, GitLab, Bitbucket.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4724400" y="3065463"/>
            <a:ext cx="533400" cy="7270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77FD338-4958-274C-2299-307DA33BC7F6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392591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hat is DevOps? The Ultimate Guide - 2023">
            <a:extLst>
              <a:ext uri="{FF2B5EF4-FFF2-40B4-BE49-F238E27FC236}">
                <a16:creationId xmlns:a16="http://schemas.microsoft.com/office/drawing/2014/main" id="{8687A3E0-8B69-6A19-826C-467F5D44B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517627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7" y="696392"/>
            <a:ext cx="10308164" cy="27326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3. Building</a:t>
            </a: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</a:b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the code is compiled and built into </a:t>
            </a:r>
            <a:r>
              <a:rPr lang="en-US" sz="2000" dirty="0">
                <a:solidFill>
                  <a:srgbClr val="C00000"/>
                </a:solidFill>
              </a:rPr>
              <a:t>executable files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Compiling code, running automated tests, and packaging code.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Jenkins, Maven, Gradle.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514600" y="3429000"/>
            <a:ext cx="685800" cy="137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242E717-C887-7C80-C5A8-36420F294618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229100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hat is DevOps? The Ultimate Guide - 2023">
            <a:extLst>
              <a:ext uri="{FF2B5EF4-FFF2-40B4-BE49-F238E27FC236}">
                <a16:creationId xmlns:a16="http://schemas.microsoft.com/office/drawing/2014/main" id="{3C5C12DC-C7E6-7CEA-2018-CEDCB9FF6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467617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5040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4. Testing</a:t>
            </a:r>
          </a:p>
          <a:p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the </a:t>
            </a:r>
            <a:r>
              <a:rPr lang="en-US" sz="2000" dirty="0">
                <a:solidFill>
                  <a:srgbClr val="C00000"/>
                </a:solidFill>
              </a:rPr>
              <a:t>application is tested </a:t>
            </a:r>
            <a:r>
              <a:rPr lang="en-US" sz="2000" dirty="0">
                <a:solidFill>
                  <a:schemeClr val="tx1"/>
                </a:solidFill>
              </a:rPr>
              <a:t>to ensure it functions correctly and is free of bugs.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Automated testing, manual testing, performance testing, and security testing.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Selenium, JUnit, TestNG.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145058" y="3200400"/>
            <a:ext cx="2426942" cy="2961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E86478A-452D-0A68-C5EA-93FB6CE7DAA4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11174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hat is DevOps? The Ultimate Guide - 2023">
            <a:extLst>
              <a:ext uri="{FF2B5EF4-FFF2-40B4-BE49-F238E27FC236}">
                <a16:creationId xmlns:a16="http://schemas.microsoft.com/office/drawing/2014/main" id="{60561A67-88D2-6C4D-B503-7851B4C3E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581400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1"/>
            <a:ext cx="11832163" cy="2370735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5. Releasing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the </a:t>
            </a:r>
            <a:r>
              <a:rPr lang="en-US" sz="2000" dirty="0">
                <a:solidFill>
                  <a:srgbClr val="C00000"/>
                </a:solidFill>
              </a:rPr>
              <a:t>application is deployed to a production environment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Preparing release notes, performing final testing, and deploying to production.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Jenkins, Spinnaker, AWS CodePipeline.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5334000" y="3067126"/>
            <a:ext cx="1066800" cy="1809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9804FAB-D665-AA4D-05F0-64554467F91C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213973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hat is DevOps? The Ultimate Guide - 2023">
            <a:extLst>
              <a:ext uri="{FF2B5EF4-FFF2-40B4-BE49-F238E27FC236}">
                <a16:creationId xmlns:a16="http://schemas.microsoft.com/office/drawing/2014/main" id="{F0CED7DF-A49F-3677-8CEC-3BEFA9F0F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523304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427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6. Deploying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the </a:t>
            </a:r>
            <a:r>
              <a:rPr lang="en-US" sz="2000" dirty="0">
                <a:solidFill>
                  <a:srgbClr val="C00000"/>
                </a:solidFill>
              </a:rPr>
              <a:t>application is made available to users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Continuous deployment, configuration management, and monitoring.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Kubernetes, Docker, Ansible.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6858000" y="3124200"/>
            <a:ext cx="657764" cy="774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25060D1-F8AB-4457-99A1-4C9778972AE9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333311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hat is DevOps? The Ultimate Guide - 2023">
            <a:extLst>
              <a:ext uri="{FF2B5EF4-FFF2-40B4-BE49-F238E27FC236}">
                <a16:creationId xmlns:a16="http://schemas.microsoft.com/office/drawing/2014/main" id="{262E63A7-ECC7-83FD-F459-FF097948B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441282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5802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7. Operating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the </a:t>
            </a:r>
            <a:r>
              <a:rPr lang="en-US" sz="2000" dirty="0">
                <a:solidFill>
                  <a:srgbClr val="C00000"/>
                </a:solidFill>
              </a:rPr>
              <a:t>application is monitored and managed in a live environment.</a:t>
            </a:r>
            <a:br>
              <a:rPr lang="en-US" sz="2000" dirty="0">
                <a:solidFill>
                  <a:srgbClr val="C00000"/>
                </a:solidFill>
              </a:rPr>
            </a:br>
            <a:endParaRPr lang="en-US" sz="20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Monitoring application performance, handling incidents, and performing maintenance.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Nagios, Prometheus, Splunk.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9144000" y="3276600"/>
            <a:ext cx="762000" cy="12954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EC43CE7-F043-7F62-AB1E-ED917708246A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77968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hat is DevOps? The Ultimate Guide - 2023">
            <a:extLst>
              <a:ext uri="{FF2B5EF4-FFF2-40B4-BE49-F238E27FC236}">
                <a16:creationId xmlns:a16="http://schemas.microsoft.com/office/drawing/2014/main" id="{B01B8D02-9CE9-BDB8-AF67-F911AB194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499996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62025"/>
            <a:ext cx="11832163" cy="2462175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8. Monitoring</a:t>
            </a:r>
            <a:b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</a:b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What It Is:</a:t>
            </a:r>
            <a:r>
              <a:rPr lang="en-US" sz="2000" dirty="0">
                <a:solidFill>
                  <a:schemeClr val="tx1"/>
                </a:solidFill>
              </a:rPr>
              <a:t> The stage where </a:t>
            </a:r>
            <a:r>
              <a:rPr lang="en-US" sz="2000" dirty="0">
                <a:solidFill>
                  <a:srgbClr val="C00000"/>
                </a:solidFill>
              </a:rPr>
              <a:t>application performance and user feedback are continuously tracked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Key Activities:</a:t>
            </a:r>
            <a:r>
              <a:rPr lang="en-US" sz="2000" dirty="0">
                <a:solidFill>
                  <a:schemeClr val="tx1"/>
                </a:solidFill>
              </a:rPr>
              <a:t> Gathering performance metrics, user feedback, and identifying areas for improvement.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Tools:</a:t>
            </a:r>
            <a:r>
              <a:rPr lang="en-US" sz="2000" dirty="0">
                <a:solidFill>
                  <a:schemeClr val="tx1"/>
                </a:solidFill>
              </a:rPr>
              <a:t> Grafana, ELK Stack, New Relic.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7772400" y="3124200"/>
            <a:ext cx="1981200" cy="29718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E2D976B-9D90-50C7-BD22-E82813FDFE23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412321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179917" y="2168298"/>
            <a:ext cx="11832163" cy="3268893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Collaboration:</a:t>
            </a:r>
            <a:r>
              <a:rPr lang="en-US" sz="2000" dirty="0">
                <a:solidFill>
                  <a:schemeClr val="tx1"/>
                </a:solidFill>
              </a:rPr>
              <a:t> Enhances collaboration between development and operations teams.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Automation:</a:t>
            </a:r>
            <a:r>
              <a:rPr lang="en-US" sz="2000" dirty="0">
                <a:solidFill>
                  <a:schemeClr val="tx1"/>
                </a:solidFill>
              </a:rPr>
              <a:t> Automates repetitive tasks to improve efficiency and reduce errors.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Continuous Improvement:</a:t>
            </a:r>
            <a:r>
              <a:rPr lang="en-US" sz="2000" dirty="0">
                <a:solidFill>
                  <a:schemeClr val="tx1"/>
                </a:solidFill>
              </a:rPr>
              <a:t> Facilitates a culture of continuous improvement through feedback loops.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Faster Releases:</a:t>
            </a:r>
            <a:r>
              <a:rPr lang="en-US" sz="2000" dirty="0">
                <a:solidFill>
                  <a:schemeClr val="tx1"/>
                </a:solidFill>
              </a:rPr>
              <a:t> Shortens the software development lifecycle, leading to faster releases and updates.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Quality and Reliability:</a:t>
            </a:r>
            <a:r>
              <a:rPr lang="en-US" sz="2000" dirty="0">
                <a:solidFill>
                  <a:schemeClr val="tx1"/>
                </a:solidFill>
              </a:rPr>
              <a:t> Improves the quality and reliability of software applications.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53A095-4952-A336-3725-8693C6AD640F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DDD94-1E91-CF94-6E46-4DAFB28AE7B1}"/>
              </a:ext>
            </a:extLst>
          </p:cNvPr>
          <p:cNvSpPr txBox="1"/>
          <p:nvPr/>
        </p:nvSpPr>
        <p:spPr>
          <a:xfrm>
            <a:off x="5091941" y="1642416"/>
            <a:ext cx="2008114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Why DevOps?</a:t>
            </a:r>
          </a:p>
        </p:txBody>
      </p:sp>
    </p:spTree>
    <p:extLst>
      <p:ext uri="{BB962C8B-B14F-4D97-AF65-F5344CB8AC3E}">
        <p14:creationId xmlns:p14="http://schemas.microsoft.com/office/powerpoint/2010/main" val="40534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7" y="2464896"/>
            <a:ext cx="11832163" cy="2667496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dirty="0">
                <a:solidFill>
                  <a:srgbClr val="C00000"/>
                </a:solidFill>
              </a:rPr>
              <a:t>DevOps lifecycle </a:t>
            </a:r>
            <a:r>
              <a:rPr lang="en-US" sz="2400" dirty="0">
                <a:solidFill>
                  <a:schemeClr val="tx1"/>
                </a:solidFill>
              </a:rPr>
              <a:t>is about </a:t>
            </a:r>
            <a:r>
              <a:rPr lang="en-US" sz="2400" dirty="0">
                <a:solidFill>
                  <a:srgbClr val="C00000"/>
                </a:solidFill>
              </a:rPr>
              <a:t>bringing together development and operations to work </a:t>
            </a:r>
            <a:r>
              <a:rPr lang="en-US" sz="2400" dirty="0">
                <a:solidFill>
                  <a:schemeClr val="tx1"/>
                </a:solidFill>
              </a:rPr>
              <a:t>as a </a:t>
            </a:r>
            <a:r>
              <a:rPr lang="en-US" sz="2400" dirty="0">
                <a:solidFill>
                  <a:srgbClr val="C00000"/>
                </a:solidFill>
              </a:rPr>
              <a:t>cohesive unit</a:t>
            </a:r>
            <a:r>
              <a:rPr lang="en-US" sz="2400" dirty="0">
                <a:solidFill>
                  <a:schemeClr val="tx1"/>
                </a:solidFill>
              </a:rPr>
              <a:t>. Each stage plays a crucial role in ensuring that software is developed, tested, and deployed efficiently and reliably.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By understanding and implementing the </a:t>
            </a:r>
            <a:r>
              <a:rPr lang="en-US" sz="2400" dirty="0">
                <a:solidFill>
                  <a:srgbClr val="C00000"/>
                </a:solidFill>
              </a:rPr>
              <a:t>DevOps lifecycle</a:t>
            </a:r>
            <a:r>
              <a:rPr lang="en-US" sz="2400" dirty="0">
                <a:solidFill>
                  <a:schemeClr val="tx1"/>
                </a:solidFill>
              </a:rPr>
              <a:t>, organizations can achieve faster delivery, better quality, and more reliable software products.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D67E2-57D2-CF64-FB41-766C84C65D98}"/>
              </a:ext>
            </a:extLst>
          </p:cNvPr>
          <p:cNvSpPr txBox="1"/>
          <p:nvPr/>
        </p:nvSpPr>
        <p:spPr>
          <a:xfrm>
            <a:off x="5531793" y="1940807"/>
            <a:ext cx="143321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BF2998-30CE-7CB9-B1C5-67D3D1EFD0A9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205587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93468</TotalTime>
  <Words>634</Words>
  <Application>Microsoft Office PowerPoint</Application>
  <PresentationFormat>Widescreen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10179</cp:revision>
  <dcterms:created xsi:type="dcterms:W3CDTF">2006-08-16T00:00:00Z</dcterms:created>
  <dcterms:modified xsi:type="dcterms:W3CDTF">2024-06-21T08:12:17Z</dcterms:modified>
</cp:coreProperties>
</file>