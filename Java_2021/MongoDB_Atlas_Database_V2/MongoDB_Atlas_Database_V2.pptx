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7"/>
  </p:notesMasterIdLst>
  <p:sldIdLst>
    <p:sldId id="484" r:id="rId2"/>
    <p:sldId id="486" r:id="rId3"/>
    <p:sldId id="489" r:id="rId4"/>
    <p:sldId id="490" r:id="rId5"/>
    <p:sldId id="485" r:id="rId6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7" autoAdjust="0"/>
    <p:restoredTop sz="94291" autoAdjust="0"/>
  </p:normalViewPr>
  <p:slideViewPr>
    <p:cSldViewPr>
      <p:cViewPr varScale="1">
        <p:scale>
          <a:sx n="69" d="100"/>
          <a:sy n="69" d="100"/>
        </p:scale>
        <p:origin x="1344" y="86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65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99A85-288B-E361-50DA-2EA40DC9E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F2D5E-8975-CB6A-429F-3AF7703AF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95D44-D359-F6C5-FAC6-9B388D3A7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457C5-2DE4-6EDB-B36C-FDBD8DD2D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084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90588-930D-9F1D-5C0D-D3D212043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6A17E-C09D-8C78-F847-E3DFFC528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54733-C608-8182-6C5E-3C572D1CE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A636B-EDBD-5E0C-3A09-760B43F367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807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3B500-AF56-4476-CD58-39FA9FB65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0909D-15E8-A3D8-136A-E40705D52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6D684-9CB2-1DA5-B53C-D0B58AF59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E41FA-5205-D28B-EDAD-A072AA6354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336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E2A83-41BB-2245-59C1-69E864200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62C97-197A-F3FD-C672-60E1727DF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6643D-BAE4-B948-9711-4D48D478E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0CB60-BCF8-06BC-E816-635D128DD3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392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14" name="Rectangle 13"/>
          <p:cNvSpPr/>
          <p:nvPr/>
        </p:nvSpPr>
        <p:spPr>
          <a:xfrm>
            <a:off x="2971800" y="29263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MongoDB Atlas Database | Multi-Cloud Database Service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3846DA-4E16-B6C3-2822-A38993B0BFC3}"/>
              </a:ext>
            </a:extLst>
          </p:cNvPr>
          <p:cNvSpPr/>
          <p:nvPr/>
        </p:nvSpPr>
        <p:spPr>
          <a:xfrm>
            <a:off x="141818" y="488308"/>
            <a:ext cx="11908364" cy="17976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b="1" i="0" dirty="0">
                <a:solidFill>
                  <a:srgbClr val="1F1F1F"/>
                </a:solidFill>
                <a:effectLst/>
                <a:latin typeface="Google Sans"/>
              </a:rPr>
              <a:t>MongoDB Atlas Database: Multi-Cloud Power at Your Fingertips</a:t>
            </a:r>
          </a:p>
          <a:p>
            <a:pPr algn="l"/>
            <a:endParaRPr lang="en-US" sz="2000" b="1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/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MongoDB Atlas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is the leading 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Google Sans"/>
              </a:rPr>
              <a:t>multi-cloud database service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built by the creators of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MongoDB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itself. It offers a robust and flexible platform for storing and managing your data across 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Google Sans"/>
              </a:rPr>
              <a:t>multiple cloud providers and regions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, giving you unmatched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control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,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scalability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, and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resilience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AC8D06-3E0D-381A-1997-73C1C4578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58" y="2590800"/>
            <a:ext cx="10944835" cy="410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63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DDF5-F5A3-03CA-18B0-593663DC6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>
            <a:extLst>
              <a:ext uri="{FF2B5EF4-FFF2-40B4-BE49-F238E27FC236}">
                <a16:creationId xmlns:a16="http://schemas.microsoft.com/office/drawing/2014/main" id="{AFC02F38-0EE0-4CC7-3476-50038E1B88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2" name="AutoShape 2" descr="Image result for file">
            <a:extLst>
              <a:ext uri="{FF2B5EF4-FFF2-40B4-BE49-F238E27FC236}">
                <a16:creationId xmlns:a16="http://schemas.microsoft.com/office/drawing/2014/main" id="{05592798-2FE3-B3A0-8CD3-51AF4E4440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9815FF-7AA9-BE5E-D9DD-E92C8FBA83C0}"/>
              </a:ext>
            </a:extLst>
          </p:cNvPr>
          <p:cNvSpPr/>
          <p:nvPr/>
        </p:nvSpPr>
        <p:spPr>
          <a:xfrm>
            <a:off x="2971800" y="29263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MongoDB Atlas Database | Multi-Cloud Database Service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36671A-DA24-215C-6A44-E8586D451AC4}"/>
              </a:ext>
            </a:extLst>
          </p:cNvPr>
          <p:cNvSpPr/>
          <p:nvPr/>
        </p:nvSpPr>
        <p:spPr>
          <a:xfrm>
            <a:off x="182335" y="1083627"/>
            <a:ext cx="11908364" cy="562197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latin typeface="Google Sans"/>
              </a:rPr>
              <a:t>1. Multi-Cloud Freedom:</a:t>
            </a:r>
            <a:br>
              <a:rPr lang="en-US" sz="2000" b="1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0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Deploy your database on </a:t>
            </a:r>
            <a:r>
              <a:rPr lang="en-US" sz="2000" b="1" i="0" dirty="0">
                <a:solidFill>
                  <a:srgbClr val="1F1F1F"/>
                </a:solidFill>
                <a:effectLst/>
                <a:latin typeface="Google Sans"/>
              </a:rPr>
              <a:t>AWS, Azure, or Google Cloud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 based on your needs and preferences.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Easily migrate or replicate data between different cloud providers for added redundancy and disaster recovery.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latin typeface="Google Sans"/>
              </a:rPr>
              <a:t>2. Built-in Scalability:</a:t>
            </a:r>
            <a:br>
              <a:rPr lang="en-US" sz="2000" b="1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0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1F1F1F"/>
                </a:solidFill>
                <a:effectLst/>
                <a:latin typeface="Google Sans"/>
              </a:rPr>
              <a:t>Automatically scale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 your database resources up or down to meet fluctuating demand.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Choose from a variety of cluster configurations, including serverless options, to optimize performance and cost.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sz="2000" dirty="0">
              <a:solidFill>
                <a:srgbClr val="1F1F1F"/>
              </a:solidFill>
              <a:latin typeface="Google Sans"/>
            </a:endParaRP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Google Sans"/>
              </a:rPr>
              <a:t>3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Google Sans"/>
              </a:rPr>
              <a:t>. Global Reach:</a:t>
            </a:r>
            <a:br>
              <a:rPr lang="en-US" sz="2000" b="1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0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Deploy your database in over </a:t>
            </a:r>
            <a:r>
              <a:rPr lang="en-US" sz="2000" b="1" i="0" dirty="0">
                <a:solidFill>
                  <a:srgbClr val="1F1F1F"/>
                </a:solidFill>
                <a:effectLst/>
                <a:latin typeface="Google Sans"/>
              </a:rPr>
              <a:t>80 regions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 worldwide, ensuring low latency and high availability for your global users.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Offer consistent user experiences by distributing data across multiple regions.</a:t>
            </a:r>
          </a:p>
          <a:p>
            <a:pPr algn="l"/>
            <a:endParaRPr lang="en-US" sz="2000" b="0" i="0" dirty="0">
              <a:solidFill>
                <a:srgbClr val="1F1F1F"/>
              </a:solidFill>
              <a:effectLst/>
              <a:latin typeface="Google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D1AA83-7258-4E64-F06A-B58C165A00F0}"/>
              </a:ext>
            </a:extLst>
          </p:cNvPr>
          <p:cNvSpPr txBox="1"/>
          <p:nvPr/>
        </p:nvSpPr>
        <p:spPr>
          <a:xfrm>
            <a:off x="182335" y="555455"/>
            <a:ext cx="4270435" cy="46166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bg1"/>
                </a:solidFill>
                <a:effectLst/>
                <a:latin typeface="Google Sans"/>
              </a:rPr>
              <a:t>key highlights of MongoDB Atlas: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43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1752D-6069-98B2-EFE6-16F0F3F1F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>
            <a:extLst>
              <a:ext uri="{FF2B5EF4-FFF2-40B4-BE49-F238E27FC236}">
                <a16:creationId xmlns:a16="http://schemas.microsoft.com/office/drawing/2014/main" id="{4DC94A37-37A5-AC3C-C280-BDD94E06E9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2" name="AutoShape 2" descr="Image result for file">
            <a:extLst>
              <a:ext uri="{FF2B5EF4-FFF2-40B4-BE49-F238E27FC236}">
                <a16:creationId xmlns:a16="http://schemas.microsoft.com/office/drawing/2014/main" id="{2F14B8ED-C0D0-5332-5C30-4D90BC2763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5CC2A3-9C4D-E00F-068C-311298B47DAE}"/>
              </a:ext>
            </a:extLst>
          </p:cNvPr>
          <p:cNvSpPr/>
          <p:nvPr/>
        </p:nvSpPr>
        <p:spPr>
          <a:xfrm>
            <a:off x="2971800" y="29263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MongoDB Atlas Database | Multi-Cloud Database Service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E447D4-7BEB-DFC0-ECAF-14EFE03449F3}"/>
              </a:ext>
            </a:extLst>
          </p:cNvPr>
          <p:cNvSpPr/>
          <p:nvPr/>
        </p:nvSpPr>
        <p:spPr>
          <a:xfrm>
            <a:off x="182335" y="1286827"/>
            <a:ext cx="11908364" cy="503777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400" b="1" i="0" dirty="0">
                <a:solidFill>
                  <a:srgbClr val="FF0000"/>
                </a:solidFill>
                <a:effectLst/>
                <a:latin typeface="Google Sans"/>
              </a:rPr>
              <a:t>4. Enhanced Security:</a:t>
            </a:r>
            <a:br>
              <a:rPr lang="en-US" sz="2400" b="1" i="0" dirty="0">
                <a:solidFill>
                  <a:srgbClr val="FF0000"/>
                </a:solidFill>
                <a:effectLst/>
                <a:latin typeface="Google Sans"/>
              </a:rPr>
            </a:br>
            <a:endParaRPr lang="en-US" sz="2400" b="0" i="0" dirty="0">
              <a:solidFill>
                <a:srgbClr val="FF0000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Benefit from robust security features like </a:t>
            </a:r>
            <a:r>
              <a:rPr lang="en-US" sz="2400" b="1" i="0" dirty="0">
                <a:solidFill>
                  <a:srgbClr val="1F1F1F"/>
                </a:solidFill>
                <a:effectLst/>
                <a:latin typeface="Google Sans"/>
              </a:rPr>
              <a:t>encryption, access control, and intrusion detection</a:t>
            </a: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  <a:b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4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Comply with strict data privacy regulations with </a:t>
            </a:r>
            <a:r>
              <a:rPr lang="en-US" sz="2400" b="1" i="0" dirty="0">
                <a:solidFill>
                  <a:srgbClr val="1F1F1F"/>
                </a:solidFill>
                <a:effectLst/>
                <a:latin typeface="Google Sans"/>
              </a:rPr>
              <a:t>regional deployments and built-in compliance tools</a:t>
            </a: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</a:p>
          <a:p>
            <a:pPr algn="l"/>
            <a:endParaRPr lang="en-US" sz="24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/>
            <a:r>
              <a:rPr lang="en-US" sz="2400" b="1" i="0" dirty="0">
                <a:solidFill>
                  <a:srgbClr val="FF0000"/>
                </a:solidFill>
                <a:effectLst/>
                <a:latin typeface="Google Sans"/>
              </a:rPr>
              <a:t>5. Developer-Friendly:</a:t>
            </a:r>
            <a:br>
              <a:rPr lang="en-US" sz="2400" b="1" i="0" dirty="0">
                <a:solidFill>
                  <a:srgbClr val="FF0000"/>
                </a:solidFill>
                <a:effectLst/>
                <a:latin typeface="Google Sans"/>
              </a:rPr>
            </a:br>
            <a:endParaRPr lang="en-US" sz="2400" b="0" i="0" dirty="0">
              <a:solidFill>
                <a:srgbClr val="FF0000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Integrate Atlas seamlessly with your applications using various languages and frameworks.</a:t>
            </a:r>
            <a:b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4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Take advantage of a range of developer tools and utilities to streamline your workflow.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DB49D0-DFF2-F264-34A9-71BE95BEB716}"/>
              </a:ext>
            </a:extLst>
          </p:cNvPr>
          <p:cNvSpPr txBox="1"/>
          <p:nvPr/>
        </p:nvSpPr>
        <p:spPr>
          <a:xfrm>
            <a:off x="225365" y="717060"/>
            <a:ext cx="4270435" cy="46166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bg1"/>
                </a:solidFill>
                <a:effectLst/>
                <a:latin typeface="Google Sans"/>
              </a:rPr>
              <a:t>key highlights of MongoDB Atlas: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53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6B87A-4D95-F3AE-5699-42B4C8F0B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>
            <a:extLst>
              <a:ext uri="{FF2B5EF4-FFF2-40B4-BE49-F238E27FC236}">
                <a16:creationId xmlns:a16="http://schemas.microsoft.com/office/drawing/2014/main" id="{FCB6AE12-13ED-AD24-796E-381BF3C9DA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2" name="AutoShape 2" descr="Image result for file">
            <a:extLst>
              <a:ext uri="{FF2B5EF4-FFF2-40B4-BE49-F238E27FC236}">
                <a16:creationId xmlns:a16="http://schemas.microsoft.com/office/drawing/2014/main" id="{629DB053-CBA1-952E-F694-68D8F2C9A1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7F5EEA-2A67-5336-7A4C-23B6DE05CA67}"/>
              </a:ext>
            </a:extLst>
          </p:cNvPr>
          <p:cNvSpPr/>
          <p:nvPr/>
        </p:nvSpPr>
        <p:spPr>
          <a:xfrm>
            <a:off x="2971800" y="29263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MongoDB Atlas Database | Multi-Cloud Database Service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457151-99B8-AB64-1776-F2CB9B9483FC}"/>
              </a:ext>
            </a:extLst>
          </p:cNvPr>
          <p:cNvSpPr/>
          <p:nvPr/>
        </p:nvSpPr>
        <p:spPr>
          <a:xfrm>
            <a:off x="182335" y="1286827"/>
            <a:ext cx="11908364" cy="343757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800" b="1" i="0" dirty="0">
                <a:solidFill>
                  <a:srgbClr val="FF0000"/>
                </a:solidFill>
                <a:effectLst/>
                <a:latin typeface="Google Sans"/>
              </a:rPr>
              <a:t>6. Additional Benefits:</a:t>
            </a:r>
            <a:br>
              <a:rPr lang="en-US" sz="2400" b="1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4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b="1" i="0" dirty="0">
                <a:solidFill>
                  <a:srgbClr val="1F1F1F"/>
                </a:solidFill>
                <a:effectLst/>
                <a:latin typeface="Google Sans"/>
              </a:rPr>
              <a:t>Rich monitoring and analytics:</a:t>
            </a: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 Gain insights into your database performance and resource utilization.</a:t>
            </a:r>
            <a:b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4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b="1" i="0" dirty="0">
                <a:solidFill>
                  <a:srgbClr val="1F1F1F"/>
                </a:solidFill>
                <a:effectLst/>
                <a:latin typeface="Google Sans"/>
              </a:rPr>
              <a:t>Automated backups and disaster recovery:</a:t>
            </a: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 Ensure your data is always safe and accessible.</a:t>
            </a:r>
            <a:b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4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b="1" i="0" dirty="0">
                <a:solidFill>
                  <a:srgbClr val="1F1F1F"/>
                </a:solidFill>
                <a:effectLst/>
                <a:latin typeface="Google Sans"/>
              </a:rPr>
              <a:t>Dedicated support:</a:t>
            </a: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 Get expert assistance from the MongoDB team whenever you need 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655A2-B31B-88E9-C495-EB40A82CDD0B}"/>
              </a:ext>
            </a:extLst>
          </p:cNvPr>
          <p:cNvSpPr txBox="1"/>
          <p:nvPr/>
        </p:nvSpPr>
        <p:spPr>
          <a:xfrm>
            <a:off x="225365" y="717060"/>
            <a:ext cx="4270435" cy="46166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bg1"/>
                </a:solidFill>
                <a:effectLst/>
                <a:latin typeface="Google Sans"/>
              </a:rPr>
              <a:t>key highlights of MongoDB Atlas: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93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01D6-DD63-AC5A-0517-717D1492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>
            <a:extLst>
              <a:ext uri="{FF2B5EF4-FFF2-40B4-BE49-F238E27FC236}">
                <a16:creationId xmlns:a16="http://schemas.microsoft.com/office/drawing/2014/main" id="{9A17F60A-673C-F912-02C9-510310FCE3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2" name="AutoShape 2" descr="Image result for file">
            <a:extLst>
              <a:ext uri="{FF2B5EF4-FFF2-40B4-BE49-F238E27FC236}">
                <a16:creationId xmlns:a16="http://schemas.microsoft.com/office/drawing/2014/main" id="{1DF2A4EE-7EAC-5FA3-0E43-83C56736AB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878B5A-7D9E-E34F-2066-3D654C89E49C}"/>
              </a:ext>
            </a:extLst>
          </p:cNvPr>
          <p:cNvSpPr/>
          <p:nvPr/>
        </p:nvSpPr>
        <p:spPr>
          <a:xfrm>
            <a:off x="2971800" y="29263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MongoDB Atlas Database | Multi-Cloud Database Service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9FD867-3B3B-61A2-9FC2-D5E02BF96D51}"/>
              </a:ext>
            </a:extLst>
          </p:cNvPr>
          <p:cNvSpPr/>
          <p:nvPr/>
        </p:nvSpPr>
        <p:spPr>
          <a:xfrm>
            <a:off x="141818" y="3048000"/>
            <a:ext cx="11908364" cy="9906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400" i="0" dirty="0">
                <a:solidFill>
                  <a:srgbClr val="1F1F1F"/>
                </a:solidFill>
                <a:effectLst/>
                <a:latin typeface="Google Sans"/>
              </a:rPr>
              <a:t>Whether you're </a:t>
            </a:r>
            <a:r>
              <a:rPr lang="en-US" sz="2400" i="0" dirty="0">
                <a:solidFill>
                  <a:srgbClr val="FF0000"/>
                </a:solidFill>
                <a:effectLst/>
                <a:latin typeface="Google Sans"/>
              </a:rPr>
              <a:t>building a global application, migrating to the cloud, or simply seeking a more reliable and scalable database solution</a:t>
            </a:r>
            <a:r>
              <a:rPr lang="en-US" sz="2400" i="0" dirty="0">
                <a:solidFill>
                  <a:srgbClr val="1F1F1F"/>
                </a:solidFill>
                <a:effectLst/>
                <a:latin typeface="Google Sans"/>
              </a:rPr>
              <a:t>, </a:t>
            </a:r>
            <a:r>
              <a:rPr lang="en-US" sz="2400" i="0" dirty="0">
                <a:solidFill>
                  <a:srgbClr val="FF0000"/>
                </a:solidFill>
                <a:effectLst/>
                <a:latin typeface="Google Sans"/>
              </a:rPr>
              <a:t>MongoDB Atlas </a:t>
            </a:r>
            <a:r>
              <a:rPr lang="en-US" sz="2400" i="0" dirty="0">
                <a:solidFill>
                  <a:srgbClr val="1F1F1F"/>
                </a:solidFill>
                <a:effectLst/>
                <a:latin typeface="Google Sans"/>
              </a:rPr>
              <a:t>is a powerful choice.</a:t>
            </a:r>
            <a:endParaRPr lang="en-US" sz="3600" i="0" dirty="0">
              <a:solidFill>
                <a:srgbClr val="0D0D0D"/>
              </a:solidFill>
              <a:effectLst/>
              <a:latin typeface="Söhn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C9ECB-FEB3-1599-1052-7569F93C6CC5}"/>
              </a:ext>
            </a:extLst>
          </p:cNvPr>
          <p:cNvSpPr txBox="1"/>
          <p:nvPr/>
        </p:nvSpPr>
        <p:spPr>
          <a:xfrm>
            <a:off x="141818" y="2446952"/>
            <a:ext cx="1679635" cy="46166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solidFill>
                  <a:schemeClr val="bg1"/>
                </a:solidFill>
                <a:effectLst/>
                <a:latin typeface="Google Sans"/>
              </a:rPr>
              <a:t>Conclusion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77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91599</TotalTime>
  <Words>379</Words>
  <Application>Microsoft Office PowerPoint</Application>
  <PresentationFormat>Widescreen</PresentationFormat>
  <Paragraphs>40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Google Sans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10004</cp:revision>
  <dcterms:created xsi:type="dcterms:W3CDTF">2006-08-16T00:00:00Z</dcterms:created>
  <dcterms:modified xsi:type="dcterms:W3CDTF">2024-05-23T15:19:21Z</dcterms:modified>
</cp:coreProperties>
</file>