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8"/>
  </p:notesMasterIdLst>
  <p:sldIdLst>
    <p:sldId id="472" r:id="rId2"/>
    <p:sldId id="473" r:id="rId3"/>
    <p:sldId id="476" r:id="rId4"/>
    <p:sldId id="474" r:id="rId5"/>
    <p:sldId id="475" r:id="rId6"/>
    <p:sldId id="477" r:id="rId7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157" y="8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32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032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01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024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0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Imagine you are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browsing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the web on your computer. Normally, your computer directly connects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websites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you visit. But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proxy server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acts like an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intermediary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between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you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and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internet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There are two main types of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proxies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: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forward proxies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and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reverse proxies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</a:p>
        </p:txBody>
      </p:sp>
      <p:pic>
        <p:nvPicPr>
          <p:cNvPr id="8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DF6FACA3-AFFC-960A-0E23-4458D88FC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2" y="25908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712FA882-5403-E1C7-1922-211A77F8D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617" y="2590800"/>
            <a:ext cx="3323165" cy="32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C6C648-FBF1-4339-5762-12E43E590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763" y="3064776"/>
            <a:ext cx="1571708" cy="209990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6BAD0-B05D-F2D8-C133-100CDCBA0FA8}"/>
              </a:ext>
            </a:extLst>
          </p:cNvPr>
          <p:cNvCxnSpPr>
            <a:endCxn id="14" idx="1"/>
          </p:cNvCxnSpPr>
          <p:nvPr/>
        </p:nvCxnSpPr>
        <p:spPr>
          <a:xfrm>
            <a:off x="4006852" y="3962400"/>
            <a:ext cx="11895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882B82-09CD-E43C-5C53-187A63DC1263}"/>
              </a:ext>
            </a:extLst>
          </p:cNvPr>
          <p:cNvCxnSpPr>
            <a:cxnSpLocks/>
          </p:cNvCxnSpPr>
          <p:nvPr/>
        </p:nvCxnSpPr>
        <p:spPr>
          <a:xfrm>
            <a:off x="6949017" y="3962400"/>
            <a:ext cx="1295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26561D-D989-34DF-3BDA-F2959BB92DA5}"/>
              </a:ext>
            </a:extLst>
          </p:cNvPr>
          <p:cNvSpPr txBox="1"/>
          <p:nvPr/>
        </p:nvSpPr>
        <p:spPr>
          <a:xfrm>
            <a:off x="9311217" y="5678140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4A3D0-8FCF-4A44-3975-7B6DD7FB7ABB}"/>
              </a:ext>
            </a:extLst>
          </p:cNvPr>
          <p:cNvSpPr txBox="1"/>
          <p:nvPr/>
        </p:nvSpPr>
        <p:spPr>
          <a:xfrm>
            <a:off x="1967358" y="5621911"/>
            <a:ext cx="559833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01566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Forward Proxy: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Think of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forward proxy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like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friend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who helps you borrow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book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from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library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. You tell your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friend (the proxy)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which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book (website)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you want, and they go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library (the internet)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and get it for you.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library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(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the internet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) only sees your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friend (the proxy),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not you.</a:t>
            </a:r>
          </a:p>
        </p:txBody>
      </p:sp>
      <p:pic>
        <p:nvPicPr>
          <p:cNvPr id="17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5C05276B-226B-BD25-B65A-EBA2B40C9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35" y="2398306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79BC6277-F4BA-79FD-35F8-686418E49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398306"/>
            <a:ext cx="3323165" cy="32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FFB879-30A7-F9C3-C39D-FC04F80570CA}"/>
              </a:ext>
            </a:extLst>
          </p:cNvPr>
          <p:cNvCxnSpPr/>
          <p:nvPr/>
        </p:nvCxnSpPr>
        <p:spPr>
          <a:xfrm>
            <a:off x="4068235" y="3769906"/>
            <a:ext cx="11895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78FF01-EA66-FC45-717D-140DF4059113}"/>
              </a:ext>
            </a:extLst>
          </p:cNvPr>
          <p:cNvCxnSpPr>
            <a:cxnSpLocks/>
          </p:cNvCxnSpPr>
          <p:nvPr/>
        </p:nvCxnSpPr>
        <p:spPr>
          <a:xfrm>
            <a:off x="7010400" y="3769906"/>
            <a:ext cx="1295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50" name="Picture 2" descr="Proxy server Generic color lineal-color icon">
            <a:extLst>
              <a:ext uri="{FF2B5EF4-FFF2-40B4-BE49-F238E27FC236}">
                <a16:creationId xmlns:a16="http://schemas.microsoft.com/office/drawing/2014/main" id="{FA9E3224-1393-E255-C52E-5CDB700E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3" y="2928529"/>
            <a:ext cx="1682753" cy="168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51428E-613D-3162-1CD9-3F6A9EF2675F}"/>
              </a:ext>
            </a:extLst>
          </p:cNvPr>
          <p:cNvSpPr txBox="1"/>
          <p:nvPr/>
        </p:nvSpPr>
        <p:spPr>
          <a:xfrm>
            <a:off x="9085706" y="2133600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AA7B35-26A5-A3C6-7E0D-3E3CDE51CDD7}"/>
              </a:ext>
            </a:extLst>
          </p:cNvPr>
          <p:cNvSpPr txBox="1"/>
          <p:nvPr/>
        </p:nvSpPr>
        <p:spPr>
          <a:xfrm>
            <a:off x="5131449" y="2274346"/>
            <a:ext cx="2420496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Forward Proxy Server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E5612-63CC-F1C7-2088-E36A19C238DE}"/>
              </a:ext>
            </a:extLst>
          </p:cNvPr>
          <p:cNvSpPr txBox="1"/>
          <p:nvPr/>
        </p:nvSpPr>
        <p:spPr>
          <a:xfrm>
            <a:off x="2240291" y="2408205"/>
            <a:ext cx="559833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</a:t>
            </a:r>
          </a:p>
        </p:txBody>
      </p:sp>
      <p:pic>
        <p:nvPicPr>
          <p:cNvPr id="24" name="Picture 2" descr="Cartoon Man Images - Free Download on Freepik">
            <a:extLst>
              <a:ext uri="{FF2B5EF4-FFF2-40B4-BE49-F238E27FC236}">
                <a16:creationId xmlns:a16="http://schemas.microsoft.com/office/drawing/2014/main" id="{D5210530-0CEC-CBF3-CF77-E5C90F78C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962" y="4866251"/>
            <a:ext cx="1057038" cy="158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Cartoon Man Images - Free Download on Freepik">
            <a:extLst>
              <a:ext uri="{FF2B5EF4-FFF2-40B4-BE49-F238E27FC236}">
                <a16:creationId xmlns:a16="http://schemas.microsoft.com/office/drawing/2014/main" id="{90927977-0FF7-4DFC-A44C-402990FB1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81200" y="4954597"/>
            <a:ext cx="878537" cy="145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brary">
            <a:extLst>
              <a:ext uri="{FF2B5EF4-FFF2-40B4-BE49-F238E27FC236}">
                <a16:creationId xmlns:a16="http://schemas.microsoft.com/office/drawing/2014/main" id="{5868B6B6-8F2F-40AF-85F7-36CAD7E9B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0727" y="5412811"/>
            <a:ext cx="2438400" cy="127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063B6A4-D5CA-4F47-6AAB-C09EFFD6AE88}"/>
              </a:ext>
            </a:extLst>
          </p:cNvPr>
          <p:cNvSpPr txBox="1"/>
          <p:nvPr/>
        </p:nvSpPr>
        <p:spPr>
          <a:xfrm>
            <a:off x="7832326" y="4851013"/>
            <a:ext cx="1586203" cy="338554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Book == Website</a:t>
            </a:r>
          </a:p>
        </p:txBody>
      </p:sp>
    </p:spTree>
    <p:extLst>
      <p:ext uri="{BB962C8B-B14F-4D97-AF65-F5344CB8AC3E}">
        <p14:creationId xmlns:p14="http://schemas.microsoft.com/office/powerpoint/2010/main" val="137781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258532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Here are some reasons why people use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forward proxies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: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1F1F"/>
                </a:solidFill>
                <a:effectLst/>
                <a:latin typeface="Google Sans"/>
              </a:rPr>
              <a:t>Anonymity: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forward proxy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can hide your computer's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IP address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from the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websites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you visit. This can make it more difficult for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websites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to track your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browsing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activity.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1F1F"/>
                </a:solidFill>
                <a:effectLst/>
                <a:latin typeface="Google Sans"/>
              </a:rPr>
              <a:t>Security: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Some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forward proxies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filter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out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malicious websites or content.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1F1F"/>
                </a:solidFill>
                <a:effectLst/>
                <a:latin typeface="Google Sans"/>
              </a:rPr>
              <a:t>Access: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forward proxy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can be used to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bypass website restrictions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. For example, if your school or workplace blocks certain websites, you might be able to use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forward proxy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to access them.</a:t>
            </a:r>
          </a:p>
        </p:txBody>
      </p:sp>
      <p:pic>
        <p:nvPicPr>
          <p:cNvPr id="17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5C05276B-226B-BD25-B65A-EBA2B40C9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35" y="3779234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79BC6277-F4BA-79FD-35F8-686418E49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779234"/>
            <a:ext cx="3323165" cy="32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FFB879-30A7-F9C3-C39D-FC04F80570CA}"/>
              </a:ext>
            </a:extLst>
          </p:cNvPr>
          <p:cNvCxnSpPr/>
          <p:nvPr/>
        </p:nvCxnSpPr>
        <p:spPr>
          <a:xfrm>
            <a:off x="4068235" y="5150834"/>
            <a:ext cx="11895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78FF01-EA66-FC45-717D-140DF4059113}"/>
              </a:ext>
            </a:extLst>
          </p:cNvPr>
          <p:cNvCxnSpPr>
            <a:cxnSpLocks/>
          </p:cNvCxnSpPr>
          <p:nvPr/>
        </p:nvCxnSpPr>
        <p:spPr>
          <a:xfrm>
            <a:off x="7010400" y="5150834"/>
            <a:ext cx="1295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50" name="Picture 2" descr="Proxy server Generic color lineal-color icon">
            <a:extLst>
              <a:ext uri="{FF2B5EF4-FFF2-40B4-BE49-F238E27FC236}">
                <a16:creationId xmlns:a16="http://schemas.microsoft.com/office/drawing/2014/main" id="{FA9E3224-1393-E255-C52E-5CDB700E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3" y="4309457"/>
            <a:ext cx="1682753" cy="168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51428E-613D-3162-1CD9-3F6A9EF2675F}"/>
              </a:ext>
            </a:extLst>
          </p:cNvPr>
          <p:cNvSpPr txBox="1"/>
          <p:nvPr/>
        </p:nvSpPr>
        <p:spPr>
          <a:xfrm>
            <a:off x="9085706" y="3514528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AA7B35-26A5-A3C6-7E0D-3E3CDE51CDD7}"/>
              </a:ext>
            </a:extLst>
          </p:cNvPr>
          <p:cNvSpPr txBox="1"/>
          <p:nvPr/>
        </p:nvSpPr>
        <p:spPr>
          <a:xfrm>
            <a:off x="5131449" y="3655274"/>
            <a:ext cx="2420496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Forward Proxy Server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E5612-63CC-F1C7-2088-E36A19C238DE}"/>
              </a:ext>
            </a:extLst>
          </p:cNvPr>
          <p:cNvSpPr txBox="1"/>
          <p:nvPr/>
        </p:nvSpPr>
        <p:spPr>
          <a:xfrm>
            <a:off x="2240291" y="3484333"/>
            <a:ext cx="559833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06209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8395A919-CA09-11CA-5A0B-207741B76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35" y="4323310"/>
            <a:ext cx="2447901" cy="24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05816361-68C8-438D-9097-62BE1602F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76" y="1864870"/>
            <a:ext cx="2447901" cy="24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522605"/>
            <a:ext cx="11963399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Reverse Proxy: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Now imagine you're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librarian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at a popular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library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with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many branches (web servers).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reverse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proxy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acts like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receptionist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who directs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incoming requests (customers)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appropriate branch (web server). The customers (website visitors)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only see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receptionist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(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reverse proxy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), not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individual branches (web servers).</a:t>
            </a:r>
          </a:p>
        </p:txBody>
      </p:sp>
      <p:pic>
        <p:nvPicPr>
          <p:cNvPr id="7" name="Picture 2" descr="Proxy server Generic color lineal-color icon">
            <a:extLst>
              <a:ext uri="{FF2B5EF4-FFF2-40B4-BE49-F238E27FC236}">
                <a16:creationId xmlns:a16="http://schemas.microsoft.com/office/drawing/2014/main" id="{606B8A14-E039-CF7B-ED84-6EC8B68E6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3" y="4095734"/>
            <a:ext cx="1682753" cy="168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613C02-DFFF-0664-5A4E-440CCA1D2917}"/>
              </a:ext>
            </a:extLst>
          </p:cNvPr>
          <p:cNvSpPr txBox="1"/>
          <p:nvPr/>
        </p:nvSpPr>
        <p:spPr>
          <a:xfrm>
            <a:off x="5093349" y="3441551"/>
            <a:ext cx="2420496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ogle Sans"/>
              </a:rPr>
              <a:t>Reverse</a:t>
            </a:r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 Proxy Server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098" name="Picture 2" descr="Web server vector icon | Free SVG">
            <a:extLst>
              <a:ext uri="{FF2B5EF4-FFF2-40B4-BE49-F238E27FC236}">
                <a16:creationId xmlns:a16="http://schemas.microsoft.com/office/drawing/2014/main" id="{AE1CFECF-395E-3CE5-BC1C-8590EFFF0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217" y="2078659"/>
            <a:ext cx="1885966" cy="188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Web server vector icon | Free SVG">
            <a:extLst>
              <a:ext uri="{FF2B5EF4-FFF2-40B4-BE49-F238E27FC236}">
                <a16:creationId xmlns:a16="http://schemas.microsoft.com/office/drawing/2014/main" id="{0C99FFDE-3301-8ECD-258C-A6E70CAE0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4648200"/>
            <a:ext cx="1885966" cy="188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3220CD1-5E2A-09F2-3B21-FB8D4FA072CC}"/>
              </a:ext>
            </a:extLst>
          </p:cNvPr>
          <p:cNvSpPr txBox="1"/>
          <p:nvPr/>
        </p:nvSpPr>
        <p:spPr>
          <a:xfrm>
            <a:off x="10545079" y="2908568"/>
            <a:ext cx="1343017" cy="3385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oogle Sans"/>
              </a:rPr>
              <a:t>Web Server 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426D29-CEE2-E637-73A1-E10666D478D9}"/>
              </a:ext>
            </a:extLst>
          </p:cNvPr>
          <p:cNvSpPr txBox="1"/>
          <p:nvPr/>
        </p:nvSpPr>
        <p:spPr>
          <a:xfrm>
            <a:off x="10595728" y="5421906"/>
            <a:ext cx="1343017" cy="3385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oogle Sans"/>
              </a:rPr>
              <a:t>Web Server 2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478B99-A745-9991-7D3E-F5DAC2C727B3}"/>
              </a:ext>
            </a:extLst>
          </p:cNvPr>
          <p:cNvCxnSpPr>
            <a:cxnSpLocks/>
          </p:cNvCxnSpPr>
          <p:nvPr/>
        </p:nvCxnSpPr>
        <p:spPr>
          <a:xfrm>
            <a:off x="2971800" y="3429000"/>
            <a:ext cx="2513228" cy="990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8DF6D5-2A50-B0BF-EB24-9EA5C144FCBB}"/>
              </a:ext>
            </a:extLst>
          </p:cNvPr>
          <p:cNvCxnSpPr>
            <a:cxnSpLocks/>
          </p:cNvCxnSpPr>
          <p:nvPr/>
        </p:nvCxnSpPr>
        <p:spPr>
          <a:xfrm flipV="1">
            <a:off x="6629400" y="3581400"/>
            <a:ext cx="2133600" cy="1066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6C591A-76C8-14FE-954D-DC756D7624BC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629400" y="4846034"/>
            <a:ext cx="2133600" cy="7451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5695A7-DF0C-7794-F50A-B94AFA9149B4}"/>
              </a:ext>
            </a:extLst>
          </p:cNvPr>
          <p:cNvCxnSpPr>
            <a:cxnSpLocks/>
          </p:cNvCxnSpPr>
          <p:nvPr/>
        </p:nvCxnSpPr>
        <p:spPr>
          <a:xfrm flipV="1">
            <a:off x="3157901" y="4648200"/>
            <a:ext cx="2334120" cy="7889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2E33CE1-7291-233B-5624-257E8AE24A25}"/>
              </a:ext>
            </a:extLst>
          </p:cNvPr>
          <p:cNvSpPr txBox="1"/>
          <p:nvPr/>
        </p:nvSpPr>
        <p:spPr>
          <a:xfrm>
            <a:off x="2936671" y="2779713"/>
            <a:ext cx="873330" cy="3385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oogle Sans"/>
              </a:rPr>
              <a:t>Client 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7C5584-E2ED-CC2E-9428-288450D7EB86}"/>
              </a:ext>
            </a:extLst>
          </p:cNvPr>
          <p:cNvSpPr txBox="1"/>
          <p:nvPr/>
        </p:nvSpPr>
        <p:spPr>
          <a:xfrm>
            <a:off x="2971800" y="5715862"/>
            <a:ext cx="873330" cy="3385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oogle Sans"/>
              </a:rPr>
              <a:t>Client 2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6" name="Picture 4" descr="Library">
            <a:extLst>
              <a:ext uri="{FF2B5EF4-FFF2-40B4-BE49-F238E27FC236}">
                <a16:creationId xmlns:a16="http://schemas.microsoft.com/office/drawing/2014/main" id="{68FA4139-3349-EB80-1A48-0CC473609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345" y="1973359"/>
            <a:ext cx="1420440" cy="74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Library">
            <a:extLst>
              <a:ext uri="{FF2B5EF4-FFF2-40B4-BE49-F238E27FC236}">
                <a16:creationId xmlns:a16="http://schemas.microsoft.com/office/drawing/2014/main" id="{EB191A04-187E-A50F-4128-D4B5E82EB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05" y="4464273"/>
            <a:ext cx="1420440" cy="74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ree Vector | Hand drawn receptionist cartoon illustration">
            <a:extLst>
              <a:ext uri="{FF2B5EF4-FFF2-40B4-BE49-F238E27FC236}">
                <a16:creationId xmlns:a16="http://schemas.microsoft.com/office/drawing/2014/main" id="{FE4F9401-D85C-721E-0E18-9EA7EDEC8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217" y="2009237"/>
            <a:ext cx="1356554" cy="13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73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0" y="621645"/>
            <a:ext cx="11963399" cy="258532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Here are some reasons why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websites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use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reverse proxies:</a:t>
            </a:r>
            <a:b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FF0000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Google Sans"/>
              </a:rPr>
              <a:t>Security</a:t>
            </a:r>
            <a:r>
              <a:rPr lang="en-US" sz="1800" b="1" i="0" dirty="0">
                <a:solidFill>
                  <a:srgbClr val="1F1F1F"/>
                </a:solidFill>
                <a:effectLst/>
                <a:latin typeface="Google Sans"/>
              </a:rPr>
              <a:t>: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 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reverse proxy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can help to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protect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 servers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from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denial-of-service attacks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by distributing traffic among multiple servers.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Google Sans"/>
              </a:rPr>
              <a:t>Performance</a:t>
            </a:r>
            <a:r>
              <a:rPr lang="en-US" sz="1800" b="1" i="0" dirty="0">
                <a:solidFill>
                  <a:srgbClr val="1F1F1F"/>
                </a:solidFill>
                <a:effectLst/>
                <a:latin typeface="Google Sans"/>
              </a:rPr>
              <a:t>: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 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reverse proxy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cache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frequently requested content, which can improve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website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performance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Google Sans"/>
              </a:rPr>
              <a:t>Load balancing: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 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reverse proxy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distribute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traffic among multiple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web servers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, which can help to prevent any one server from becoming overloaded.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D1497F-74D8-108B-5A25-FB99300CA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415436"/>
            <a:ext cx="8305800" cy="326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3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81298" y="42708"/>
            <a:ext cx="68199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Proxy Explained Simply: Forward and Reverse Proxies Unveiled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0" y="2598003"/>
            <a:ext cx="11963399" cy="830997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In short,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Google Sans"/>
              </a:rPr>
              <a:t>forward proxies act on behalf of clients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, while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Google Sans"/>
              </a:rPr>
              <a:t>reverse proxies act on behalf of servers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. Both types of proxies can provide security and performance benefits.</a:t>
            </a:r>
            <a:endParaRPr lang="en-US" sz="36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91438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91852</TotalTime>
  <Words>475</Words>
  <Application>Microsoft Office PowerPoint</Application>
  <PresentationFormat>Widescreen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Google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9986</cp:revision>
  <dcterms:created xsi:type="dcterms:W3CDTF">2006-08-16T00:00:00Z</dcterms:created>
  <dcterms:modified xsi:type="dcterms:W3CDTF">2024-04-12T07:54:10Z</dcterms:modified>
</cp:coreProperties>
</file>