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14"/>
  </p:notesMasterIdLst>
  <p:sldIdLst>
    <p:sldId id="478" r:id="rId2"/>
    <p:sldId id="479" r:id="rId3"/>
    <p:sldId id="480" r:id="rId4"/>
    <p:sldId id="481" r:id="rId5"/>
    <p:sldId id="482" r:id="rId6"/>
    <p:sldId id="483" r:id="rId7"/>
    <p:sldId id="484" r:id="rId8"/>
    <p:sldId id="485" r:id="rId9"/>
    <p:sldId id="486" r:id="rId10"/>
    <p:sldId id="487" r:id="rId11"/>
    <p:sldId id="488" r:id="rId12"/>
    <p:sldId id="489" r:id="rId13"/>
  </p:sldIdLst>
  <p:sldSz cx="12192000" cy="6858000"/>
  <p:notesSz cx="6858000" cy="9144000"/>
  <p:defaultTextStyle>
    <a:defPPr>
      <a:defRPr lang="en-US"/>
    </a:defPPr>
    <a:lvl1pPr marL="0" algn="l" defTabSz="1246876" rtl="0" eaLnBrk="1" latinLnBrk="0" hangingPunct="1">
      <a:defRPr sz="2454" kern="1200">
        <a:solidFill>
          <a:schemeClr val="tx1"/>
        </a:solidFill>
        <a:latin typeface="+mn-lt"/>
        <a:ea typeface="+mn-ea"/>
        <a:cs typeface="+mn-cs"/>
      </a:defRPr>
    </a:lvl1pPr>
    <a:lvl2pPr marL="623438" algn="l" defTabSz="1246876" rtl="0" eaLnBrk="1" latinLnBrk="0" hangingPunct="1">
      <a:defRPr sz="2454" kern="1200">
        <a:solidFill>
          <a:schemeClr val="tx1"/>
        </a:solidFill>
        <a:latin typeface="+mn-lt"/>
        <a:ea typeface="+mn-ea"/>
        <a:cs typeface="+mn-cs"/>
      </a:defRPr>
    </a:lvl2pPr>
    <a:lvl3pPr marL="1246876" algn="l" defTabSz="1246876" rtl="0" eaLnBrk="1" latinLnBrk="0" hangingPunct="1">
      <a:defRPr sz="2454" kern="1200">
        <a:solidFill>
          <a:schemeClr val="tx1"/>
        </a:solidFill>
        <a:latin typeface="+mn-lt"/>
        <a:ea typeface="+mn-ea"/>
        <a:cs typeface="+mn-cs"/>
      </a:defRPr>
    </a:lvl3pPr>
    <a:lvl4pPr marL="1870314" algn="l" defTabSz="1246876" rtl="0" eaLnBrk="1" latinLnBrk="0" hangingPunct="1">
      <a:defRPr sz="2454" kern="1200">
        <a:solidFill>
          <a:schemeClr val="tx1"/>
        </a:solidFill>
        <a:latin typeface="+mn-lt"/>
        <a:ea typeface="+mn-ea"/>
        <a:cs typeface="+mn-cs"/>
      </a:defRPr>
    </a:lvl4pPr>
    <a:lvl5pPr marL="2493752" algn="l" defTabSz="1246876" rtl="0" eaLnBrk="1" latinLnBrk="0" hangingPunct="1">
      <a:defRPr sz="2454" kern="1200">
        <a:solidFill>
          <a:schemeClr val="tx1"/>
        </a:solidFill>
        <a:latin typeface="+mn-lt"/>
        <a:ea typeface="+mn-ea"/>
        <a:cs typeface="+mn-cs"/>
      </a:defRPr>
    </a:lvl5pPr>
    <a:lvl6pPr marL="3117190" algn="l" defTabSz="1246876" rtl="0" eaLnBrk="1" latinLnBrk="0" hangingPunct="1">
      <a:defRPr sz="2454" kern="1200">
        <a:solidFill>
          <a:schemeClr val="tx1"/>
        </a:solidFill>
        <a:latin typeface="+mn-lt"/>
        <a:ea typeface="+mn-ea"/>
        <a:cs typeface="+mn-cs"/>
      </a:defRPr>
    </a:lvl6pPr>
    <a:lvl7pPr marL="3740628" algn="l" defTabSz="1246876" rtl="0" eaLnBrk="1" latinLnBrk="0" hangingPunct="1">
      <a:defRPr sz="2454" kern="1200">
        <a:solidFill>
          <a:schemeClr val="tx1"/>
        </a:solidFill>
        <a:latin typeface="+mn-lt"/>
        <a:ea typeface="+mn-ea"/>
        <a:cs typeface="+mn-cs"/>
      </a:defRPr>
    </a:lvl7pPr>
    <a:lvl8pPr marL="4364065" algn="l" defTabSz="1246876" rtl="0" eaLnBrk="1" latinLnBrk="0" hangingPunct="1">
      <a:defRPr sz="2454" kern="1200">
        <a:solidFill>
          <a:schemeClr val="tx1"/>
        </a:solidFill>
        <a:latin typeface="+mn-lt"/>
        <a:ea typeface="+mn-ea"/>
        <a:cs typeface="+mn-cs"/>
      </a:defRPr>
    </a:lvl8pPr>
    <a:lvl9pPr marL="4987503" algn="l" defTabSz="1246876" rtl="0" eaLnBrk="1" latinLnBrk="0" hangingPunct="1">
      <a:defRPr sz="245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ABAA"/>
    <a:srgbClr val="AF423F"/>
    <a:srgbClr val="FFCE33"/>
    <a:srgbClr val="CC9B00"/>
    <a:srgbClr val="005C2A"/>
    <a:srgbClr val="004620"/>
    <a:srgbClr val="2AE456"/>
    <a:srgbClr val="FF5050"/>
    <a:srgbClr val="33CCFF"/>
    <a:srgbClr val="151B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7" autoAdjust="0"/>
    <p:restoredTop sz="94291" autoAdjust="0"/>
  </p:normalViewPr>
  <p:slideViewPr>
    <p:cSldViewPr>
      <p:cViewPr varScale="1">
        <p:scale>
          <a:sx n="71" d="100"/>
          <a:sy n="71" d="100"/>
        </p:scale>
        <p:origin x="1248" y="91"/>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74EC6-3890-417B-9308-14EFBD00FA63}" type="datetimeFigureOut">
              <a:rPr lang="en-US" smtClean="0"/>
              <a:t>6/16/2024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83C400-BD9D-4609-A213-F91E9750031E}" type="slidenum">
              <a:rPr lang="en-US" smtClean="0"/>
              <a:t>‹#›</a:t>
            </a:fld>
            <a:endParaRPr lang="en-US" dirty="0"/>
          </a:p>
        </p:txBody>
      </p:sp>
    </p:spTree>
    <p:extLst>
      <p:ext uri="{BB962C8B-B14F-4D97-AF65-F5344CB8AC3E}">
        <p14:creationId xmlns:p14="http://schemas.microsoft.com/office/powerpoint/2010/main" val="2831783273"/>
      </p:ext>
    </p:extLst>
  </p:cSld>
  <p:clrMap bg1="lt1" tx1="dk1" bg2="lt2" tx2="dk2" accent1="accent1" accent2="accent2" accent3="accent3" accent4="accent4" accent5="accent5" accent6="accent6" hlink="hlink" folHlink="folHlink"/>
  <p:notesStyle>
    <a:lvl1pPr marL="0" algn="l" defTabSz="1246876" rtl="0" eaLnBrk="1" latinLnBrk="0" hangingPunct="1">
      <a:defRPr sz="1636" kern="1200">
        <a:solidFill>
          <a:schemeClr val="tx1"/>
        </a:solidFill>
        <a:latin typeface="+mn-lt"/>
        <a:ea typeface="+mn-ea"/>
        <a:cs typeface="+mn-cs"/>
      </a:defRPr>
    </a:lvl1pPr>
    <a:lvl2pPr marL="623438" algn="l" defTabSz="1246876" rtl="0" eaLnBrk="1" latinLnBrk="0" hangingPunct="1">
      <a:defRPr sz="1636" kern="1200">
        <a:solidFill>
          <a:schemeClr val="tx1"/>
        </a:solidFill>
        <a:latin typeface="+mn-lt"/>
        <a:ea typeface="+mn-ea"/>
        <a:cs typeface="+mn-cs"/>
      </a:defRPr>
    </a:lvl2pPr>
    <a:lvl3pPr marL="1246876" algn="l" defTabSz="1246876" rtl="0" eaLnBrk="1" latinLnBrk="0" hangingPunct="1">
      <a:defRPr sz="1636" kern="1200">
        <a:solidFill>
          <a:schemeClr val="tx1"/>
        </a:solidFill>
        <a:latin typeface="+mn-lt"/>
        <a:ea typeface="+mn-ea"/>
        <a:cs typeface="+mn-cs"/>
      </a:defRPr>
    </a:lvl3pPr>
    <a:lvl4pPr marL="1870314" algn="l" defTabSz="1246876" rtl="0" eaLnBrk="1" latinLnBrk="0" hangingPunct="1">
      <a:defRPr sz="1636" kern="1200">
        <a:solidFill>
          <a:schemeClr val="tx1"/>
        </a:solidFill>
        <a:latin typeface="+mn-lt"/>
        <a:ea typeface="+mn-ea"/>
        <a:cs typeface="+mn-cs"/>
      </a:defRPr>
    </a:lvl4pPr>
    <a:lvl5pPr marL="2493752" algn="l" defTabSz="1246876" rtl="0" eaLnBrk="1" latinLnBrk="0" hangingPunct="1">
      <a:defRPr sz="1636" kern="1200">
        <a:solidFill>
          <a:schemeClr val="tx1"/>
        </a:solidFill>
        <a:latin typeface="+mn-lt"/>
        <a:ea typeface="+mn-ea"/>
        <a:cs typeface="+mn-cs"/>
      </a:defRPr>
    </a:lvl5pPr>
    <a:lvl6pPr marL="3117190" algn="l" defTabSz="1246876" rtl="0" eaLnBrk="1" latinLnBrk="0" hangingPunct="1">
      <a:defRPr sz="1636" kern="1200">
        <a:solidFill>
          <a:schemeClr val="tx1"/>
        </a:solidFill>
        <a:latin typeface="+mn-lt"/>
        <a:ea typeface="+mn-ea"/>
        <a:cs typeface="+mn-cs"/>
      </a:defRPr>
    </a:lvl6pPr>
    <a:lvl7pPr marL="3740628" algn="l" defTabSz="1246876" rtl="0" eaLnBrk="1" latinLnBrk="0" hangingPunct="1">
      <a:defRPr sz="1636" kern="1200">
        <a:solidFill>
          <a:schemeClr val="tx1"/>
        </a:solidFill>
        <a:latin typeface="+mn-lt"/>
        <a:ea typeface="+mn-ea"/>
        <a:cs typeface="+mn-cs"/>
      </a:defRPr>
    </a:lvl7pPr>
    <a:lvl8pPr marL="4364065" algn="l" defTabSz="1246876" rtl="0" eaLnBrk="1" latinLnBrk="0" hangingPunct="1">
      <a:defRPr sz="1636" kern="1200">
        <a:solidFill>
          <a:schemeClr val="tx1"/>
        </a:solidFill>
        <a:latin typeface="+mn-lt"/>
        <a:ea typeface="+mn-ea"/>
        <a:cs typeface="+mn-cs"/>
      </a:defRPr>
    </a:lvl8pPr>
    <a:lvl9pPr marL="4987503" algn="l" defTabSz="1246876" rtl="0" eaLnBrk="1" latinLnBrk="0" hangingPunct="1">
      <a:defRPr sz="16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a:t>
            </a:fld>
            <a:endParaRPr lang="en-US" dirty="0"/>
          </a:p>
        </p:txBody>
      </p:sp>
    </p:spTree>
    <p:extLst>
      <p:ext uri="{BB962C8B-B14F-4D97-AF65-F5344CB8AC3E}">
        <p14:creationId xmlns:p14="http://schemas.microsoft.com/office/powerpoint/2010/main" val="3413848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2</a:t>
            </a:fld>
            <a:endParaRPr lang="en-US" dirty="0"/>
          </a:p>
        </p:txBody>
      </p:sp>
    </p:spTree>
    <p:extLst>
      <p:ext uri="{BB962C8B-B14F-4D97-AF65-F5344CB8AC3E}">
        <p14:creationId xmlns:p14="http://schemas.microsoft.com/office/powerpoint/2010/main" val="3888530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3</a:t>
            </a:fld>
            <a:endParaRPr lang="en-US" dirty="0"/>
          </a:p>
        </p:txBody>
      </p:sp>
    </p:spTree>
    <p:extLst>
      <p:ext uri="{BB962C8B-B14F-4D97-AF65-F5344CB8AC3E}">
        <p14:creationId xmlns:p14="http://schemas.microsoft.com/office/powerpoint/2010/main" val="1533813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4</a:t>
            </a:fld>
            <a:endParaRPr lang="en-US" dirty="0"/>
          </a:p>
        </p:txBody>
      </p:sp>
    </p:spTree>
    <p:extLst>
      <p:ext uri="{BB962C8B-B14F-4D97-AF65-F5344CB8AC3E}">
        <p14:creationId xmlns:p14="http://schemas.microsoft.com/office/powerpoint/2010/main" val="1714810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5</a:t>
            </a:fld>
            <a:endParaRPr lang="en-US" dirty="0"/>
          </a:p>
        </p:txBody>
      </p:sp>
    </p:spTree>
    <p:extLst>
      <p:ext uri="{BB962C8B-B14F-4D97-AF65-F5344CB8AC3E}">
        <p14:creationId xmlns:p14="http://schemas.microsoft.com/office/powerpoint/2010/main" val="1510570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6</a:t>
            </a:fld>
            <a:endParaRPr lang="en-US" dirty="0"/>
          </a:p>
        </p:txBody>
      </p:sp>
    </p:spTree>
    <p:extLst>
      <p:ext uri="{BB962C8B-B14F-4D97-AF65-F5344CB8AC3E}">
        <p14:creationId xmlns:p14="http://schemas.microsoft.com/office/powerpoint/2010/main" val="2850233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7</a:t>
            </a:fld>
            <a:endParaRPr lang="en-US" dirty="0"/>
          </a:p>
        </p:txBody>
      </p:sp>
    </p:spTree>
    <p:extLst>
      <p:ext uri="{BB962C8B-B14F-4D97-AF65-F5344CB8AC3E}">
        <p14:creationId xmlns:p14="http://schemas.microsoft.com/office/powerpoint/2010/main" val="3201151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8</a:t>
            </a:fld>
            <a:endParaRPr lang="en-US" dirty="0"/>
          </a:p>
        </p:txBody>
      </p:sp>
    </p:spTree>
    <p:extLst>
      <p:ext uri="{BB962C8B-B14F-4D97-AF65-F5344CB8AC3E}">
        <p14:creationId xmlns:p14="http://schemas.microsoft.com/office/powerpoint/2010/main" val="2942021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9</a:t>
            </a:fld>
            <a:endParaRPr lang="en-US" dirty="0"/>
          </a:p>
        </p:txBody>
      </p:sp>
    </p:spTree>
    <p:extLst>
      <p:ext uri="{BB962C8B-B14F-4D97-AF65-F5344CB8AC3E}">
        <p14:creationId xmlns:p14="http://schemas.microsoft.com/office/powerpoint/2010/main" val="1528183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10</a:t>
            </a:fld>
            <a:endParaRPr lang="en-US" dirty="0"/>
          </a:p>
        </p:txBody>
      </p:sp>
    </p:spTree>
    <p:extLst>
      <p:ext uri="{BB962C8B-B14F-4D97-AF65-F5344CB8AC3E}">
        <p14:creationId xmlns:p14="http://schemas.microsoft.com/office/powerpoint/2010/main" val="3967427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11</a:t>
            </a:fld>
            <a:endParaRPr lang="en-US" dirty="0"/>
          </a:p>
        </p:txBody>
      </p:sp>
    </p:spTree>
    <p:extLst>
      <p:ext uri="{BB962C8B-B14F-4D97-AF65-F5344CB8AC3E}">
        <p14:creationId xmlns:p14="http://schemas.microsoft.com/office/powerpoint/2010/main" val="373623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12</a:t>
            </a:fld>
            <a:endParaRPr lang="en-US" dirty="0"/>
          </a:p>
        </p:txBody>
      </p:sp>
    </p:spTree>
    <p:extLst>
      <p:ext uri="{BB962C8B-B14F-4D97-AF65-F5344CB8AC3E}">
        <p14:creationId xmlns:p14="http://schemas.microsoft.com/office/powerpoint/2010/main" val="1649063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2" indent="0" algn="ctr">
              <a:buNone/>
              <a:defRPr>
                <a:solidFill>
                  <a:schemeClr val="tx1">
                    <a:tint val="75000"/>
                  </a:schemeClr>
                </a:solidFill>
              </a:defRPr>
            </a:lvl2pPr>
            <a:lvl3pPr marL="1219165" indent="0" algn="ctr">
              <a:buNone/>
              <a:defRPr>
                <a:solidFill>
                  <a:schemeClr val="tx1">
                    <a:tint val="75000"/>
                  </a:schemeClr>
                </a:solidFill>
              </a:defRPr>
            </a:lvl3pPr>
            <a:lvl4pPr marL="1828747" indent="0" algn="ctr">
              <a:buNone/>
              <a:defRPr>
                <a:solidFill>
                  <a:schemeClr val="tx1">
                    <a:tint val="75000"/>
                  </a:schemeClr>
                </a:solidFill>
              </a:defRPr>
            </a:lvl4pPr>
            <a:lvl5pPr marL="2438331" indent="0" algn="ctr">
              <a:buNone/>
              <a:defRPr>
                <a:solidFill>
                  <a:schemeClr val="tx1">
                    <a:tint val="75000"/>
                  </a:schemeClr>
                </a:solidFill>
              </a:defRPr>
            </a:lvl5pPr>
            <a:lvl6pPr marL="3047912" indent="0" algn="ctr">
              <a:buNone/>
              <a:defRPr>
                <a:solidFill>
                  <a:schemeClr val="tx1">
                    <a:tint val="75000"/>
                  </a:schemeClr>
                </a:solidFill>
              </a:defRPr>
            </a:lvl6pPr>
            <a:lvl7pPr marL="3657494" indent="0" algn="ctr">
              <a:buNone/>
              <a:defRPr>
                <a:solidFill>
                  <a:schemeClr val="tx1">
                    <a:tint val="75000"/>
                  </a:schemeClr>
                </a:solidFill>
              </a:defRPr>
            </a:lvl7pPr>
            <a:lvl8pPr marL="4267075" indent="0" algn="ctr">
              <a:buNone/>
              <a:defRPr>
                <a:solidFill>
                  <a:schemeClr val="tx1">
                    <a:tint val="75000"/>
                  </a:schemeClr>
                </a:solidFill>
              </a:defRPr>
            </a:lvl8pPr>
            <a:lvl9pPr marL="48766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5386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79184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6" y="440691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6" y="2906724"/>
            <a:ext cx="10363200" cy="1500187"/>
          </a:xfrm>
        </p:spPr>
        <p:txBody>
          <a:bodyPr anchor="b"/>
          <a:lstStyle>
            <a:lvl1pPr marL="0" indent="0">
              <a:buNone/>
              <a:defRPr sz="2667">
                <a:solidFill>
                  <a:schemeClr val="tx1">
                    <a:tint val="75000"/>
                  </a:schemeClr>
                </a:solidFill>
              </a:defRPr>
            </a:lvl1pPr>
            <a:lvl2pPr marL="609582" indent="0">
              <a:buNone/>
              <a:defRPr sz="2400">
                <a:solidFill>
                  <a:schemeClr val="tx1">
                    <a:tint val="75000"/>
                  </a:schemeClr>
                </a:solidFill>
              </a:defRPr>
            </a:lvl2pPr>
            <a:lvl3pPr marL="1219165" indent="0">
              <a:buNone/>
              <a:defRPr sz="2133">
                <a:solidFill>
                  <a:schemeClr val="tx1">
                    <a:tint val="75000"/>
                  </a:schemeClr>
                </a:solidFill>
              </a:defRPr>
            </a:lvl3pPr>
            <a:lvl4pPr marL="1828747" indent="0">
              <a:buNone/>
              <a:defRPr sz="1867">
                <a:solidFill>
                  <a:schemeClr val="tx1">
                    <a:tint val="75000"/>
                  </a:schemeClr>
                </a:solidFill>
              </a:defRPr>
            </a:lvl4pPr>
            <a:lvl5pPr marL="2438331" indent="0">
              <a:buNone/>
              <a:defRPr sz="1867">
                <a:solidFill>
                  <a:schemeClr val="tx1">
                    <a:tint val="75000"/>
                  </a:schemeClr>
                </a:solidFill>
              </a:defRPr>
            </a:lvl5pPr>
            <a:lvl6pPr marL="3047912" indent="0">
              <a:buNone/>
              <a:defRPr sz="1867">
                <a:solidFill>
                  <a:schemeClr val="tx1">
                    <a:tint val="75000"/>
                  </a:schemeClr>
                </a:solidFill>
              </a:defRPr>
            </a:lvl6pPr>
            <a:lvl7pPr marL="3657494" indent="0">
              <a:buNone/>
              <a:defRPr sz="1867">
                <a:solidFill>
                  <a:schemeClr val="tx1">
                    <a:tint val="75000"/>
                  </a:schemeClr>
                </a:solidFill>
              </a:defRPr>
            </a:lvl7pPr>
            <a:lvl8pPr marL="4267075" indent="0">
              <a:buNone/>
              <a:defRPr sz="1867">
                <a:solidFill>
                  <a:schemeClr val="tx1">
                    <a:tint val="75000"/>
                  </a:schemeClr>
                </a:solidFill>
              </a:defRPr>
            </a:lvl8pPr>
            <a:lvl9pPr marL="4876659"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9492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2"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6105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3" y="1535120"/>
            <a:ext cx="5386919"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3" y="2174882"/>
            <a:ext cx="5386919"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7" y="1535120"/>
            <a:ext cx="5389035"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7" y="2174882"/>
            <a:ext cx="5389035"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05226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635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2554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0" y="273050"/>
            <a:ext cx="4011086" cy="116205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6" y="273061"/>
            <a:ext cx="6815667" cy="5853113"/>
          </a:xfrm>
        </p:spPr>
        <p:txBody>
          <a:bodyPr/>
          <a:lstStyle>
            <a:lvl1pPr>
              <a:defRPr sz="4267"/>
            </a:lvl1pPr>
            <a:lvl2pPr>
              <a:defRPr sz="3735"/>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0" y="1435111"/>
            <a:ext cx="4011086" cy="4691063"/>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65159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2" indent="0">
              <a:buNone/>
              <a:defRPr sz="3735"/>
            </a:lvl2pPr>
            <a:lvl3pPr marL="1219165" indent="0">
              <a:buNone/>
              <a:defRPr sz="3200"/>
            </a:lvl3pPr>
            <a:lvl4pPr marL="1828747" indent="0">
              <a:buNone/>
              <a:defRPr sz="2667"/>
            </a:lvl4pPr>
            <a:lvl5pPr marL="2438331" indent="0">
              <a:buNone/>
              <a:defRPr sz="2667"/>
            </a:lvl5pPr>
            <a:lvl6pPr marL="3047912" indent="0">
              <a:buNone/>
              <a:defRPr sz="2667"/>
            </a:lvl6pPr>
            <a:lvl7pPr marL="3657494" indent="0">
              <a:buNone/>
              <a:defRPr sz="2667"/>
            </a:lvl7pPr>
            <a:lvl8pPr marL="4267075" indent="0">
              <a:buNone/>
              <a:defRPr sz="2667"/>
            </a:lvl8pPr>
            <a:lvl9pPr marL="4876659" indent="0">
              <a:buNone/>
              <a:defRPr sz="2667"/>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76501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41224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1614"/>
            <a:ext cx="2743200" cy="4291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2" y="201614"/>
            <a:ext cx="8026400" cy="4291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64953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2"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6/16/2024</a:t>
            </a:fld>
            <a:endParaRPr lang="en-US" dirty="0"/>
          </a:p>
        </p:txBody>
      </p:sp>
      <p:sp>
        <p:nvSpPr>
          <p:cNvPr id="5" name="Footer Placeholder 4"/>
          <p:cNvSpPr>
            <a:spLocks noGrp="1"/>
          </p:cNvSpPr>
          <p:nvPr>
            <p:ph type="ftr" sz="quarter" idx="3"/>
          </p:nvPr>
        </p:nvSpPr>
        <p:spPr>
          <a:xfrm>
            <a:off x="4165604"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49943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defTabSz="1219165" rtl="0" eaLnBrk="1" latinLnBrk="0" hangingPunct="1">
        <a:spcBef>
          <a:spcPct val="0"/>
        </a:spcBef>
        <a:buNone/>
        <a:defRPr sz="5868" kern="1200">
          <a:solidFill>
            <a:schemeClr val="tx1"/>
          </a:solidFill>
          <a:latin typeface="+mj-lt"/>
          <a:ea typeface="+mj-ea"/>
          <a:cs typeface="+mj-cs"/>
        </a:defRPr>
      </a:lvl1pPr>
    </p:titleStyle>
    <p:bodyStyle>
      <a:lvl1pPr marL="457188" indent="-457188" algn="l" defTabSz="1219165"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2" indent="-380990" algn="l" defTabSz="1219165" rtl="0" eaLnBrk="1" latinLnBrk="0" hangingPunct="1">
        <a:spcBef>
          <a:spcPct val="20000"/>
        </a:spcBef>
        <a:buFont typeface="Arial" pitchFamily="34" charset="0"/>
        <a:buChar char="–"/>
        <a:defRPr sz="3735" kern="1200">
          <a:solidFill>
            <a:schemeClr val="tx1"/>
          </a:solidFill>
          <a:latin typeface="+mn-lt"/>
          <a:ea typeface="+mn-ea"/>
          <a:cs typeface="+mn-cs"/>
        </a:defRPr>
      </a:lvl2pPr>
      <a:lvl3pPr marL="1523955" indent="-304792" algn="l" defTabSz="1219165"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39"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2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04"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86"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67"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5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65" rtl="0" eaLnBrk="1" latinLnBrk="0" hangingPunct="1">
        <a:defRPr sz="2400" kern="1200">
          <a:solidFill>
            <a:schemeClr val="tx1"/>
          </a:solidFill>
          <a:latin typeface="+mn-lt"/>
          <a:ea typeface="+mn-ea"/>
          <a:cs typeface="+mn-cs"/>
        </a:defRPr>
      </a:lvl1pPr>
      <a:lvl2pPr marL="609582" algn="l" defTabSz="1219165" rtl="0" eaLnBrk="1" latinLnBrk="0" hangingPunct="1">
        <a:defRPr sz="2400" kern="1200">
          <a:solidFill>
            <a:schemeClr val="tx1"/>
          </a:solidFill>
          <a:latin typeface="+mn-lt"/>
          <a:ea typeface="+mn-ea"/>
          <a:cs typeface="+mn-cs"/>
        </a:defRPr>
      </a:lvl2pPr>
      <a:lvl3pPr marL="1219165" algn="l" defTabSz="1219165" rtl="0" eaLnBrk="1" latinLnBrk="0" hangingPunct="1">
        <a:defRPr sz="2400" kern="1200">
          <a:solidFill>
            <a:schemeClr val="tx1"/>
          </a:solidFill>
          <a:latin typeface="+mn-lt"/>
          <a:ea typeface="+mn-ea"/>
          <a:cs typeface="+mn-cs"/>
        </a:defRPr>
      </a:lvl3pPr>
      <a:lvl4pPr marL="1828747" algn="l" defTabSz="1219165" rtl="0" eaLnBrk="1" latinLnBrk="0" hangingPunct="1">
        <a:defRPr sz="2400" kern="1200">
          <a:solidFill>
            <a:schemeClr val="tx1"/>
          </a:solidFill>
          <a:latin typeface="+mn-lt"/>
          <a:ea typeface="+mn-ea"/>
          <a:cs typeface="+mn-cs"/>
        </a:defRPr>
      </a:lvl4pPr>
      <a:lvl5pPr marL="2438331" algn="l" defTabSz="1219165" rtl="0" eaLnBrk="1" latinLnBrk="0" hangingPunct="1">
        <a:defRPr sz="2400" kern="1200">
          <a:solidFill>
            <a:schemeClr val="tx1"/>
          </a:solidFill>
          <a:latin typeface="+mn-lt"/>
          <a:ea typeface="+mn-ea"/>
          <a:cs typeface="+mn-cs"/>
        </a:defRPr>
      </a:lvl5pPr>
      <a:lvl6pPr marL="3047912" algn="l" defTabSz="1219165" rtl="0" eaLnBrk="1" latinLnBrk="0" hangingPunct="1">
        <a:defRPr sz="2400" kern="1200">
          <a:solidFill>
            <a:schemeClr val="tx1"/>
          </a:solidFill>
          <a:latin typeface="+mn-lt"/>
          <a:ea typeface="+mn-ea"/>
          <a:cs typeface="+mn-cs"/>
        </a:defRPr>
      </a:lvl6pPr>
      <a:lvl7pPr marL="3657494" algn="l" defTabSz="1219165" rtl="0" eaLnBrk="1" latinLnBrk="0" hangingPunct="1">
        <a:defRPr sz="2400" kern="1200">
          <a:solidFill>
            <a:schemeClr val="tx1"/>
          </a:solidFill>
          <a:latin typeface="+mn-lt"/>
          <a:ea typeface="+mn-ea"/>
          <a:cs typeface="+mn-cs"/>
        </a:defRPr>
      </a:lvl7pPr>
      <a:lvl8pPr marL="4267075" algn="l" defTabSz="1219165" rtl="0" eaLnBrk="1" latinLnBrk="0" hangingPunct="1">
        <a:defRPr sz="2400" kern="1200">
          <a:solidFill>
            <a:schemeClr val="tx1"/>
          </a:solidFill>
          <a:latin typeface="+mn-lt"/>
          <a:ea typeface="+mn-ea"/>
          <a:cs typeface="+mn-cs"/>
        </a:defRPr>
      </a:lvl8pPr>
      <a:lvl9pPr marL="4876659" algn="l" defTabSz="12191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5" name="Rectangle 4">
            <a:extLst>
              <a:ext uri="{FF2B5EF4-FFF2-40B4-BE49-F238E27FC236}">
                <a16:creationId xmlns:a16="http://schemas.microsoft.com/office/drawing/2014/main" id="{CA1D8170-25C1-4027-0914-6C0B5D61C4CC}"/>
              </a:ext>
            </a:extLst>
          </p:cNvPr>
          <p:cNvSpPr/>
          <p:nvPr/>
        </p:nvSpPr>
        <p:spPr>
          <a:xfrm>
            <a:off x="126402" y="1023815"/>
            <a:ext cx="11832164" cy="144692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l"/>
            <a:r>
              <a:rPr lang="en-US" sz="2400" b="0" i="0" dirty="0">
                <a:solidFill>
                  <a:srgbClr val="0D0D0D"/>
                </a:solidFill>
                <a:effectLst/>
                <a:highlight>
                  <a:srgbClr val="FFFFFF"/>
                </a:highlight>
                <a:latin typeface="ui-sans-serif"/>
              </a:rPr>
              <a:t>The </a:t>
            </a:r>
            <a:r>
              <a:rPr lang="en-US" sz="2400" b="0" i="0" dirty="0">
                <a:solidFill>
                  <a:srgbClr val="C00000"/>
                </a:solidFill>
                <a:effectLst/>
                <a:highlight>
                  <a:srgbClr val="FFFFFF"/>
                </a:highlight>
                <a:latin typeface="ui-sans-serif"/>
              </a:rPr>
              <a:t>DevOps lifecycle </a:t>
            </a:r>
            <a:r>
              <a:rPr lang="en-US" sz="2400" b="0" i="0" dirty="0">
                <a:solidFill>
                  <a:srgbClr val="0D0D0D"/>
                </a:solidFill>
                <a:effectLst/>
                <a:highlight>
                  <a:srgbClr val="FFFFFF"/>
                </a:highlight>
                <a:latin typeface="ui-sans-serif"/>
              </a:rPr>
              <a:t>is a process that helps teams </a:t>
            </a:r>
            <a:r>
              <a:rPr lang="en-US" sz="2400" b="0" i="0" dirty="0">
                <a:solidFill>
                  <a:srgbClr val="C00000"/>
                </a:solidFill>
                <a:effectLst/>
                <a:highlight>
                  <a:srgbClr val="FFFFFF"/>
                </a:highlight>
                <a:latin typeface="ui-sans-serif"/>
              </a:rPr>
              <a:t>develop, test, deploy, and manage software more efficiently and reliably</a:t>
            </a:r>
            <a:r>
              <a:rPr lang="en-US" sz="2400" b="0" i="0" dirty="0">
                <a:solidFill>
                  <a:srgbClr val="0D0D0D"/>
                </a:solidFill>
                <a:effectLst/>
                <a:highlight>
                  <a:srgbClr val="FFFFFF"/>
                </a:highlight>
                <a:latin typeface="ui-sans-serif"/>
              </a:rPr>
              <a:t>. It's like a </a:t>
            </a:r>
            <a:r>
              <a:rPr lang="en-US" sz="2400" b="0" i="0" dirty="0">
                <a:solidFill>
                  <a:srgbClr val="C00000"/>
                </a:solidFill>
                <a:effectLst/>
                <a:highlight>
                  <a:srgbClr val="FFFFFF"/>
                </a:highlight>
                <a:latin typeface="ui-sans-serif"/>
              </a:rPr>
              <a:t>series of steps or stages </a:t>
            </a:r>
            <a:r>
              <a:rPr lang="en-US" sz="2400" b="0" i="0" dirty="0">
                <a:solidFill>
                  <a:srgbClr val="0D0D0D"/>
                </a:solidFill>
                <a:effectLst/>
                <a:highlight>
                  <a:srgbClr val="FFFFFF"/>
                </a:highlight>
                <a:latin typeface="ui-sans-serif"/>
              </a:rPr>
              <a:t>that developers and IT teams follow to ensure that their software is always improving and running smoothly.</a:t>
            </a:r>
            <a:endParaRPr lang="en-US" sz="4800" b="0" i="0" dirty="0">
              <a:solidFill>
                <a:srgbClr val="0D0D0D"/>
              </a:solidFill>
              <a:effectLst/>
              <a:highlight>
                <a:srgbClr val="FFFFFF"/>
              </a:highlight>
              <a:latin typeface="ui-sans-serif"/>
            </a:endParaRP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3FE2C194-CF7C-6284-0A3A-CAB67E5F2BD6}"/>
              </a:ext>
            </a:extLst>
          </p:cNvPr>
          <p:cNvSpPr txBox="1"/>
          <p:nvPr/>
        </p:nvSpPr>
        <p:spPr>
          <a:xfrm>
            <a:off x="117613" y="533400"/>
            <a:ext cx="3575531" cy="470000"/>
          </a:xfrm>
          <a:prstGeom prst="rect">
            <a:avLst/>
          </a:prstGeom>
          <a:solidFill>
            <a:srgbClr val="C00000"/>
          </a:solidFill>
        </p:spPr>
        <p:txBody>
          <a:bodyPr wrap="none" rtlCol="0">
            <a:spAutoFit/>
          </a:bodyPr>
          <a:lstStyle/>
          <a:p>
            <a:r>
              <a:rPr lang="en-US" b="1" dirty="0">
                <a:solidFill>
                  <a:schemeClr val="bg1"/>
                </a:solidFill>
              </a:rPr>
              <a:t>What is DevOps Lifecycle?</a:t>
            </a:r>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6968" y="2882078"/>
            <a:ext cx="7053263" cy="3522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4048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4746" y="696392"/>
            <a:ext cx="11758653" cy="2046808"/>
          </a:xfrm>
          <a:prstGeom prst="flowChartAlternateProcess">
            <a:avLst/>
          </a:prstGeom>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t>1. Plan</a:t>
            </a:r>
          </a:p>
          <a:p>
            <a:r>
              <a:rPr lang="en-US" sz="2400" dirty="0"/>
              <a:t>	Imagine you’re building a house. First, you need a plan or blueprint. In the DevOps lifecycle, this stage involves planning what features or fixes the software needs. Teams discuss what needs to be done, set goals, and prioritize tasks.</a:t>
            </a:r>
          </a:p>
        </p:txBody>
      </p:sp>
      <p:cxnSp>
        <p:nvCxnSpPr>
          <p:cNvPr id="16" name="Straight Arrow Connector 15">
            <a:extLst>
              <a:ext uri="{FF2B5EF4-FFF2-40B4-BE49-F238E27FC236}">
                <a16:creationId xmlns:a16="http://schemas.microsoft.com/office/drawing/2014/main" id="{45F04744-C433-1B10-E473-147B334CE87A}"/>
              </a:ext>
            </a:extLst>
          </p:cNvPr>
          <p:cNvCxnSpPr>
            <a:cxnSpLocks/>
            <a:stCxn id="12" idx="2"/>
          </p:cNvCxnSpPr>
          <p:nvPr/>
        </p:nvCxnSpPr>
        <p:spPr>
          <a:xfrm flipH="1">
            <a:off x="5879528" y="2743200"/>
            <a:ext cx="204545" cy="17526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02741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2046808"/>
          </a:xfrm>
          <a:prstGeom prst="flowChartAlternateProcess">
            <a:avLst/>
          </a:prstGeom>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t>2. Code</a:t>
            </a:r>
            <a:endParaRPr lang="en-US" sz="2400" dirty="0"/>
          </a:p>
          <a:p>
            <a:r>
              <a:rPr lang="en-US" sz="2400" dirty="0"/>
              <a:t>	Once the plan is ready, it’s time to start building. This is where developers write the code for the software. Just like using tools to build a house, developers use programming languages and tools to create the software.</a:t>
            </a:r>
          </a:p>
        </p:txBody>
      </p:sp>
      <p:cxnSp>
        <p:nvCxnSpPr>
          <p:cNvPr id="16" name="Straight Arrow Connector 15">
            <a:extLst>
              <a:ext uri="{FF2B5EF4-FFF2-40B4-BE49-F238E27FC236}">
                <a16:creationId xmlns:a16="http://schemas.microsoft.com/office/drawing/2014/main" id="{45F04744-C433-1B10-E473-147B334CE87A}"/>
              </a:ext>
            </a:extLst>
          </p:cNvPr>
          <p:cNvCxnSpPr>
            <a:cxnSpLocks/>
            <a:stCxn id="12" idx="2"/>
          </p:cNvCxnSpPr>
          <p:nvPr/>
        </p:nvCxnSpPr>
        <p:spPr>
          <a:xfrm flipH="1">
            <a:off x="4876800" y="2743200"/>
            <a:ext cx="1246718" cy="9906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59165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2046808"/>
          </a:xfrm>
          <a:prstGeom prst="flowChartAlternateProcess">
            <a:avLst/>
          </a:prstGeom>
          <a:solidFill>
            <a:srgbClr val="005C2A"/>
          </a:solidFill>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t>3. Build</a:t>
            </a:r>
            <a:endParaRPr lang="en-US" sz="2400" dirty="0"/>
          </a:p>
          <a:p>
            <a:r>
              <a:rPr lang="en-US" sz="2400" dirty="0"/>
              <a:t>	After the code is written, it’s assembled into a working program, much like putting together the pieces of a house. This stage ensures that the code written by different developers works together as a single application.</a:t>
            </a:r>
          </a:p>
        </p:txBody>
      </p:sp>
      <p:cxnSp>
        <p:nvCxnSpPr>
          <p:cNvPr id="16" name="Straight Arrow Connector 15">
            <a:extLst>
              <a:ext uri="{FF2B5EF4-FFF2-40B4-BE49-F238E27FC236}">
                <a16:creationId xmlns:a16="http://schemas.microsoft.com/office/drawing/2014/main" id="{45F04744-C433-1B10-E473-147B334CE87A}"/>
              </a:ext>
            </a:extLst>
          </p:cNvPr>
          <p:cNvCxnSpPr>
            <a:cxnSpLocks/>
          </p:cNvCxnSpPr>
          <p:nvPr/>
        </p:nvCxnSpPr>
        <p:spPr>
          <a:xfrm>
            <a:off x="2057400" y="2743200"/>
            <a:ext cx="1068850" cy="200779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2910086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2046808"/>
          </a:xfrm>
          <a:prstGeom prst="flowChartAlternateProcess">
            <a:avLst/>
          </a:prstGeom>
          <a:solidFill>
            <a:srgbClr val="005C2A"/>
          </a:solidFill>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t>4. Test</a:t>
            </a:r>
            <a:br>
              <a:rPr lang="en-US" sz="2400" dirty="0"/>
            </a:br>
            <a:r>
              <a:rPr lang="en-US" sz="2400" dirty="0"/>
              <a:t>	Before you move into a new house, you check that everything works correctly. In the DevOps lifecycle, testing is done to find and fix any issues or bugs in the software. Automated tests run to make sure everything is functioning as expected.</a:t>
            </a:r>
          </a:p>
        </p:txBody>
      </p:sp>
      <p:cxnSp>
        <p:nvCxnSpPr>
          <p:cNvPr id="16" name="Straight Arrow Connector 15">
            <a:extLst>
              <a:ext uri="{FF2B5EF4-FFF2-40B4-BE49-F238E27FC236}">
                <a16:creationId xmlns:a16="http://schemas.microsoft.com/office/drawing/2014/main" id="{45F04744-C433-1B10-E473-147B334CE87A}"/>
              </a:ext>
            </a:extLst>
          </p:cNvPr>
          <p:cNvCxnSpPr>
            <a:cxnSpLocks/>
          </p:cNvCxnSpPr>
          <p:nvPr/>
        </p:nvCxnSpPr>
        <p:spPr>
          <a:xfrm>
            <a:off x="2057400" y="2743200"/>
            <a:ext cx="2819400" cy="30480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1174825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2046808"/>
          </a:xfrm>
          <a:prstGeom prst="flowChartAlternateProcess">
            <a:avLst/>
          </a:prstGeom>
          <a:solidFill>
            <a:srgbClr val="FFCE33"/>
          </a:solidFill>
          <a:ln>
            <a:solidFill>
              <a:srgbClr val="FFC000"/>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solidFill>
                  <a:schemeClr val="tx1"/>
                </a:solidFill>
              </a:rPr>
              <a:t>5. Release</a:t>
            </a:r>
            <a:endParaRPr lang="en-US" sz="2400" dirty="0">
              <a:solidFill>
                <a:schemeClr val="tx1"/>
              </a:solidFill>
            </a:endParaRPr>
          </a:p>
          <a:p>
            <a:r>
              <a:rPr lang="en-US" sz="2400" dirty="0">
                <a:solidFill>
                  <a:schemeClr val="tx1"/>
                </a:solidFill>
              </a:rPr>
              <a:t>	Once the software is tested and ready, it’s time to release it to the users. This is like getting the house inspected and approved before you move in. The software is packaged and prepared for deployment.</a:t>
            </a:r>
          </a:p>
        </p:txBody>
      </p:sp>
      <p:cxnSp>
        <p:nvCxnSpPr>
          <p:cNvPr id="16" name="Straight Arrow Connector 15">
            <a:extLst>
              <a:ext uri="{FF2B5EF4-FFF2-40B4-BE49-F238E27FC236}">
                <a16:creationId xmlns:a16="http://schemas.microsoft.com/office/drawing/2014/main" id="{45F04744-C433-1B10-E473-147B334CE87A}"/>
              </a:ext>
            </a:extLst>
          </p:cNvPr>
          <p:cNvCxnSpPr>
            <a:cxnSpLocks/>
          </p:cNvCxnSpPr>
          <p:nvPr/>
        </p:nvCxnSpPr>
        <p:spPr>
          <a:xfrm>
            <a:off x="4686300" y="2743200"/>
            <a:ext cx="1409700" cy="1752600"/>
          </a:xfrm>
          <a:prstGeom prst="straightConnector1">
            <a:avLst/>
          </a:prstGeom>
          <a:ln>
            <a:solidFill>
              <a:srgbClr val="FFC00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1397337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2046808"/>
          </a:xfrm>
          <a:prstGeom prst="flowChartAlternateProcess">
            <a:avLst/>
          </a:prstGeom>
          <a:solidFill>
            <a:srgbClr val="FFCE33"/>
          </a:solidFill>
          <a:ln>
            <a:solidFill>
              <a:srgbClr val="FFC000"/>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solidFill>
                  <a:schemeClr val="tx1"/>
                </a:solidFill>
              </a:rPr>
              <a:t>6. Deploy</a:t>
            </a:r>
            <a:endParaRPr lang="en-US" sz="2400" dirty="0">
              <a:solidFill>
                <a:schemeClr val="tx1"/>
              </a:solidFill>
            </a:endParaRPr>
          </a:p>
          <a:p>
            <a:r>
              <a:rPr lang="en-US" sz="2400" dirty="0">
                <a:solidFill>
                  <a:schemeClr val="tx1"/>
                </a:solidFill>
              </a:rPr>
              <a:t>	Deployment is like moving into the new house. The software is installed on servers or cloud platforms where users can access it. This process is often automated to ensure it’s done quickly and correctly.</a:t>
            </a:r>
          </a:p>
        </p:txBody>
      </p:sp>
      <p:cxnSp>
        <p:nvCxnSpPr>
          <p:cNvPr id="16" name="Straight Arrow Connector 15">
            <a:extLst>
              <a:ext uri="{FF2B5EF4-FFF2-40B4-BE49-F238E27FC236}">
                <a16:creationId xmlns:a16="http://schemas.microsoft.com/office/drawing/2014/main" id="{45F04744-C433-1B10-E473-147B334CE87A}"/>
              </a:ext>
            </a:extLst>
          </p:cNvPr>
          <p:cNvCxnSpPr>
            <a:cxnSpLocks/>
          </p:cNvCxnSpPr>
          <p:nvPr/>
        </p:nvCxnSpPr>
        <p:spPr>
          <a:xfrm>
            <a:off x="5971636" y="2743200"/>
            <a:ext cx="962564" cy="1066800"/>
          </a:xfrm>
          <a:prstGeom prst="straightConnector1">
            <a:avLst/>
          </a:prstGeom>
          <a:ln>
            <a:solidFill>
              <a:srgbClr val="FFC00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3331155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2046808"/>
          </a:xfrm>
          <a:prstGeom prst="flowChartAlternateProcess">
            <a:avLst/>
          </a:prstGeom>
          <a:solidFill>
            <a:srgbClr val="E0ABAA"/>
          </a:solidFill>
          <a:ln>
            <a:solidFill>
              <a:srgbClr val="FFC000"/>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solidFill>
                  <a:schemeClr val="tx1"/>
                </a:solidFill>
              </a:rPr>
              <a:t>7. Operate</a:t>
            </a:r>
            <a:endParaRPr lang="en-US" sz="2400" dirty="0">
              <a:solidFill>
                <a:schemeClr val="tx1"/>
              </a:solidFill>
            </a:endParaRPr>
          </a:p>
          <a:p>
            <a:r>
              <a:rPr lang="en-US" sz="2400" dirty="0">
                <a:solidFill>
                  <a:schemeClr val="tx1"/>
                </a:solidFill>
              </a:rPr>
              <a:t>	After moving into the house, you live in it and make sure everything runs smoothly. Similarly, in the operate stage, the software is run and managed on the servers. This includes monitoring performance and ensuring it’s always available for users.</a:t>
            </a:r>
          </a:p>
        </p:txBody>
      </p:sp>
      <p:cxnSp>
        <p:nvCxnSpPr>
          <p:cNvPr id="16" name="Straight Arrow Connector 15">
            <a:extLst>
              <a:ext uri="{FF2B5EF4-FFF2-40B4-BE49-F238E27FC236}">
                <a16:creationId xmlns:a16="http://schemas.microsoft.com/office/drawing/2014/main" id="{45F04744-C433-1B10-E473-147B334CE87A}"/>
              </a:ext>
            </a:extLst>
          </p:cNvPr>
          <p:cNvCxnSpPr>
            <a:cxnSpLocks/>
          </p:cNvCxnSpPr>
          <p:nvPr/>
        </p:nvCxnSpPr>
        <p:spPr>
          <a:xfrm flipH="1">
            <a:off x="8610600" y="2727960"/>
            <a:ext cx="1676400" cy="1615440"/>
          </a:xfrm>
          <a:prstGeom prst="straightConnector1">
            <a:avLst/>
          </a:prstGeom>
          <a:ln>
            <a:solidFill>
              <a:schemeClr val="accent2">
                <a:lumMod val="75000"/>
              </a:schemeClr>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7796869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1801807"/>
          </a:xfrm>
          <a:prstGeom prst="flowChartAlternateProcess">
            <a:avLst/>
          </a:prstGeom>
          <a:solidFill>
            <a:srgbClr val="E0ABAA"/>
          </a:solidFill>
          <a:ln>
            <a:solidFill>
              <a:srgbClr val="FFC000"/>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solidFill>
                  <a:schemeClr val="tx1"/>
                </a:solidFill>
              </a:rPr>
              <a:t>8. Monitor</a:t>
            </a:r>
          </a:p>
          <a:p>
            <a:r>
              <a:rPr lang="en-US" sz="2400" dirty="0">
                <a:solidFill>
                  <a:schemeClr val="tx1"/>
                </a:solidFill>
              </a:rPr>
              <a:t>	Just like you keep an eye on your house to fix any issues (like a leaky roof or broken window), the software is continuously monitored. This helps teams identify and fix any problems that arise, ensuring the software runs smoothly.</a:t>
            </a:r>
          </a:p>
        </p:txBody>
      </p:sp>
      <p:cxnSp>
        <p:nvCxnSpPr>
          <p:cNvPr id="16" name="Straight Arrow Connector 15">
            <a:extLst>
              <a:ext uri="{FF2B5EF4-FFF2-40B4-BE49-F238E27FC236}">
                <a16:creationId xmlns:a16="http://schemas.microsoft.com/office/drawing/2014/main" id="{45F04744-C433-1B10-E473-147B334CE87A}"/>
              </a:ext>
            </a:extLst>
          </p:cNvPr>
          <p:cNvCxnSpPr>
            <a:cxnSpLocks/>
          </p:cNvCxnSpPr>
          <p:nvPr/>
        </p:nvCxnSpPr>
        <p:spPr>
          <a:xfrm flipH="1">
            <a:off x="7239000" y="2498199"/>
            <a:ext cx="3200400" cy="3369201"/>
          </a:xfrm>
          <a:prstGeom prst="straightConnector1">
            <a:avLst/>
          </a:prstGeom>
          <a:ln>
            <a:solidFill>
              <a:schemeClr val="accent2">
                <a:lumMod val="75000"/>
              </a:schemeClr>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41232134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2275408"/>
          </a:xfrm>
          <a:prstGeom prst="flowChartAlternateProcess">
            <a:avLst/>
          </a:prstGeom>
          <a:solidFill>
            <a:srgbClr val="0070C0"/>
          </a:solidFill>
          <a:ln>
            <a:solidFill>
              <a:srgbClr val="FFC000"/>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solidFill>
                  <a:schemeClr val="bg1"/>
                </a:solidFill>
              </a:rPr>
              <a:t>Feedback</a:t>
            </a:r>
            <a:endParaRPr lang="en-US" sz="2400" dirty="0">
              <a:solidFill>
                <a:schemeClr val="bg1"/>
              </a:solidFill>
            </a:endParaRPr>
          </a:p>
          <a:p>
            <a:r>
              <a:rPr lang="en-US" sz="2400" dirty="0">
                <a:solidFill>
                  <a:schemeClr val="bg1"/>
                </a:solidFill>
              </a:rPr>
              <a:t>	Finally, you gather feedback from the people living in the house (or using the software). This feedback helps you understand what’s working well and what needs improvement. It’s like asking residents if they’re happy with the house or if any changes are needed.</a:t>
            </a:r>
          </a:p>
        </p:txBody>
      </p:sp>
    </p:spTree>
    <p:extLst>
      <p:ext uri="{BB962C8B-B14F-4D97-AF65-F5344CB8AC3E}">
        <p14:creationId xmlns:p14="http://schemas.microsoft.com/office/powerpoint/2010/main" val="40534717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5384" y="3643730"/>
            <a:ext cx="5763816" cy="287821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Alternate Process 11">
            <a:extLst>
              <a:ext uri="{FF2B5EF4-FFF2-40B4-BE49-F238E27FC236}">
                <a16:creationId xmlns:a16="http://schemas.microsoft.com/office/drawing/2014/main" id="{6D662F2B-7104-6EC2-FDA1-6509EEBE4F19}"/>
              </a:ext>
            </a:extLst>
          </p:cNvPr>
          <p:cNvSpPr/>
          <p:nvPr/>
        </p:nvSpPr>
        <p:spPr>
          <a:xfrm>
            <a:off x="207436" y="696392"/>
            <a:ext cx="11832163" cy="1894408"/>
          </a:xfrm>
          <a:prstGeom prst="flowChartAlternateProcess">
            <a:avLst/>
          </a:prstGeom>
          <a:solidFill>
            <a:srgbClr val="0070C0"/>
          </a:solidFill>
          <a:ln>
            <a:solidFill>
              <a:srgbClr val="FFC000"/>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en-US" sz="3200" b="1" dirty="0">
                <a:solidFill>
                  <a:schemeClr val="bg1"/>
                </a:solidFill>
              </a:rPr>
              <a:t>Repeat</a:t>
            </a:r>
            <a:endParaRPr lang="en-US" sz="2400" dirty="0">
              <a:solidFill>
                <a:schemeClr val="bg1"/>
              </a:solidFill>
            </a:endParaRPr>
          </a:p>
          <a:p>
            <a:r>
              <a:rPr lang="en-US" sz="2400" dirty="0">
                <a:solidFill>
                  <a:schemeClr val="bg1"/>
                </a:solidFill>
              </a:rPr>
              <a:t>	The DevOps lifecycle is a continuous process. After gathering feedback, the cycle starts again with planning new features or improvements. It’s a loop that ensures the software is always getting better.</a:t>
            </a:r>
          </a:p>
        </p:txBody>
      </p:sp>
    </p:spTree>
    <p:extLst>
      <p:ext uri="{BB962C8B-B14F-4D97-AF65-F5344CB8AC3E}">
        <p14:creationId xmlns:p14="http://schemas.microsoft.com/office/powerpoint/2010/main" val="27137664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91797"/>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2457450" y="57090"/>
            <a:ext cx="69723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Understanding the DevOps Lifecycle: A Simple Guide for Everyone</a:t>
            </a:r>
          </a:p>
        </p:txBody>
      </p:sp>
      <p:sp>
        <p:nvSpPr>
          <p:cNvPr id="5" name="Rectangle 4">
            <a:extLst>
              <a:ext uri="{FF2B5EF4-FFF2-40B4-BE49-F238E27FC236}">
                <a16:creationId xmlns:a16="http://schemas.microsoft.com/office/drawing/2014/main" id="{CA1D8170-25C1-4027-0914-6C0B5D61C4CC}"/>
              </a:ext>
            </a:extLst>
          </p:cNvPr>
          <p:cNvSpPr/>
          <p:nvPr/>
        </p:nvSpPr>
        <p:spPr>
          <a:xfrm>
            <a:off x="126402" y="1023815"/>
            <a:ext cx="11832164" cy="1858263"/>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l"/>
            <a:r>
              <a:rPr lang="en-US" sz="2400" b="0" i="0" dirty="0">
                <a:solidFill>
                  <a:srgbClr val="0D0D0D"/>
                </a:solidFill>
                <a:effectLst/>
                <a:highlight>
                  <a:srgbClr val="FFFFFF"/>
                </a:highlight>
                <a:latin typeface="ui-sans-serif"/>
              </a:rPr>
              <a:t>	The </a:t>
            </a:r>
            <a:r>
              <a:rPr lang="en-US" sz="2400" b="0" i="0" dirty="0">
                <a:solidFill>
                  <a:srgbClr val="FF0000"/>
                </a:solidFill>
                <a:effectLst/>
                <a:highlight>
                  <a:srgbClr val="FFFFFF"/>
                </a:highlight>
                <a:latin typeface="ui-sans-serif"/>
              </a:rPr>
              <a:t>DevOps lifecycle </a:t>
            </a:r>
            <a:r>
              <a:rPr lang="en-US" sz="2400" b="0" i="0" dirty="0">
                <a:solidFill>
                  <a:srgbClr val="0D0D0D"/>
                </a:solidFill>
                <a:effectLst/>
                <a:highlight>
                  <a:srgbClr val="FFFFFF"/>
                </a:highlight>
                <a:latin typeface="ui-sans-serif"/>
              </a:rPr>
              <a:t>is a </a:t>
            </a:r>
            <a:r>
              <a:rPr lang="en-US" sz="2400" b="0" i="0" dirty="0">
                <a:solidFill>
                  <a:srgbClr val="FF0000"/>
                </a:solidFill>
                <a:effectLst/>
                <a:highlight>
                  <a:srgbClr val="FFFFFF"/>
                </a:highlight>
                <a:latin typeface="ui-sans-serif"/>
              </a:rPr>
              <a:t>series of steps </a:t>
            </a:r>
            <a:r>
              <a:rPr lang="en-US" sz="2400" b="0" i="0" dirty="0">
                <a:solidFill>
                  <a:srgbClr val="0D0D0D"/>
                </a:solidFill>
                <a:effectLst/>
                <a:highlight>
                  <a:srgbClr val="FFFFFF"/>
                </a:highlight>
                <a:latin typeface="ui-sans-serif"/>
              </a:rPr>
              <a:t>that help teams </a:t>
            </a:r>
            <a:r>
              <a:rPr lang="en-US" sz="2400" b="0" i="0" dirty="0">
                <a:solidFill>
                  <a:srgbClr val="FF0000"/>
                </a:solidFill>
                <a:effectLst/>
                <a:highlight>
                  <a:srgbClr val="FFFFFF"/>
                </a:highlight>
                <a:latin typeface="ui-sans-serif"/>
              </a:rPr>
              <a:t>plan, build, test, deploy, and manage software efficiently</a:t>
            </a:r>
            <a:r>
              <a:rPr lang="en-US" sz="2400" b="0" i="0" dirty="0">
                <a:solidFill>
                  <a:srgbClr val="0D0D0D"/>
                </a:solidFill>
                <a:effectLst/>
                <a:highlight>
                  <a:srgbClr val="FFFFFF"/>
                </a:highlight>
                <a:latin typeface="ui-sans-serif"/>
              </a:rPr>
              <a:t>. It’s like building and maintaining a house, where each stage ensures the final product is reliable, efficient, and meets users’ needs. This </a:t>
            </a:r>
            <a:r>
              <a:rPr lang="en-US" sz="2400" b="0" i="0" dirty="0">
                <a:solidFill>
                  <a:srgbClr val="FF0000"/>
                </a:solidFill>
                <a:effectLst/>
                <a:highlight>
                  <a:srgbClr val="FFFFFF"/>
                </a:highlight>
                <a:latin typeface="ui-sans-serif"/>
              </a:rPr>
              <a:t>continuous process</a:t>
            </a:r>
            <a:r>
              <a:rPr lang="en-US" sz="2400" b="0" i="0" dirty="0">
                <a:solidFill>
                  <a:srgbClr val="0D0D0D"/>
                </a:solidFill>
                <a:effectLst/>
                <a:highlight>
                  <a:srgbClr val="FFFFFF"/>
                </a:highlight>
                <a:latin typeface="ui-sans-serif"/>
              </a:rPr>
              <a:t> helps in delivering high-quality software quickly and effectively.</a:t>
            </a:r>
            <a:endParaRPr lang="en-US" sz="4800" b="0" i="0" dirty="0">
              <a:solidFill>
                <a:srgbClr val="0D0D0D"/>
              </a:solidFill>
              <a:effectLst/>
              <a:highlight>
                <a:srgbClr val="FFFFFF"/>
              </a:highlight>
              <a:latin typeface="ui-sans-serif"/>
            </a:endParaRP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1420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3FE2C194-CF7C-6284-0A3A-CAB67E5F2BD6}"/>
              </a:ext>
            </a:extLst>
          </p:cNvPr>
          <p:cNvSpPr txBox="1"/>
          <p:nvPr/>
        </p:nvSpPr>
        <p:spPr>
          <a:xfrm>
            <a:off x="117613" y="533400"/>
            <a:ext cx="1433213" cy="470000"/>
          </a:xfrm>
          <a:prstGeom prst="rect">
            <a:avLst/>
          </a:prstGeom>
          <a:solidFill>
            <a:srgbClr val="C00000"/>
          </a:solidFill>
        </p:spPr>
        <p:txBody>
          <a:bodyPr wrap="none" rtlCol="0">
            <a:spAutoFit/>
          </a:bodyPr>
          <a:lstStyle/>
          <a:p>
            <a:r>
              <a:rPr lang="en-US" b="1" dirty="0">
                <a:solidFill>
                  <a:schemeClr val="bg1"/>
                </a:solidFill>
              </a:rPr>
              <a:t>Summary</a:t>
            </a:r>
          </a:p>
        </p:txBody>
      </p:sp>
      <p:pic>
        <p:nvPicPr>
          <p:cNvPr id="9" name="Picture 2">
            <a:extLst>
              <a:ext uri="{FF2B5EF4-FFF2-40B4-BE49-F238E27FC236}">
                <a16:creationId xmlns:a16="http://schemas.microsoft.com/office/drawing/2014/main" id="{5D170775-B6D9-0099-A048-56B918B17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866" y="3170742"/>
            <a:ext cx="7053263" cy="3522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490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93307</TotalTime>
  <Words>715</Words>
  <Application>Microsoft Office PowerPoint</Application>
  <PresentationFormat>Widescreen</PresentationFormat>
  <Paragraphs>47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dc:creator>
  <cp:lastModifiedBy>Ramesh N</cp:lastModifiedBy>
  <cp:revision>10109</cp:revision>
  <dcterms:created xsi:type="dcterms:W3CDTF">2006-08-16T00:00:00Z</dcterms:created>
  <dcterms:modified xsi:type="dcterms:W3CDTF">2024-06-16T05:18:37Z</dcterms:modified>
</cp:coreProperties>
</file>