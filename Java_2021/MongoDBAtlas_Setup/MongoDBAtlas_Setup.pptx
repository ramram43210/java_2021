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5"/>
  </p:notesMasterIdLst>
  <p:sldIdLst>
    <p:sldId id="484" r:id="rId2"/>
    <p:sldId id="491" r:id="rId3"/>
    <p:sldId id="492" r:id="rId4"/>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E4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37" autoAdjust="0"/>
    <p:restoredTop sz="94291" autoAdjust="0"/>
  </p:normalViewPr>
  <p:slideViewPr>
    <p:cSldViewPr>
      <p:cViewPr varScale="1">
        <p:scale>
          <a:sx n="71" d="100"/>
          <a:sy n="71" d="100"/>
        </p:scale>
        <p:origin x="1248" y="96"/>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5/29/2024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194965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663397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3</a:t>
            </a:fld>
            <a:endParaRPr lang="en-US" dirty="0"/>
          </a:p>
        </p:txBody>
      </p:sp>
    </p:spTree>
    <p:extLst>
      <p:ext uri="{BB962C8B-B14F-4D97-AF65-F5344CB8AC3E}">
        <p14:creationId xmlns:p14="http://schemas.microsoft.com/office/powerpoint/2010/main" val="2992127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5/29/2024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ongodb.com/cloud/atlas/register"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285750" indent="-285750">
              <a:buFont typeface="Wingdings" panose="05000000000000000000" pitchFamily="2" charset="2"/>
              <a:buChar char="ü"/>
            </a:pPr>
            <a:endParaRPr lang="en-US" sz="14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342900" indent="-342900">
              <a:buFont typeface="Wingdings" panose="05000000000000000000" pitchFamily="2" charset="2"/>
              <a:buChar char="ü"/>
            </a:pPr>
            <a:endParaRPr lang="en-US" sz="2000" dirty="0"/>
          </a:p>
        </p:txBody>
      </p:sp>
      <p:sp>
        <p:nvSpPr>
          <p:cNvPr id="14" name="Rectangle 13"/>
          <p:cNvSpPr/>
          <p:nvPr/>
        </p:nvSpPr>
        <p:spPr>
          <a:xfrm>
            <a:off x="2362200" y="22971"/>
            <a:ext cx="71628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Step-by-Step Guide: Setting Up and Connecting to MongoDB Atlas</a:t>
            </a:r>
          </a:p>
        </p:txBody>
      </p:sp>
      <p:sp>
        <p:nvSpPr>
          <p:cNvPr id="4" name="Rectangle 3">
            <a:extLst>
              <a:ext uri="{FF2B5EF4-FFF2-40B4-BE49-F238E27FC236}">
                <a16:creationId xmlns:a16="http://schemas.microsoft.com/office/drawing/2014/main" id="{ABB8C522-D963-285C-470F-F85F571E6428}"/>
              </a:ext>
            </a:extLst>
          </p:cNvPr>
          <p:cNvSpPr/>
          <p:nvPr/>
        </p:nvSpPr>
        <p:spPr>
          <a:xfrm>
            <a:off x="207436" y="626282"/>
            <a:ext cx="11832164" cy="5926918"/>
          </a:xfrm>
          <a:prstGeom prst="rect">
            <a:avLst/>
          </a:prstGeom>
          <a:solidFill>
            <a:schemeClr val="accent6">
              <a:lumMod val="20000"/>
              <a:lumOff val="80000"/>
            </a:schemeClr>
          </a:solidFill>
          <a:ln>
            <a:solidFill>
              <a:schemeClr val="bg1"/>
            </a:solidFill>
          </a:ln>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r>
              <a:rPr lang="en-US" sz="2400" dirty="0">
                <a:solidFill>
                  <a:srgbClr val="C00000"/>
                </a:solidFill>
              </a:rPr>
              <a:t>MongoDB Atlas </a:t>
            </a:r>
            <a:r>
              <a:rPr lang="en-US" sz="2400" dirty="0"/>
              <a:t>is a </a:t>
            </a:r>
            <a:r>
              <a:rPr lang="en-US" sz="2400" dirty="0">
                <a:solidFill>
                  <a:srgbClr val="C00000"/>
                </a:solidFill>
              </a:rPr>
              <a:t>cloud-based service </a:t>
            </a:r>
            <a:r>
              <a:rPr lang="en-US" sz="2400" dirty="0"/>
              <a:t>for using </a:t>
            </a:r>
            <a:r>
              <a:rPr lang="en-US" sz="2400" dirty="0">
                <a:solidFill>
                  <a:srgbClr val="C00000"/>
                </a:solidFill>
              </a:rPr>
              <a:t>MongoDB</a:t>
            </a:r>
            <a:r>
              <a:rPr lang="en-US" sz="2400" dirty="0"/>
              <a:t>, a popular </a:t>
            </a:r>
            <a:r>
              <a:rPr lang="en-US" sz="2400" dirty="0">
                <a:solidFill>
                  <a:srgbClr val="C00000"/>
                </a:solidFill>
              </a:rPr>
              <a:t>NoSQL database</a:t>
            </a:r>
            <a:r>
              <a:rPr lang="en-US" sz="2400" dirty="0"/>
              <a:t>. Here's a breakdown of setting up </a:t>
            </a:r>
            <a:r>
              <a:rPr lang="en-US" sz="2400" dirty="0">
                <a:solidFill>
                  <a:srgbClr val="C00000"/>
                </a:solidFill>
              </a:rPr>
              <a:t>MongoDB Atlas</a:t>
            </a:r>
            <a:r>
              <a:rPr lang="en-US" sz="2400" dirty="0"/>
              <a:t>:</a:t>
            </a:r>
            <a:br>
              <a:rPr lang="en-US" sz="2400" dirty="0"/>
            </a:br>
            <a:endParaRPr lang="en-US" sz="2400" dirty="0"/>
          </a:p>
          <a:p>
            <a:r>
              <a:rPr lang="en-US" sz="2400" b="1" dirty="0">
                <a:solidFill>
                  <a:schemeClr val="accent6">
                    <a:lumMod val="50000"/>
                  </a:schemeClr>
                </a:solidFill>
              </a:rPr>
              <a:t>1</a:t>
            </a:r>
            <a:r>
              <a:rPr lang="en-US" sz="2400" b="1" dirty="0"/>
              <a:t>. </a:t>
            </a:r>
            <a:r>
              <a:rPr lang="en-US" sz="2400" b="1" dirty="0">
                <a:solidFill>
                  <a:schemeClr val="accent6">
                    <a:lumMod val="50000"/>
                  </a:schemeClr>
                </a:solidFill>
              </a:rPr>
              <a:t>Create a Free Tier Account:</a:t>
            </a:r>
            <a:br>
              <a:rPr lang="en-US" sz="2400" b="1" dirty="0"/>
            </a:br>
            <a:endParaRPr lang="en-US" sz="2400" dirty="0"/>
          </a:p>
          <a:p>
            <a:r>
              <a:rPr lang="en-US" sz="2400" dirty="0"/>
              <a:t>             Head to the MongoDB Atlas registration page. </a:t>
            </a:r>
            <a:r>
              <a:rPr lang="en-US" sz="2400" dirty="0">
                <a:hlinkClick r:id="rId3"/>
              </a:rPr>
              <a:t>https://www.mongodb.com/cloud/atlas/register</a:t>
            </a:r>
            <a:r>
              <a:rPr lang="en-US" sz="2400" dirty="0"/>
              <a:t>. You can use your Google account or email address to sign up.</a:t>
            </a:r>
            <a:br>
              <a:rPr lang="en-US" sz="2400" dirty="0"/>
            </a:br>
            <a:endParaRPr lang="en-US" sz="2400" dirty="0"/>
          </a:p>
          <a:p>
            <a:r>
              <a:rPr lang="en-US" sz="2400" b="1" dirty="0">
                <a:solidFill>
                  <a:schemeClr val="accent6">
                    <a:lumMod val="50000"/>
                  </a:schemeClr>
                </a:solidFill>
              </a:rPr>
              <a:t>2. Deploy a Free Cluster:</a:t>
            </a:r>
            <a:br>
              <a:rPr lang="en-US" sz="2400" b="1" dirty="0">
                <a:solidFill>
                  <a:schemeClr val="accent6">
                    <a:lumMod val="50000"/>
                  </a:schemeClr>
                </a:solidFill>
              </a:rPr>
            </a:br>
            <a:endParaRPr lang="en-US" sz="2400" b="1" dirty="0">
              <a:solidFill>
                <a:schemeClr val="accent6">
                  <a:lumMod val="50000"/>
                </a:schemeClr>
              </a:solidFill>
            </a:endParaRPr>
          </a:p>
          <a:p>
            <a:r>
              <a:rPr lang="en-US" sz="2400" dirty="0"/>
              <a:t>             Once logged in, you'll be prompted to build your first </a:t>
            </a:r>
            <a:r>
              <a:rPr lang="en-US" sz="2400" dirty="0">
                <a:solidFill>
                  <a:srgbClr val="C00000"/>
                </a:solidFill>
              </a:rPr>
              <a:t>cluster</a:t>
            </a:r>
            <a:r>
              <a:rPr lang="en-US" sz="2400" dirty="0"/>
              <a:t>. A </a:t>
            </a:r>
            <a:r>
              <a:rPr lang="en-US" sz="2400" dirty="0">
                <a:solidFill>
                  <a:srgbClr val="C00000"/>
                </a:solidFill>
              </a:rPr>
              <a:t>cluster</a:t>
            </a:r>
            <a:r>
              <a:rPr lang="en-US" sz="2400" dirty="0"/>
              <a:t> is a </a:t>
            </a:r>
            <a:r>
              <a:rPr lang="en-US" sz="2400" dirty="0">
                <a:solidFill>
                  <a:srgbClr val="C00000"/>
                </a:solidFill>
              </a:rPr>
              <a:t>group of MongoDB servers </a:t>
            </a:r>
            <a:r>
              <a:rPr lang="en-US" sz="2400" dirty="0"/>
              <a:t>working together. Choose a </a:t>
            </a:r>
            <a:r>
              <a:rPr lang="en-US" sz="2400" dirty="0">
                <a:solidFill>
                  <a:srgbClr val="C00000"/>
                </a:solidFill>
              </a:rPr>
              <a:t>cloud provider </a:t>
            </a:r>
            <a:r>
              <a:rPr lang="en-US" sz="2400" dirty="0"/>
              <a:t>(like Amazon Web Services or Google Cloud Platform) and a </a:t>
            </a:r>
            <a:r>
              <a:rPr lang="en-US" sz="2400" dirty="0">
                <a:solidFill>
                  <a:srgbClr val="C00000"/>
                </a:solidFill>
              </a:rPr>
              <a:t>region</a:t>
            </a:r>
            <a:r>
              <a:rPr lang="en-US" sz="2400" dirty="0"/>
              <a:t> (where your data will be stored). The free tier offers limited resources but is great for getting started.</a:t>
            </a:r>
          </a:p>
        </p:txBody>
      </p:sp>
    </p:spTree>
    <p:extLst>
      <p:ext uri="{BB962C8B-B14F-4D97-AF65-F5344CB8AC3E}">
        <p14:creationId xmlns:p14="http://schemas.microsoft.com/office/powerpoint/2010/main" val="41756304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285750" indent="-285750">
              <a:buFont typeface="Wingdings" panose="05000000000000000000" pitchFamily="2" charset="2"/>
              <a:buChar char="ü"/>
            </a:pPr>
            <a:endParaRPr lang="en-US" sz="14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342900" indent="-342900">
              <a:buFont typeface="Wingdings" panose="05000000000000000000" pitchFamily="2" charset="2"/>
              <a:buChar char="ü"/>
            </a:pPr>
            <a:endParaRPr lang="en-US" sz="2000" dirty="0"/>
          </a:p>
        </p:txBody>
      </p:sp>
      <p:sp>
        <p:nvSpPr>
          <p:cNvPr id="14" name="Rectangle 13"/>
          <p:cNvSpPr/>
          <p:nvPr/>
        </p:nvSpPr>
        <p:spPr>
          <a:xfrm>
            <a:off x="2362200" y="22971"/>
            <a:ext cx="71628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Step-by-Step Guide: Setting Up and Connecting to MongoDB Atlas</a:t>
            </a:r>
          </a:p>
        </p:txBody>
      </p:sp>
      <p:sp>
        <p:nvSpPr>
          <p:cNvPr id="4" name="Rectangle 3">
            <a:extLst>
              <a:ext uri="{FF2B5EF4-FFF2-40B4-BE49-F238E27FC236}">
                <a16:creationId xmlns:a16="http://schemas.microsoft.com/office/drawing/2014/main" id="{ABB8C522-D963-285C-470F-F85F571E6428}"/>
              </a:ext>
            </a:extLst>
          </p:cNvPr>
          <p:cNvSpPr/>
          <p:nvPr/>
        </p:nvSpPr>
        <p:spPr>
          <a:xfrm>
            <a:off x="240254" y="626282"/>
            <a:ext cx="11734800" cy="6074819"/>
          </a:xfrm>
          <a:prstGeom prst="rect">
            <a:avLst/>
          </a:prstGeom>
          <a:solidFill>
            <a:schemeClr val="accent6">
              <a:lumMod val="20000"/>
              <a:lumOff val="80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r>
              <a:rPr lang="en-US" sz="2400" b="1" dirty="0">
                <a:solidFill>
                  <a:schemeClr val="accent6">
                    <a:lumMod val="50000"/>
                  </a:schemeClr>
                </a:solidFill>
              </a:rPr>
              <a:t>3. Configure Security:</a:t>
            </a:r>
            <a:br>
              <a:rPr lang="en-US" sz="2400" b="1" dirty="0"/>
            </a:br>
            <a:endParaRPr lang="en-US" sz="2400" dirty="0"/>
          </a:p>
          <a:p>
            <a:pPr marL="342900" indent="-342900">
              <a:buFont typeface="Wingdings" panose="05000000000000000000" pitchFamily="2" charset="2"/>
              <a:buChar char="ü"/>
            </a:pPr>
            <a:r>
              <a:rPr lang="en-US" sz="2400" b="1" dirty="0"/>
              <a:t>Whitelist your IP:</a:t>
            </a:r>
            <a:r>
              <a:rPr lang="en-US" sz="2400" dirty="0"/>
              <a:t> By default, MongoDB Atlas only accepts connections from your computer's IP address. You'll find instructions for whitelisting your IP in the Atlas interface. This step helps secure your database by only allowing connections from authorized sources.</a:t>
            </a:r>
            <a:br>
              <a:rPr lang="en-US" sz="2400" dirty="0"/>
            </a:br>
            <a:endParaRPr lang="en-US" sz="2400" dirty="0"/>
          </a:p>
          <a:p>
            <a:pPr marL="342900" indent="-342900">
              <a:buFont typeface="Wingdings" panose="05000000000000000000" pitchFamily="2" charset="2"/>
              <a:buChar char="ü"/>
            </a:pPr>
            <a:r>
              <a:rPr lang="en-US" sz="2400" b="1" dirty="0"/>
              <a:t>Create a Database User:</a:t>
            </a:r>
            <a:r>
              <a:rPr lang="en-US" sz="2400" dirty="0"/>
              <a:t> Don't connect to your Atlas cluster with your main account credentials. Create a separate user with a strong password specifically for database access.</a:t>
            </a:r>
            <a:br>
              <a:rPr lang="en-US" sz="2400" dirty="0"/>
            </a:br>
            <a:endParaRPr lang="en-US" sz="2400" dirty="0"/>
          </a:p>
          <a:p>
            <a:r>
              <a:rPr lang="en-US" sz="2400" b="1" dirty="0">
                <a:solidFill>
                  <a:schemeClr val="accent6">
                    <a:lumMod val="50000"/>
                  </a:schemeClr>
                </a:solidFill>
              </a:rPr>
              <a:t>4. Connect to Your Cluster:</a:t>
            </a:r>
            <a:br>
              <a:rPr lang="en-US" sz="2400" b="1" dirty="0">
                <a:solidFill>
                  <a:schemeClr val="accent6">
                    <a:lumMod val="50000"/>
                  </a:schemeClr>
                </a:solidFill>
              </a:rPr>
            </a:br>
            <a:endParaRPr lang="en-US" sz="2400" b="1" dirty="0">
              <a:solidFill>
                <a:schemeClr val="accent6">
                  <a:lumMod val="50000"/>
                </a:schemeClr>
              </a:solidFill>
            </a:endParaRPr>
          </a:p>
          <a:p>
            <a:r>
              <a:rPr lang="en-US" sz="2400" dirty="0"/>
              <a:t>              Atlas provides various methods for connecting to your cluster, including the mongo shell, a command-line tool for interacting with MongoDB. You can find instructions and download links for the mongo shell based on your operating system within the Atlas interface.</a:t>
            </a:r>
          </a:p>
        </p:txBody>
      </p:sp>
    </p:spTree>
    <p:extLst>
      <p:ext uri="{BB962C8B-B14F-4D97-AF65-F5344CB8AC3E}">
        <p14:creationId xmlns:p14="http://schemas.microsoft.com/office/powerpoint/2010/main" val="3494610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285750" indent="-285750">
              <a:buFont typeface="Wingdings" panose="05000000000000000000" pitchFamily="2" charset="2"/>
              <a:buChar char="ü"/>
            </a:pPr>
            <a:endParaRPr lang="en-US" sz="14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342900" indent="-342900">
              <a:buFont typeface="Wingdings" panose="05000000000000000000" pitchFamily="2" charset="2"/>
              <a:buChar char="ü"/>
            </a:pPr>
            <a:endParaRPr lang="en-US" sz="2000" dirty="0"/>
          </a:p>
        </p:txBody>
      </p:sp>
      <p:sp>
        <p:nvSpPr>
          <p:cNvPr id="14" name="Rectangle 13"/>
          <p:cNvSpPr/>
          <p:nvPr/>
        </p:nvSpPr>
        <p:spPr>
          <a:xfrm>
            <a:off x="2362200" y="22971"/>
            <a:ext cx="71628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Step-by-Step Guide: Setting Up and Connecting to MongoDB Atlas</a:t>
            </a:r>
          </a:p>
        </p:txBody>
      </p:sp>
      <p:sp>
        <p:nvSpPr>
          <p:cNvPr id="4" name="Rectangle 3">
            <a:extLst>
              <a:ext uri="{FF2B5EF4-FFF2-40B4-BE49-F238E27FC236}">
                <a16:creationId xmlns:a16="http://schemas.microsoft.com/office/drawing/2014/main" id="{ABB8C522-D963-285C-470F-F85F571E6428}"/>
              </a:ext>
            </a:extLst>
          </p:cNvPr>
          <p:cNvSpPr/>
          <p:nvPr/>
        </p:nvSpPr>
        <p:spPr>
          <a:xfrm>
            <a:off x="304800" y="2438400"/>
            <a:ext cx="11734800" cy="2057400"/>
          </a:xfrm>
          <a:prstGeom prst="rect">
            <a:avLst/>
          </a:prstGeom>
          <a:solidFill>
            <a:schemeClr val="accent6">
              <a:lumMod val="20000"/>
              <a:lumOff val="80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r>
              <a:rPr lang="en-US" sz="2400" b="1" dirty="0">
                <a:solidFill>
                  <a:schemeClr val="accent6">
                    <a:lumMod val="50000"/>
                  </a:schemeClr>
                </a:solidFill>
              </a:rPr>
              <a:t>5. Explore and Test:</a:t>
            </a:r>
          </a:p>
          <a:p>
            <a:endParaRPr lang="en-US" sz="2400" dirty="0">
              <a:solidFill>
                <a:schemeClr val="accent6">
                  <a:lumMod val="50000"/>
                </a:schemeClr>
              </a:solidFill>
            </a:endParaRPr>
          </a:p>
          <a:p>
            <a:r>
              <a:rPr lang="en-US" sz="2400" dirty="0"/>
              <a:t>                  Once connected, you can start inserting and viewing data in your MongoDB database. Atlas also offers features for loading sample data and generating synthetic data for testing purposes.</a:t>
            </a:r>
          </a:p>
        </p:txBody>
      </p:sp>
    </p:spTree>
    <p:extLst>
      <p:ext uri="{BB962C8B-B14F-4D97-AF65-F5344CB8AC3E}">
        <p14:creationId xmlns:p14="http://schemas.microsoft.com/office/powerpoint/2010/main" val="375566807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91703</TotalTime>
  <Words>348</Words>
  <Application>Microsoft Office PowerPoint</Application>
  <PresentationFormat>Widescreen</PresentationFormat>
  <Paragraphs>19</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Wingdings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10025</cp:revision>
  <dcterms:created xsi:type="dcterms:W3CDTF">2006-08-16T00:00:00Z</dcterms:created>
  <dcterms:modified xsi:type="dcterms:W3CDTF">2024-05-29T04:48:57Z</dcterms:modified>
</cp:coreProperties>
</file>