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2"/>
  </p:notesMasterIdLst>
  <p:sldIdLst>
    <p:sldId id="478" r:id="rId2"/>
    <p:sldId id="479" r:id="rId3"/>
    <p:sldId id="480" r:id="rId4"/>
    <p:sldId id="481" r:id="rId5"/>
    <p:sldId id="482" r:id="rId6"/>
    <p:sldId id="483" r:id="rId7"/>
    <p:sldId id="484" r:id="rId8"/>
    <p:sldId id="485" r:id="rId9"/>
    <p:sldId id="486" r:id="rId10"/>
    <p:sldId id="487" r:id="rId11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DA"/>
    <a:srgbClr val="004620"/>
    <a:srgbClr val="E0ABAA"/>
    <a:srgbClr val="AF423F"/>
    <a:srgbClr val="FFCE33"/>
    <a:srgbClr val="CC9B00"/>
    <a:srgbClr val="005C2A"/>
    <a:srgbClr val="2AE456"/>
    <a:srgbClr val="FF505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6/18/2024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8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530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13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81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70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33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151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21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83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42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52400" y="533400"/>
            <a:ext cx="357553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DevOps Lifecycle?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214427E1-A554-EF99-7C5B-793EF1A0574E}"/>
              </a:ext>
            </a:extLst>
          </p:cNvPr>
          <p:cNvSpPr/>
          <p:nvPr/>
        </p:nvSpPr>
        <p:spPr>
          <a:xfrm>
            <a:off x="117613" y="1104452"/>
            <a:ext cx="11921987" cy="149639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	Imagine you’re running a kitchen in a busy restaurant. To keep things running smoothly, you need good communication, efficient processes, and the right tools. </a:t>
            </a:r>
            <a:r>
              <a:rPr lang="en-US" sz="2400" dirty="0">
                <a:solidFill>
                  <a:srgbClr val="C00000"/>
                </a:solidFill>
              </a:rPr>
              <a:t>The DevOps lifecycle in software development is a lot like running that kitchen.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98E3CF-CD5E-8F3A-577A-C7952B8D0396}"/>
              </a:ext>
            </a:extLst>
          </p:cNvPr>
          <p:cNvSpPr/>
          <p:nvPr/>
        </p:nvSpPr>
        <p:spPr>
          <a:xfrm>
            <a:off x="2995134" y="64044"/>
            <a:ext cx="6019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DevOps Lifecycle? Easy Guide for Everyone</a:t>
            </a:r>
          </a:p>
        </p:txBody>
      </p:sp>
      <p:pic>
        <p:nvPicPr>
          <p:cNvPr id="1028" name="Picture 4" descr="What is DevOps? The Ultimate Guide - 2023">
            <a:extLst>
              <a:ext uri="{FF2B5EF4-FFF2-40B4-BE49-F238E27FC236}">
                <a16:creationId xmlns:a16="http://schemas.microsoft.com/office/drawing/2014/main" id="{B3B6DDD2-1A06-C3DB-9688-D6DCF3522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162" y="2917199"/>
            <a:ext cx="7391400" cy="371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40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 is DevOps? The Ultimate Guide - 2023">
            <a:extLst>
              <a:ext uri="{FF2B5EF4-FFF2-40B4-BE49-F238E27FC236}">
                <a16:creationId xmlns:a16="http://schemas.microsoft.com/office/drawing/2014/main" id="{235AB88F-C0A5-4FA9-9399-E4038A3CB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09" y="3320281"/>
            <a:ext cx="6847191" cy="344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4746" y="696392"/>
            <a:ext cx="11758653" cy="2046808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1. Plan: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</a:t>
            </a:r>
            <a:r>
              <a:rPr lang="en-US" sz="2000" dirty="0">
                <a:solidFill>
                  <a:schemeClr val="tx1"/>
                </a:solidFill>
              </a:rPr>
              <a:t>: Like planning your menu and deciding what dishes you’ll serve.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In software</a:t>
            </a:r>
            <a:r>
              <a:rPr lang="en-US" sz="2000" dirty="0">
                <a:solidFill>
                  <a:schemeClr val="tx1"/>
                </a:solidFill>
              </a:rPr>
              <a:t>: Developers and operations teams plan the features and updates needed for the software.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638800" y="2743200"/>
            <a:ext cx="445273" cy="1447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F395BD2-0269-C8E6-0F79-1AC1B5BF60E4}"/>
              </a:ext>
            </a:extLst>
          </p:cNvPr>
          <p:cNvSpPr/>
          <p:nvPr/>
        </p:nvSpPr>
        <p:spPr>
          <a:xfrm>
            <a:off x="2995134" y="64044"/>
            <a:ext cx="6019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DevOps Lifecycle? Easy Guide for Everyone</a:t>
            </a:r>
          </a:p>
        </p:txBody>
      </p:sp>
    </p:spTree>
    <p:extLst>
      <p:ext uri="{BB962C8B-B14F-4D97-AF65-F5344CB8AC3E}">
        <p14:creationId xmlns:p14="http://schemas.microsoft.com/office/powerpoint/2010/main" val="129027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hat is DevOps? The Ultimate Guide - 2023">
            <a:extLst>
              <a:ext uri="{FF2B5EF4-FFF2-40B4-BE49-F238E27FC236}">
                <a16:creationId xmlns:a16="http://schemas.microsoft.com/office/drawing/2014/main" id="{656B55C2-A8F9-D492-15B7-6B8B01631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09" y="3320281"/>
            <a:ext cx="6847191" cy="344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2. Code: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</a:t>
            </a:r>
            <a:r>
              <a:rPr lang="en-US" sz="2000" dirty="0">
                <a:solidFill>
                  <a:schemeClr val="tx1"/>
                </a:solidFill>
              </a:rPr>
              <a:t>: Similar to writing down recipes and instructions for each dish.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In software</a:t>
            </a:r>
            <a:r>
              <a:rPr lang="en-US" sz="2000" dirty="0">
                <a:solidFill>
                  <a:schemeClr val="tx1"/>
                </a:solidFill>
              </a:rPr>
              <a:t>: Developers write the code for the new features or updates.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4495800" y="2743200"/>
            <a:ext cx="941918" cy="838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3D1178F-77AF-02BA-B4AD-9BA1A84488DA}"/>
              </a:ext>
            </a:extLst>
          </p:cNvPr>
          <p:cNvSpPr/>
          <p:nvPr/>
        </p:nvSpPr>
        <p:spPr>
          <a:xfrm>
            <a:off x="2995134" y="64044"/>
            <a:ext cx="6019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DevOps Lifecycle? Easy Guide for Everyone</a:t>
            </a:r>
          </a:p>
        </p:txBody>
      </p:sp>
    </p:spTree>
    <p:extLst>
      <p:ext uri="{BB962C8B-B14F-4D97-AF65-F5344CB8AC3E}">
        <p14:creationId xmlns:p14="http://schemas.microsoft.com/office/powerpoint/2010/main" val="392591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 is DevOps? The Ultimate Guide - 2023">
            <a:extLst>
              <a:ext uri="{FF2B5EF4-FFF2-40B4-BE49-F238E27FC236}">
                <a16:creationId xmlns:a16="http://schemas.microsoft.com/office/drawing/2014/main" id="{6D5D78F1-FBD3-B754-908A-570C38F1E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09" y="3320281"/>
            <a:ext cx="6847191" cy="344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351608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3. Build</a:t>
            </a:r>
            <a:r>
              <a:rPr lang="en-US" sz="3200" dirty="0">
                <a:solidFill>
                  <a:srgbClr val="C00000"/>
                </a:solidFill>
              </a:rPr>
              <a:t>:</a:t>
            </a:r>
            <a:br>
              <a:rPr lang="en-US" sz="3200" dirty="0">
                <a:solidFill>
                  <a:srgbClr val="C00000"/>
                </a:solidFill>
              </a:rPr>
            </a:br>
            <a:endParaRPr lang="en-US" sz="32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</a:t>
            </a:r>
            <a:r>
              <a:rPr lang="en-US" sz="2000" dirty="0">
                <a:solidFill>
                  <a:schemeClr val="tx1"/>
                </a:solidFill>
              </a:rPr>
              <a:t>: Like gathering all the ingredients and preparing them for cooking.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In software</a:t>
            </a:r>
            <a:r>
              <a:rPr lang="en-US" sz="2000" dirty="0">
                <a:solidFill>
                  <a:schemeClr val="tx1"/>
                </a:solidFill>
              </a:rPr>
              <a:t>: The code is compiled and assembled into a build (a version of the software that can be tested and used).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1828800" y="3048000"/>
            <a:ext cx="1166334" cy="1311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BD17AE6-7129-0E09-23EE-B180B47FC687}"/>
              </a:ext>
            </a:extLst>
          </p:cNvPr>
          <p:cNvSpPr/>
          <p:nvPr/>
        </p:nvSpPr>
        <p:spPr>
          <a:xfrm>
            <a:off x="2995134" y="64044"/>
            <a:ext cx="6019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DevOps Lifecycle? Easy Guide for Everyone</a:t>
            </a:r>
          </a:p>
        </p:txBody>
      </p:sp>
    </p:spTree>
    <p:extLst>
      <p:ext uri="{BB962C8B-B14F-4D97-AF65-F5344CB8AC3E}">
        <p14:creationId xmlns:p14="http://schemas.microsoft.com/office/powerpoint/2010/main" val="229100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 is DevOps? The Ultimate Guide - 2023">
            <a:extLst>
              <a:ext uri="{FF2B5EF4-FFF2-40B4-BE49-F238E27FC236}">
                <a16:creationId xmlns:a16="http://schemas.microsoft.com/office/drawing/2014/main" id="{6F91B297-CF95-80CC-9852-3A0E2BA77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09" y="3320281"/>
            <a:ext cx="6847191" cy="344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1"/>
            <a:ext cx="11832163" cy="2449725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4. Test</a:t>
            </a:r>
            <a:r>
              <a:rPr lang="en-US" sz="3200" dirty="0">
                <a:solidFill>
                  <a:srgbClr val="C00000"/>
                </a:solidFill>
              </a:rPr>
              <a:t>: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</a:t>
            </a:r>
            <a:r>
              <a:rPr lang="en-US" sz="2000" dirty="0">
                <a:solidFill>
                  <a:schemeClr val="tx1"/>
                </a:solidFill>
              </a:rPr>
              <a:t>: Similar to taste-testing dishes to ensure they’re good before serving them to customers.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In software</a:t>
            </a:r>
            <a:r>
              <a:rPr lang="en-US" sz="2000" dirty="0">
                <a:solidFill>
                  <a:schemeClr val="tx1"/>
                </a:solidFill>
              </a:rPr>
              <a:t>: The build is tested to find and fix bugs and ensure it works correctly.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1905000" y="3146116"/>
            <a:ext cx="2565400" cy="2797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DC537DB-CD0F-CE8C-6472-EEDFAA538074}"/>
              </a:ext>
            </a:extLst>
          </p:cNvPr>
          <p:cNvSpPr/>
          <p:nvPr/>
        </p:nvSpPr>
        <p:spPr>
          <a:xfrm>
            <a:off x="2995134" y="64044"/>
            <a:ext cx="6019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DevOps Lifecycle? Easy Guide for Everyone</a:t>
            </a:r>
          </a:p>
        </p:txBody>
      </p:sp>
    </p:spTree>
    <p:extLst>
      <p:ext uri="{BB962C8B-B14F-4D97-AF65-F5344CB8AC3E}">
        <p14:creationId xmlns:p14="http://schemas.microsoft.com/office/powerpoint/2010/main" val="111748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 is DevOps? The Ultimate Guide - 2023">
            <a:extLst>
              <a:ext uri="{FF2B5EF4-FFF2-40B4-BE49-F238E27FC236}">
                <a16:creationId xmlns:a16="http://schemas.microsoft.com/office/drawing/2014/main" id="{68672F3B-71E8-B866-8FFD-FECDB2792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09" y="3320281"/>
            <a:ext cx="6847191" cy="344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5. Release</a:t>
            </a:r>
            <a:r>
              <a:rPr lang="en-US" sz="3200" dirty="0">
                <a:solidFill>
                  <a:srgbClr val="C00000"/>
                </a:solidFill>
              </a:rPr>
              <a:t>: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</a:t>
            </a:r>
            <a:r>
              <a:rPr lang="en-US" sz="2000" dirty="0">
                <a:solidFill>
                  <a:schemeClr val="tx1"/>
                </a:solidFill>
              </a:rPr>
              <a:t>: Like putting the finished dishes on the serving line, ready to be taken to customers.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In software</a:t>
            </a:r>
            <a:r>
              <a:rPr lang="en-US" sz="2000" dirty="0">
                <a:solidFill>
                  <a:schemeClr val="tx1"/>
                </a:solidFill>
              </a:rPr>
              <a:t>: The tested build is deployed to a production environment where it can be used by end-users.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5453704" y="2743200"/>
            <a:ext cx="794696" cy="1981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654A81-FED8-94F3-A4F3-E08AA0775644}"/>
              </a:ext>
            </a:extLst>
          </p:cNvPr>
          <p:cNvSpPr/>
          <p:nvPr/>
        </p:nvSpPr>
        <p:spPr>
          <a:xfrm>
            <a:off x="2995134" y="64044"/>
            <a:ext cx="6019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DevOps Lifecycle? Easy Guide for Everyone</a:t>
            </a:r>
          </a:p>
        </p:txBody>
      </p:sp>
    </p:spTree>
    <p:extLst>
      <p:ext uri="{BB962C8B-B14F-4D97-AF65-F5344CB8AC3E}">
        <p14:creationId xmlns:p14="http://schemas.microsoft.com/office/powerpoint/2010/main" val="213973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 is DevOps? The Ultimate Guide - 2023">
            <a:extLst>
              <a:ext uri="{FF2B5EF4-FFF2-40B4-BE49-F238E27FC236}">
                <a16:creationId xmlns:a16="http://schemas.microsoft.com/office/drawing/2014/main" id="{F0E541C4-42E1-1FD3-58B4-44B82DDF3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09" y="3320281"/>
            <a:ext cx="6847191" cy="344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6. Deploy: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</a:t>
            </a:r>
            <a:r>
              <a:rPr lang="en-US" sz="2000" dirty="0">
                <a:solidFill>
                  <a:schemeClr val="tx1"/>
                </a:solidFill>
              </a:rPr>
              <a:t>: Serving the dishes to customers.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In software</a:t>
            </a:r>
            <a:r>
              <a:rPr lang="en-US" sz="2000" dirty="0">
                <a:solidFill>
                  <a:schemeClr val="tx1"/>
                </a:solidFill>
              </a:rPr>
              <a:t>: The new release is made available to users, and the software is updated.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6934200" y="2743200"/>
            <a:ext cx="533400" cy="914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E89A12D-2198-E89D-267A-FD1E2B0094C8}"/>
              </a:ext>
            </a:extLst>
          </p:cNvPr>
          <p:cNvSpPr/>
          <p:nvPr/>
        </p:nvSpPr>
        <p:spPr>
          <a:xfrm>
            <a:off x="2995134" y="64044"/>
            <a:ext cx="6019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DevOps Lifecycle? Easy Guide for Everyone</a:t>
            </a:r>
          </a:p>
        </p:txBody>
      </p:sp>
    </p:spTree>
    <p:extLst>
      <p:ext uri="{BB962C8B-B14F-4D97-AF65-F5344CB8AC3E}">
        <p14:creationId xmlns:p14="http://schemas.microsoft.com/office/powerpoint/2010/main" val="333311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 is DevOps? The Ultimate Guide - 2023">
            <a:extLst>
              <a:ext uri="{FF2B5EF4-FFF2-40B4-BE49-F238E27FC236}">
                <a16:creationId xmlns:a16="http://schemas.microsoft.com/office/drawing/2014/main" id="{83B17588-FFAC-425A-5C54-831040783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09" y="3320281"/>
            <a:ext cx="6847191" cy="344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7. Operate</a:t>
            </a:r>
            <a:r>
              <a:rPr lang="en-US" sz="3200" dirty="0">
                <a:solidFill>
                  <a:srgbClr val="C00000"/>
                </a:solidFill>
              </a:rPr>
              <a:t>: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</a:t>
            </a:r>
            <a:r>
              <a:rPr lang="en-US" sz="2000" dirty="0">
                <a:solidFill>
                  <a:schemeClr val="tx1"/>
                </a:solidFill>
              </a:rPr>
              <a:t>: Managing the kitchen during service, making sure everything runs smoothly.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In software</a:t>
            </a:r>
            <a:r>
              <a:rPr lang="en-US" sz="2000" dirty="0">
                <a:solidFill>
                  <a:schemeClr val="tx1"/>
                </a:solidFill>
              </a:rPr>
              <a:t>: The software is monitored to ensure it’s running smoothly, and any issues are addressed quickly.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9067800" y="2727960"/>
            <a:ext cx="1219200" cy="192024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3BACD28-BB24-51D5-0277-BFB70332368B}"/>
              </a:ext>
            </a:extLst>
          </p:cNvPr>
          <p:cNvSpPr/>
          <p:nvPr/>
        </p:nvSpPr>
        <p:spPr>
          <a:xfrm>
            <a:off x="2995134" y="64044"/>
            <a:ext cx="6019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DevOps Lifecycle? Easy Guide for Everyone</a:t>
            </a:r>
          </a:p>
        </p:txBody>
      </p:sp>
    </p:spTree>
    <p:extLst>
      <p:ext uri="{BB962C8B-B14F-4D97-AF65-F5344CB8AC3E}">
        <p14:creationId xmlns:p14="http://schemas.microsoft.com/office/powerpoint/2010/main" val="77968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 is DevOps? The Ultimate Guide - 2023">
            <a:extLst>
              <a:ext uri="{FF2B5EF4-FFF2-40B4-BE49-F238E27FC236}">
                <a16:creationId xmlns:a16="http://schemas.microsoft.com/office/drawing/2014/main" id="{934376E1-C6CA-031C-FBA3-F8047CDD8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09" y="3320281"/>
            <a:ext cx="6847191" cy="344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123008"/>
          </a:xfrm>
          <a:prstGeom prst="flowChartAlternateProcess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8. Monitor</a:t>
            </a:r>
            <a:r>
              <a:rPr lang="en-US" sz="3200" dirty="0">
                <a:solidFill>
                  <a:srgbClr val="C00000"/>
                </a:solidFill>
              </a:rPr>
              <a:t>: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</a:t>
            </a:r>
            <a:r>
              <a:rPr lang="en-US" sz="2000" dirty="0">
                <a:solidFill>
                  <a:schemeClr val="tx1"/>
                </a:solidFill>
              </a:rPr>
              <a:t>: Keeping an eye on the dining area, listening to customer feedback, and ensuring they’re happy.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In software</a:t>
            </a:r>
            <a:r>
              <a:rPr lang="en-US" sz="2000" dirty="0">
                <a:solidFill>
                  <a:schemeClr val="tx1"/>
                </a:solidFill>
              </a:rPr>
              <a:t>: Continuous monitoring of the software’s performance and user feedback to identify any issues or areas for improvement.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7924800" y="2819400"/>
            <a:ext cx="1665591" cy="312420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4D9A056-C6CC-B1CC-DFE4-84349FBC936F}"/>
              </a:ext>
            </a:extLst>
          </p:cNvPr>
          <p:cNvSpPr/>
          <p:nvPr/>
        </p:nvSpPr>
        <p:spPr>
          <a:xfrm>
            <a:off x="2995134" y="64044"/>
            <a:ext cx="6019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DevOps Lifecycle? Easy Guide for Everyone</a:t>
            </a:r>
          </a:p>
        </p:txBody>
      </p:sp>
    </p:spTree>
    <p:extLst>
      <p:ext uri="{BB962C8B-B14F-4D97-AF65-F5344CB8AC3E}">
        <p14:creationId xmlns:p14="http://schemas.microsoft.com/office/powerpoint/2010/main" val="412321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179918" y="914400"/>
            <a:ext cx="11832163" cy="5257800"/>
          </a:xfrm>
          <a:prstGeom prst="flowChartAlternateProcess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Why DevOps?</a:t>
            </a:r>
            <a:br>
              <a:rPr lang="en-US" sz="2400" b="1" dirty="0">
                <a:solidFill>
                  <a:schemeClr val="tx1"/>
                </a:solidFill>
              </a:rPr>
            </a:br>
            <a:endParaRPr lang="en-US" sz="2400" b="1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000" dirty="0">
                <a:solidFill>
                  <a:schemeClr val="tx1"/>
                </a:solidFill>
              </a:rPr>
              <a:t>Just like in a busy restaurant, where chefs, waitstaff, and managers need to work together seamlessly, DevOps ensures that software development and operations teams collaborate effectively. This collaboration helps in delivering high-quality software quickly and reliably.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By following the DevOps lifecycle, companies can:</a:t>
            </a:r>
          </a:p>
          <a:p>
            <a:pPr marL="966338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</a:rPr>
              <a:t>Deliver updates and new features faster.</a:t>
            </a:r>
          </a:p>
          <a:p>
            <a:pPr marL="966338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</a:rPr>
              <a:t>Improve the quality and reliability of their software.</a:t>
            </a:r>
          </a:p>
          <a:p>
            <a:pPr marL="966338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</a:rPr>
              <a:t>Respond quickly to user feedback and issues.</a:t>
            </a:r>
          </a:p>
          <a:p>
            <a:pPr marL="966338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</a:rPr>
              <a:t>Ensure better communication and collaboration between teams.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So, the DevOps lifecycle is all about continuous improvement and efficient teamwork, just like running a successful kitchen in a restaurant.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EEAFDB-3EA6-D06C-0AFB-8B1AEB4AEB80}"/>
              </a:ext>
            </a:extLst>
          </p:cNvPr>
          <p:cNvSpPr/>
          <p:nvPr/>
        </p:nvSpPr>
        <p:spPr>
          <a:xfrm>
            <a:off x="2995134" y="64044"/>
            <a:ext cx="6019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DevOps Lifecycle? Easy Guide for Everyone</a:t>
            </a:r>
          </a:p>
        </p:txBody>
      </p:sp>
    </p:spTree>
    <p:extLst>
      <p:ext uri="{BB962C8B-B14F-4D97-AF65-F5344CB8AC3E}">
        <p14:creationId xmlns:p14="http://schemas.microsoft.com/office/powerpoint/2010/main" val="40534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93379</TotalTime>
  <Words>601</Words>
  <Application>Microsoft Office PowerPoint</Application>
  <PresentationFormat>Widescreen</PresentationFormat>
  <Paragraphs>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10169</cp:revision>
  <dcterms:created xsi:type="dcterms:W3CDTF">2006-08-16T00:00:00Z</dcterms:created>
  <dcterms:modified xsi:type="dcterms:W3CDTF">2024-06-18T08:07:27Z</dcterms:modified>
</cp:coreProperties>
</file>