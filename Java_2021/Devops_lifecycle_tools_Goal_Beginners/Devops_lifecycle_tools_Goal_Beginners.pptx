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3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91" r:id="rId12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DA"/>
    <a:srgbClr val="004620"/>
    <a:srgbClr val="E0ABAA"/>
    <a:srgbClr val="AF423F"/>
    <a:srgbClr val="FFCE33"/>
    <a:srgbClr val="CC9B00"/>
    <a:srgbClr val="005C2A"/>
    <a:srgbClr val="2AE456"/>
    <a:srgbClr val="FF5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86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1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1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5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2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27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7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410635" y="576221"/>
            <a:ext cx="357553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 Lifecycle?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14427E1-A554-EF99-7C5B-793EF1A0574E}"/>
              </a:ext>
            </a:extLst>
          </p:cNvPr>
          <p:cNvSpPr/>
          <p:nvPr/>
        </p:nvSpPr>
        <p:spPr>
          <a:xfrm>
            <a:off x="117613" y="1104451"/>
            <a:ext cx="11921987" cy="2055341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dirty="0">
                <a:solidFill>
                  <a:srgbClr val="C00000"/>
                </a:solidFill>
              </a:rPr>
              <a:t>DevOps lifecycle </a:t>
            </a:r>
            <a:r>
              <a:rPr lang="en-US" sz="2000" dirty="0">
                <a:solidFill>
                  <a:schemeClr val="tx1"/>
                </a:solidFill>
              </a:rPr>
              <a:t>is a </a:t>
            </a:r>
            <a:r>
              <a:rPr lang="en-US" sz="2000" dirty="0">
                <a:solidFill>
                  <a:srgbClr val="C00000"/>
                </a:solidFill>
              </a:rPr>
              <a:t>series of stages </a:t>
            </a:r>
            <a:r>
              <a:rPr lang="en-US" sz="2000" dirty="0">
                <a:solidFill>
                  <a:schemeClr val="tx1"/>
                </a:solidFill>
              </a:rPr>
              <a:t>that </a:t>
            </a:r>
            <a:r>
              <a:rPr lang="en-US" sz="2000" dirty="0">
                <a:solidFill>
                  <a:srgbClr val="C00000"/>
                </a:solidFill>
              </a:rPr>
              <a:t>software development and IT operations teams follow to develop, deploy, and manage applications more efficiently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</a:rPr>
              <a:t>DevOps combines "Development" and "Operations" </a:t>
            </a:r>
            <a:r>
              <a:rPr lang="en-US" sz="2000" dirty="0">
                <a:solidFill>
                  <a:schemeClr val="tx1"/>
                </a:solidFill>
              </a:rPr>
              <a:t>to create a culture and set of practices that improve collaboration and productivity by automating and integrating the processes between software development and IT teams.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8E3CF-CD5E-8F3A-577A-C7952B8D0396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584F5CE-EAC3-EA8A-1D9D-2793C2F22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040B6A12-CEA9-1CD6-4004-EDAB29228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5643" y="702205"/>
            <a:ext cx="1175865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1. Planning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Teams define the requirements, goals, and tasks for the project.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Jira, Trello, Asana.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Establish a clear roadmap and ensure everyone understands the project's scope and objectives.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791200" y="2749013"/>
            <a:ext cx="293770" cy="15943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AB9ABDD-018A-1DA5-4CF4-54EB62018E50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6ABF78B-E839-6F33-6025-F0020EFA6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2. Coding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Developers write the code for the application.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Git, GitHub, GitLab.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Create high-quality code that meets the requirements set during the planning stage.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4648200" y="2705548"/>
            <a:ext cx="941918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AC11A5D-7778-6A8F-A23A-B90769289017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59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6A9A717-9BC2-7218-23B8-5689356DB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3. Building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The written code is compiled and converted into executable files or binaries.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Maven, Gradle, Jenkins.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Ensure that the code compiles correctly and is ready for the next stages.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1378618" y="2757544"/>
            <a:ext cx="1364582" cy="19668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0A58096-C197-8CE5-75AC-910852FDE751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10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59B7772D-34E4-5A80-D919-F378615CB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4. Testing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The application is rigorously tested to find and fix bugs.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Selenium, JUnit, TestNG.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Identify any issues early in the lifecycle to ensure a stable and reliable product.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743200"/>
            <a:ext cx="2286000" cy="3276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A187952-04EE-0D6D-8BA4-B3D45501A5CE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74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CF68A96D-1A39-C612-E7FC-E9A834149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5. Releasing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The application is packaged and prepared for deployment.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Jenkins, Bamboo, </a:t>
            </a:r>
            <a:r>
              <a:rPr lang="en-US" sz="2000" dirty="0" err="1">
                <a:solidFill>
                  <a:schemeClr val="tx1"/>
                </a:solidFill>
              </a:rPr>
              <a:t>CircleCI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Ensure the application is ready for deployment to production environments.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5105400" y="2743200"/>
            <a:ext cx="990600" cy="1600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573290B-7CA5-E69D-6093-107907CCF9B6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973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81C2806-6EE0-446A-DC9D-D7E692D92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6. Deploying: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The application is deployed to a production environment.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Kubernetes, Docker, AWS, Azure.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Make the application available to end-users with minimal downtime.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6934200" y="2743200"/>
            <a:ext cx="533400" cy="762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837062B-8A3B-AD75-FCA1-869179020F5E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311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ED0B97A-29EF-65DF-6E21-9626B35AA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7. Operating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The application runs in the production environment, and users interact with it.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Datadog, New Relic, Nagios.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Monitor the application's performance and ensure it runs smoothly.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9067800" y="2727960"/>
            <a:ext cx="1219200" cy="19202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2AD4AE0-C916-7E07-45F5-00655E6490EC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96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E3E047DA-B0F0-222F-51A1-EF0E8A4C3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435" y="3429000"/>
            <a:ext cx="6615113" cy="33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696392"/>
            <a:ext cx="11832163" cy="2046808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C00000"/>
                </a:solidFill>
              </a:rPr>
              <a:t>8. Monitoring</a:t>
            </a:r>
            <a:r>
              <a:rPr lang="en-US" sz="2800" dirty="0">
                <a:solidFill>
                  <a:srgbClr val="C00000"/>
                </a:solidFill>
              </a:rPr>
              <a:t>: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What Happens</a:t>
            </a:r>
            <a:r>
              <a:rPr lang="en-US" sz="2000" dirty="0">
                <a:solidFill>
                  <a:schemeClr val="tx1"/>
                </a:solidFill>
              </a:rPr>
              <a:t>: Continuous monitoring of the application’s performance and user activity.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Tools Used</a:t>
            </a:r>
            <a:r>
              <a:rPr lang="en-US" sz="2000" dirty="0">
                <a:solidFill>
                  <a:schemeClr val="tx1"/>
                </a:solidFill>
              </a:rPr>
              <a:t>: Prometheus, Grafana, ELK Stack.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chemeClr val="tx1"/>
                </a:solidFill>
              </a:rPr>
              <a:t>Goal</a:t>
            </a:r>
            <a:r>
              <a:rPr lang="en-US" sz="2000" dirty="0">
                <a:solidFill>
                  <a:schemeClr val="tx1"/>
                </a:solidFill>
              </a:rPr>
              <a:t>: Gather data to identify any issues and areas for improvement.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7467600" y="2727960"/>
            <a:ext cx="2819400" cy="32918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FF8C077-3445-190D-7A87-36F9ACCA86CE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32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966404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29541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179917" y="2329784"/>
            <a:ext cx="11832163" cy="3080416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Increased Collaboration</a:t>
            </a:r>
            <a:r>
              <a:rPr lang="en-US" sz="2000" dirty="0">
                <a:solidFill>
                  <a:schemeClr val="tx1"/>
                </a:solidFill>
              </a:rPr>
              <a:t>: DevOps encourages better communication between development and operations teams.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Faster Time to Market</a:t>
            </a:r>
            <a:r>
              <a:rPr lang="en-US" sz="2000" dirty="0">
                <a:solidFill>
                  <a:schemeClr val="tx1"/>
                </a:solidFill>
              </a:rPr>
              <a:t>: Automation and continuous integration/continuous deployment (CI/CD) pipelines speed up the release process.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Improved Quality</a:t>
            </a:r>
            <a:r>
              <a:rPr lang="en-US" sz="2000" dirty="0">
                <a:solidFill>
                  <a:schemeClr val="tx1"/>
                </a:solidFill>
              </a:rPr>
              <a:t>: Continuous testing and monitoring ensure higher quality and more reliable software.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</a:rPr>
              <a:t>Enhanced Flexibility</a:t>
            </a:r>
            <a:r>
              <a:rPr lang="en-US" sz="2000" dirty="0">
                <a:solidFill>
                  <a:schemeClr val="tx1"/>
                </a:solidFill>
              </a:rPr>
              <a:t>: DevOps practices allow teams to adapt quickly to changes and new requirements.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DD94-1E91-CF94-6E46-4DAFB28AE7B1}"/>
              </a:ext>
            </a:extLst>
          </p:cNvPr>
          <p:cNvSpPr txBox="1"/>
          <p:nvPr/>
        </p:nvSpPr>
        <p:spPr>
          <a:xfrm>
            <a:off x="817035" y="1825416"/>
            <a:ext cx="4358437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Benefits of the DevOps Lifecycle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B4B882-7B80-A75C-BC6B-FE08B16A79F1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34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88952" y="3061218"/>
            <a:ext cx="11832163" cy="1507380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	The </a:t>
            </a:r>
            <a:r>
              <a:rPr lang="en-US" sz="2400" dirty="0">
                <a:solidFill>
                  <a:srgbClr val="C00000"/>
                </a:solidFill>
              </a:rPr>
              <a:t>DevOps lifecycle </a:t>
            </a:r>
            <a:r>
              <a:rPr lang="en-US" sz="2400" dirty="0">
                <a:solidFill>
                  <a:schemeClr val="tx1"/>
                </a:solidFill>
              </a:rPr>
              <a:t>is a </a:t>
            </a:r>
            <a:r>
              <a:rPr lang="en-US" sz="2400" dirty="0">
                <a:solidFill>
                  <a:srgbClr val="C00000"/>
                </a:solidFill>
              </a:rPr>
              <a:t>structured approach </a:t>
            </a:r>
            <a:r>
              <a:rPr lang="en-US" sz="2400" dirty="0">
                <a:solidFill>
                  <a:schemeClr val="tx1"/>
                </a:solidFill>
              </a:rPr>
              <a:t>to </a:t>
            </a:r>
            <a:r>
              <a:rPr lang="en-US" sz="2400" dirty="0">
                <a:solidFill>
                  <a:srgbClr val="C00000"/>
                </a:solidFill>
              </a:rPr>
              <a:t>software development </a:t>
            </a:r>
            <a:r>
              <a:rPr lang="en-US" sz="2400" dirty="0">
                <a:solidFill>
                  <a:schemeClr val="tx1"/>
                </a:solidFill>
              </a:rPr>
              <a:t>that emphasizes </a:t>
            </a:r>
            <a:r>
              <a:rPr lang="en-US" sz="2400" dirty="0">
                <a:solidFill>
                  <a:srgbClr val="C00000"/>
                </a:solidFill>
              </a:rPr>
              <a:t>collaboration, automation, and continuous improvement</a:t>
            </a:r>
            <a:r>
              <a:rPr lang="en-US" sz="2400" dirty="0">
                <a:solidFill>
                  <a:schemeClr val="tx1"/>
                </a:solidFill>
              </a:rPr>
              <a:t>. By following these stages, teams can deliver better software faster and more efficiently.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D67E2-57D2-CF64-FB41-766C84C65D98}"/>
              </a:ext>
            </a:extLst>
          </p:cNvPr>
          <p:cNvSpPr txBox="1"/>
          <p:nvPr/>
        </p:nvSpPr>
        <p:spPr>
          <a:xfrm>
            <a:off x="410635" y="2544709"/>
            <a:ext cx="160653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187BDC-5342-3674-B22B-070DE9D3CF9C}"/>
              </a:ext>
            </a:extLst>
          </p:cNvPr>
          <p:cNvSpPr/>
          <p:nvPr/>
        </p:nvSpPr>
        <p:spPr>
          <a:xfrm>
            <a:off x="3491983" y="58714"/>
            <a:ext cx="5208033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DevOps Lifecycle Explained: A Beginner's Guide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58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93472</TotalTime>
  <Words>608</Words>
  <Application>Microsoft Office PowerPoint</Application>
  <PresentationFormat>Widescreen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10183</cp:revision>
  <dcterms:created xsi:type="dcterms:W3CDTF">2006-08-16T00:00:00Z</dcterms:created>
  <dcterms:modified xsi:type="dcterms:W3CDTF">2024-06-25T08:21:32Z</dcterms:modified>
</cp:coreProperties>
</file>