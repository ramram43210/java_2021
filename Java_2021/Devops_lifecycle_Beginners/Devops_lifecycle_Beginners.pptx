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72" r:id="rId1"/>
  </p:sldMasterIdLst>
  <p:notesMasterIdLst>
    <p:notesMasterId r:id="rId13"/>
  </p:notesMasterIdLst>
  <p:sldIdLst>
    <p:sldId id="478" r:id="rId2"/>
    <p:sldId id="479" r:id="rId3"/>
    <p:sldId id="480" r:id="rId4"/>
    <p:sldId id="481" r:id="rId5"/>
    <p:sldId id="482" r:id="rId6"/>
    <p:sldId id="483" r:id="rId7"/>
    <p:sldId id="484" r:id="rId8"/>
    <p:sldId id="485" r:id="rId9"/>
    <p:sldId id="486" r:id="rId10"/>
    <p:sldId id="487" r:id="rId11"/>
    <p:sldId id="491" r:id="rId12"/>
  </p:sldIdLst>
  <p:sldSz cx="12192000" cy="6858000"/>
  <p:notesSz cx="6858000" cy="9144000"/>
  <p:defaultTextStyle>
    <a:defPPr>
      <a:defRPr lang="en-US"/>
    </a:defPPr>
    <a:lvl1pPr marL="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245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DA"/>
    <a:srgbClr val="004620"/>
    <a:srgbClr val="E0ABAA"/>
    <a:srgbClr val="AF423F"/>
    <a:srgbClr val="FFCE33"/>
    <a:srgbClr val="CC9B00"/>
    <a:srgbClr val="005C2A"/>
    <a:srgbClr val="2AE456"/>
    <a:srgbClr val="FF5050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37" autoAdjust="0"/>
    <p:restoredTop sz="94291" autoAdjust="0"/>
  </p:normalViewPr>
  <p:slideViewPr>
    <p:cSldViewPr>
      <p:cViewPr varScale="1">
        <p:scale>
          <a:sx n="71" d="100"/>
          <a:sy n="71" d="100"/>
        </p:scale>
        <p:origin x="1248" y="91"/>
      </p:cViewPr>
      <p:guideLst>
        <p:guide orient="horz" pos="2161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-2838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274EC6-3890-417B-9308-14EFBD00FA63}" type="datetimeFigureOut">
              <a:rPr lang="en-US" smtClean="0"/>
              <a:t>6/19/2024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83C400-BD9D-4609-A213-F91E975003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1783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1pPr>
    <a:lvl2pPr marL="62343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2pPr>
    <a:lvl3pPr marL="1246876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3pPr>
    <a:lvl4pPr marL="1870314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4pPr>
    <a:lvl5pPr marL="2493752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5pPr>
    <a:lvl6pPr marL="3117190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6pPr>
    <a:lvl7pPr marL="3740628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7pPr>
    <a:lvl8pPr marL="4364065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8pPr>
    <a:lvl9pPr marL="4987503" algn="l" defTabSz="1246876" rtl="0" eaLnBrk="1" latinLnBrk="0" hangingPunct="1">
      <a:defRPr sz="16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3848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5300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813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8102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709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2330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151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0218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838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7427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83C400-BD9D-4609-A213-F91E9750031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673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86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918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6" y="440691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6" y="2906724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6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4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1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12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9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75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5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492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2" y="1173164"/>
            <a:ext cx="5384800" cy="3319462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10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3" y="1535120"/>
            <a:ext cx="5386919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3" y="2174882"/>
            <a:ext cx="5386919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7" y="1535120"/>
            <a:ext cx="5389035" cy="639762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2" indent="0">
              <a:buNone/>
              <a:defRPr sz="2667" b="1"/>
            </a:lvl2pPr>
            <a:lvl3pPr marL="1219165" indent="0">
              <a:buNone/>
              <a:defRPr sz="2400" b="1"/>
            </a:lvl3pPr>
            <a:lvl4pPr marL="1828747" indent="0">
              <a:buNone/>
              <a:defRPr sz="2133" b="1"/>
            </a:lvl4pPr>
            <a:lvl5pPr marL="2438331" indent="0">
              <a:buNone/>
              <a:defRPr sz="2133" b="1"/>
            </a:lvl5pPr>
            <a:lvl6pPr marL="3047912" indent="0">
              <a:buNone/>
              <a:defRPr sz="2133" b="1"/>
            </a:lvl6pPr>
            <a:lvl7pPr marL="3657494" indent="0">
              <a:buNone/>
              <a:defRPr sz="2133" b="1"/>
            </a:lvl7pPr>
            <a:lvl8pPr marL="4267075" indent="0">
              <a:buNone/>
              <a:defRPr sz="2133" b="1"/>
            </a:lvl8pPr>
            <a:lvl9pPr marL="4876659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7" y="2174882"/>
            <a:ext cx="5389035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22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635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5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10" y="273050"/>
            <a:ext cx="4011086" cy="1162050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6" y="273061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5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10" y="1435111"/>
            <a:ext cx="4011086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5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2" indent="0">
              <a:buNone/>
              <a:defRPr sz="3735"/>
            </a:lvl2pPr>
            <a:lvl3pPr marL="1219165" indent="0">
              <a:buNone/>
              <a:defRPr sz="3200"/>
            </a:lvl3pPr>
            <a:lvl4pPr marL="1828747" indent="0">
              <a:buNone/>
              <a:defRPr sz="2667"/>
            </a:lvl4pPr>
            <a:lvl5pPr marL="2438331" indent="0">
              <a:buNone/>
              <a:defRPr sz="2667"/>
            </a:lvl5pPr>
            <a:lvl6pPr marL="3047912" indent="0">
              <a:buNone/>
              <a:defRPr sz="2667"/>
            </a:lvl6pPr>
            <a:lvl7pPr marL="3657494" indent="0">
              <a:buNone/>
              <a:defRPr sz="2667"/>
            </a:lvl7pPr>
            <a:lvl8pPr marL="4267075" indent="0">
              <a:buNone/>
              <a:defRPr sz="2667"/>
            </a:lvl8pPr>
            <a:lvl9pPr marL="4876659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867"/>
            </a:lvl1pPr>
            <a:lvl2pPr marL="609582" indent="0">
              <a:buNone/>
              <a:defRPr sz="1600"/>
            </a:lvl2pPr>
            <a:lvl3pPr marL="1219165" indent="0">
              <a:buNone/>
              <a:defRPr sz="1335"/>
            </a:lvl3pPr>
            <a:lvl4pPr marL="1828747" indent="0">
              <a:buNone/>
              <a:defRPr sz="1200"/>
            </a:lvl4pPr>
            <a:lvl5pPr marL="2438331" indent="0">
              <a:buNone/>
              <a:defRPr sz="1200"/>
            </a:lvl5pPr>
            <a:lvl6pPr marL="3047912" indent="0">
              <a:buNone/>
              <a:defRPr sz="1200"/>
            </a:lvl6pPr>
            <a:lvl7pPr marL="3657494" indent="0">
              <a:buNone/>
              <a:defRPr sz="1200"/>
            </a:lvl7pPr>
            <a:lvl8pPr marL="4267075" indent="0">
              <a:buNone/>
              <a:defRPr sz="1200"/>
            </a:lvl8pPr>
            <a:lvl9pPr marL="4876659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650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2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01614"/>
            <a:ext cx="2743200" cy="42910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2" y="201614"/>
            <a:ext cx="8026400" cy="42910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4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2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4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499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ctr" defTabSz="1219165" rtl="0" eaLnBrk="1" latinLnBrk="0" hangingPunct="1">
        <a:spcBef>
          <a:spcPct val="0"/>
        </a:spcBef>
        <a:buNone/>
        <a:defRPr sz="58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8" indent="-457188" algn="l" defTabSz="1219165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2" indent="-380990" algn="l" defTabSz="1219165" rtl="0" eaLnBrk="1" latinLnBrk="0" hangingPunct="1">
        <a:spcBef>
          <a:spcPct val="20000"/>
        </a:spcBef>
        <a:buFont typeface="Arial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3955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39" indent="-304792" algn="l" defTabSz="1219165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21" indent="-304792" algn="l" defTabSz="1219165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04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86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67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51" indent="-304792" algn="l" defTabSz="1219165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6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47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1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12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94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75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59" algn="l" defTabSz="12191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260598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58961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2C194-CF7C-6284-0A3A-CAB67E5F2BD6}"/>
              </a:ext>
            </a:extLst>
          </p:cNvPr>
          <p:cNvSpPr txBox="1"/>
          <p:nvPr/>
        </p:nvSpPr>
        <p:spPr>
          <a:xfrm>
            <a:off x="117613" y="702201"/>
            <a:ext cx="3575531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What is DevOps Lifecycle?</a:t>
            </a:r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214427E1-A554-EF99-7C5B-793EF1A0574E}"/>
              </a:ext>
            </a:extLst>
          </p:cNvPr>
          <p:cNvSpPr/>
          <p:nvPr/>
        </p:nvSpPr>
        <p:spPr>
          <a:xfrm>
            <a:off x="117613" y="1273253"/>
            <a:ext cx="11921987" cy="1359496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The </a:t>
            </a:r>
            <a:r>
              <a:rPr lang="en-US" sz="2400" dirty="0">
                <a:solidFill>
                  <a:srgbClr val="C00000"/>
                </a:solidFill>
              </a:rPr>
              <a:t>DevOps lifecycle </a:t>
            </a:r>
            <a:r>
              <a:rPr lang="en-US" sz="2400" dirty="0">
                <a:solidFill>
                  <a:schemeClr val="tx1"/>
                </a:solidFill>
              </a:rPr>
              <a:t>is a </a:t>
            </a:r>
            <a:r>
              <a:rPr lang="en-US" sz="2400" dirty="0">
                <a:solidFill>
                  <a:srgbClr val="C00000"/>
                </a:solidFill>
              </a:rPr>
              <a:t>series of stages </a:t>
            </a:r>
            <a:r>
              <a:rPr lang="en-US" sz="2400" dirty="0">
                <a:solidFill>
                  <a:schemeClr val="tx1"/>
                </a:solidFill>
              </a:rPr>
              <a:t>that help </a:t>
            </a:r>
            <a:r>
              <a:rPr lang="en-US" sz="2400" dirty="0">
                <a:solidFill>
                  <a:srgbClr val="C00000"/>
                </a:solidFill>
              </a:rPr>
              <a:t>software development and </a:t>
            </a:r>
          </a:p>
          <a:p>
            <a:r>
              <a:rPr lang="en-US" sz="2400" dirty="0">
                <a:solidFill>
                  <a:srgbClr val="C00000"/>
                </a:solidFill>
              </a:rPr>
              <a:t>IT operations teams work together</a:t>
            </a:r>
            <a:r>
              <a:rPr lang="en-US" sz="2400" dirty="0">
                <a:solidFill>
                  <a:schemeClr val="tx1"/>
                </a:solidFill>
              </a:rPr>
              <a:t> to create, test, and release software more quickly and reliably.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98E3CF-CD5E-8F3A-577A-C7952B8D0396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  <p:pic>
        <p:nvPicPr>
          <p:cNvPr id="1026" name="Picture 2" descr="What is DevOps? The Ultimate Guide - 2023">
            <a:extLst>
              <a:ext uri="{FF2B5EF4-FFF2-40B4-BE49-F238E27FC236}">
                <a16:creationId xmlns:a16="http://schemas.microsoft.com/office/drawing/2014/main" id="{E546DE64-BD1F-0C35-957F-06497BDCC5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355" y="3200400"/>
            <a:ext cx="6469290" cy="3255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70404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What is DevOps? The Ultimate Guide - 2023">
            <a:extLst>
              <a:ext uri="{FF2B5EF4-FFF2-40B4-BE49-F238E27FC236}">
                <a16:creationId xmlns:a16="http://schemas.microsoft.com/office/drawing/2014/main" id="{E841C107-4B3A-C5B8-02A0-B6BBC2787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609" y="3161227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95782" y="998802"/>
            <a:ext cx="11758653" cy="1453613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1. Planning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This is where it all starts. Teams come together to brainstorm and decide </a:t>
            </a:r>
            <a:r>
              <a:rPr lang="en-US" sz="2400" dirty="0">
                <a:solidFill>
                  <a:srgbClr val="C00000"/>
                </a:solidFill>
              </a:rPr>
              <a:t>what features or updates </a:t>
            </a:r>
            <a:r>
              <a:rPr lang="en-US" sz="2400" dirty="0">
                <a:solidFill>
                  <a:schemeClr val="tx1"/>
                </a:solidFill>
              </a:rPr>
              <a:t>they want to add to the software. They create a </a:t>
            </a:r>
            <a:r>
              <a:rPr lang="en-US" sz="2400" dirty="0">
                <a:solidFill>
                  <a:srgbClr val="C00000"/>
                </a:solidFill>
              </a:rPr>
              <a:t>roadmap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and</a:t>
            </a:r>
            <a:r>
              <a:rPr lang="en-US" sz="2400" dirty="0">
                <a:solidFill>
                  <a:schemeClr val="tx1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set goals</a:t>
            </a:r>
            <a:r>
              <a:rPr lang="en-US" sz="2400" dirty="0">
                <a:solidFill>
                  <a:schemeClr val="tx1"/>
                </a:solidFill>
              </a:rPr>
              <a:t> for what needs to be accomplished.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791200" y="2452415"/>
            <a:ext cx="283909" cy="16623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660B5576-9948-D002-27FD-4F5B21D5FA36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1290274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DDC16C7E-521E-D467-571C-66DD573FF5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130013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710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39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14400"/>
            <a:ext cx="11832163" cy="1447800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2. Coding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In this stage, </a:t>
            </a:r>
            <a:r>
              <a:rPr lang="en-US" sz="2400" dirty="0">
                <a:solidFill>
                  <a:srgbClr val="C00000"/>
                </a:solidFill>
              </a:rPr>
              <a:t>developers write the code </a:t>
            </a:r>
            <a:r>
              <a:rPr lang="en-US" sz="2400" dirty="0">
                <a:solidFill>
                  <a:schemeClr val="tx1"/>
                </a:solidFill>
              </a:rPr>
              <a:t>for the new features or updates. They use programming languages to create the functionality that was planned in the previous stage.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4724400" y="2362200"/>
            <a:ext cx="1399118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D443F78-B860-520B-42A3-093722040332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392591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4549DD76-2FF9-DD50-DEE5-59DA443A40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25252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806036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35048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14400"/>
            <a:ext cx="11832163" cy="1548852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3. Building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Once the code is written, it needs to be </a:t>
            </a:r>
            <a:r>
              <a:rPr lang="en-US" sz="2400" dirty="0">
                <a:solidFill>
                  <a:srgbClr val="C00000"/>
                </a:solidFill>
              </a:rPr>
              <a:t>combined and compiled into a format that can be executed by a computer</a:t>
            </a:r>
            <a:r>
              <a:rPr lang="en-US" sz="2400" dirty="0">
                <a:solidFill>
                  <a:schemeClr val="tx1"/>
                </a:solidFill>
              </a:rPr>
              <a:t>. This stage involves integrating different pieces of code and ensuring they work together.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457439"/>
            <a:ext cx="1143000" cy="1905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E217C16-CA1A-A206-00E8-BED2223340A4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2291008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D87E5038-8B4A-4EA8-1AA1-18E06515E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91411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872195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2012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1057803"/>
            <a:ext cx="11832163" cy="1465794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4. Testing: </a:t>
            </a:r>
            <a:r>
              <a:rPr lang="en-US" sz="2400" dirty="0">
                <a:solidFill>
                  <a:schemeClr val="tx1"/>
                </a:solidFill>
              </a:rPr>
              <a:t>Testing is crucial to ensure the </a:t>
            </a:r>
            <a:r>
              <a:rPr lang="en-US" sz="2400" dirty="0">
                <a:solidFill>
                  <a:srgbClr val="C00000"/>
                </a:solidFill>
              </a:rPr>
              <a:t>software works correctly and is free of bugs.</a:t>
            </a:r>
            <a:r>
              <a:rPr lang="en-US" sz="2400" dirty="0">
                <a:solidFill>
                  <a:schemeClr val="tx1"/>
                </a:solidFill>
              </a:rPr>
              <a:t> Automated tests are run to quickly find and fix any issues. This helps maintain the quality of the software.</a:t>
            </a:r>
            <a:endParaRPr lang="en-US" sz="4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2057400" y="2523598"/>
            <a:ext cx="2667000" cy="341840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BD4B4310-36F2-43D3-7A1D-09367BFB4302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1117482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D673A18D-4DEF-6A30-4CD6-DA88306794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25253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80603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35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14400"/>
            <a:ext cx="11832163" cy="1543039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5. Releasing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After the software passes all tests, it's ready to be released. This stage involves </a:t>
            </a:r>
            <a:r>
              <a:rPr lang="en-US" sz="2400" dirty="0">
                <a:solidFill>
                  <a:srgbClr val="C00000"/>
                </a:solidFill>
              </a:rPr>
              <a:t>deploying the software to a production environment </a:t>
            </a:r>
            <a:r>
              <a:rPr lang="en-US" sz="2400" dirty="0">
                <a:solidFill>
                  <a:schemeClr val="tx1"/>
                </a:solidFill>
              </a:rPr>
              <a:t>where it can be accessed by users</a:t>
            </a:r>
            <a:r>
              <a:rPr lang="en-US" sz="2800" dirty="0">
                <a:solidFill>
                  <a:schemeClr val="tx1"/>
                </a:solidFill>
              </a:rPr>
              <a:t>.</a:t>
            </a:r>
            <a:endParaRPr lang="en-US" sz="40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5105400" y="2457440"/>
            <a:ext cx="1219200" cy="1981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2B4A1BD0-C5E1-5BD8-9DFA-46C0EE40523A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2139733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99BC8676-7E61-8584-5CBE-FDC2071C3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25253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80603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3504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14400"/>
            <a:ext cx="11832163" cy="1543039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6. Deploying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Deployment involves actually </a:t>
            </a:r>
            <a:r>
              <a:rPr lang="en-US" sz="2400" dirty="0">
                <a:solidFill>
                  <a:srgbClr val="C00000"/>
                </a:solidFill>
              </a:rPr>
              <a:t>putting the new code into the live environment. </a:t>
            </a:r>
            <a:r>
              <a:rPr lang="en-US" sz="2400" dirty="0">
                <a:solidFill>
                  <a:schemeClr val="tx1"/>
                </a:solidFill>
              </a:rPr>
              <a:t>Automation tools help make this process smooth and fast, reducing downtime and errors.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>
            <a:off x="6934200" y="2457440"/>
            <a:ext cx="68580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2E853E8-BCB8-E404-6CD9-0B2376642D85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333311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85F41A37-044F-0207-FEA2-D2C960E21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133813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7145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0436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838200"/>
            <a:ext cx="11832163" cy="1527799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7. Operating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Once deployed, the software is up and running. During this stage, </a:t>
            </a:r>
            <a:r>
              <a:rPr lang="en-US" sz="2400" dirty="0">
                <a:solidFill>
                  <a:srgbClr val="C00000"/>
                </a:solidFill>
              </a:rPr>
              <a:t>the operations team monitors the system to ensure everything is working as expected </a:t>
            </a:r>
            <a:r>
              <a:rPr lang="en-US" sz="2400" dirty="0">
                <a:solidFill>
                  <a:schemeClr val="tx1"/>
                </a:solidFill>
              </a:rPr>
              <a:t>and to manage any issues that arise.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9067800" y="2350760"/>
            <a:ext cx="1219200" cy="1920240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E254D36-CB22-DA22-7667-E91AC0ADF740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779686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0176D769-F8E7-522F-07C6-885A1A0E4A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10013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1790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119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14400"/>
            <a:ext cx="11832163" cy="1527799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8. Monitoring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Continuous monitoring is essential to catch any problems early. </a:t>
            </a:r>
            <a:r>
              <a:rPr lang="en-US" sz="2400" dirty="0">
                <a:solidFill>
                  <a:srgbClr val="C00000"/>
                </a:solidFill>
              </a:rPr>
              <a:t>Tools are used to keep an eye on the software's performance and user experience</a:t>
            </a:r>
            <a:r>
              <a:rPr lang="en-US" sz="2400" dirty="0">
                <a:solidFill>
                  <a:schemeClr val="tx1"/>
                </a:solidFill>
              </a:rPr>
              <a:t>, ensuring any issues are promptly addressed.</a:t>
            </a:r>
            <a:endParaRPr lang="en-US" sz="3600" dirty="0">
              <a:solidFill>
                <a:schemeClr val="tx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F04744-C433-1B10-E473-147B334CE87A}"/>
              </a:ext>
            </a:extLst>
          </p:cNvPr>
          <p:cNvCxnSpPr>
            <a:cxnSpLocks/>
          </p:cNvCxnSpPr>
          <p:nvPr/>
        </p:nvCxnSpPr>
        <p:spPr>
          <a:xfrm flipH="1">
            <a:off x="7848600" y="2426960"/>
            <a:ext cx="2438400" cy="3433648"/>
          </a:xfrm>
          <a:prstGeom prst="straightConnector1">
            <a:avLst/>
          </a:prstGeom>
          <a:ln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F6FB3028-AC62-2B7F-F708-374360B6F709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412321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14035" y="2091797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42080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207436" y="990600"/>
            <a:ext cx="11832163" cy="1507599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3200" b="1" dirty="0">
                <a:solidFill>
                  <a:srgbClr val="C00000"/>
                </a:solidFill>
              </a:rPr>
              <a:t>Feedback</a:t>
            </a:r>
            <a:r>
              <a:rPr lang="en-US" sz="3200" dirty="0">
                <a:solidFill>
                  <a:srgbClr val="C00000"/>
                </a:solidFill>
              </a:rPr>
              <a:t>: </a:t>
            </a:r>
            <a:r>
              <a:rPr lang="en-US" sz="2400" dirty="0">
                <a:solidFill>
                  <a:schemeClr val="tx1"/>
                </a:solidFill>
              </a:rPr>
              <a:t>Finally, </a:t>
            </a:r>
            <a:r>
              <a:rPr lang="en-US" sz="2400" dirty="0">
                <a:solidFill>
                  <a:srgbClr val="C00000"/>
                </a:solidFill>
              </a:rPr>
              <a:t>feedback from users and performance data are gathered </a:t>
            </a:r>
            <a:r>
              <a:rPr lang="en-US" sz="2400" dirty="0">
                <a:solidFill>
                  <a:schemeClr val="tx1"/>
                </a:solidFill>
              </a:rPr>
              <a:t>to understand how well the software is performing and what improvements can be made. This feedback is then used in the next planning stage, and the cycle starts over again.</a:t>
            </a:r>
            <a:endParaRPr lang="en-US" sz="3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DE1F6A-4F16-8668-879C-6092E1078723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  <p:pic>
        <p:nvPicPr>
          <p:cNvPr id="7" name="Picture 2" descr="What is DevOps? The Ultimate Guide - 2023">
            <a:extLst>
              <a:ext uri="{FF2B5EF4-FFF2-40B4-BE49-F238E27FC236}">
                <a16:creationId xmlns:a16="http://schemas.microsoft.com/office/drawing/2014/main" id="{96F80862-A8A0-1DC7-CF34-F12F48820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16" y="3247717"/>
            <a:ext cx="6672567" cy="3358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4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data:image/png;base64,iVBORw0KGgoAAAANSUhEUgAAANEAAADxCAMAAABiSKLrAAAAbFBMVEWIiIj////6+vr29vb19fX4+Pj5+fnu7u77+/v39/f9/f3z8/P+/v709PT8/Pyqqqrt7e3v7+/w8PDx8fHy8vK+vr7Q0NCjo6OBgYHY2Njk5OTHx8eNjY3c3NzGxsbn5+eWlpa1tbWcnJx6enob4+f+AAAIqklEQVR4nO3dCZuaOhQGYEZAh0FkX2W1//8/lkVMICeIkRmOPHz22lYg5OVEZLFzJRNrnC+xSGt3nJvQekMUYktnEiM1ouDrjCs/pukLkzoRtpjmNRcloRUFoiS8oo5UvLwsYpEgCaXoHLYiMRJqkRAJt0iEhFwkQMIqCgJRElpRLErCL3r1oxavSJSEWCRIQikyOtGQNPd8CaXICc04FiXhFomQkIsESChFbmhmwiT0opf3eBivMzSjLuORnh49oKxRKxIloayR24oESShFRScSI6EUJaGZCJNwiwhp/skFcpFAlbCLXiehF71MQisSJiEVVYkwqRP9oEpXI1HSXXRuWjo/2jz3f3v8YfjS7871lbU1EiT1IjrAKrvX/2iurzisijkk8OQC5ah7iERIyEUCJOyi10noRU9J490DUpFPRAApniJhFVnzSaOdOF6RKAmlKGhFgiTMohdIyYeIhEh30aV99E9NLo8VXLqn++Q/mIuIREid6DJsv32s91Ityi1hEtJRl5+ESX2NMKUR2ZYoCbNIjIRV5FiiJIyicx7mriVEKnCKfvxadBIloRQ1NTqJkcICpcgPr7rjOPYJZnFNbZVwikw/YHNlXmDi4xW9kU70jSnNqOu/xL4R0aWg3yNMgNHWp0I66i7Dy5PsdXFuApw1Eg8RndfuykLZa4Q/512EPrsIfzYtOmwje43wh4h+1u7KQvm5bk601wh9NlijXYQ+uwh/HqLrZkTXh+h4PDQP8lQ/PvAlSrT2xl0oRHQ5biOXXYQ+uwh/dhH+7CL82bRI3Ua2XKPvtTfuQvneReizi/BnF+HPLsKfTYu0bYQWsd5PfImIDmtv3IVy2EXos4vwZxfhzy7CH0okbyO7CH+2/D46rr1xF8pxF6HPLsKfXYQ/uwh/KJGyjWxatPZwWShEpK69cReKuovQZxfhzy7Cn12EP0SkGduItmHRzFF3P3r63ZHzTl4YdYqsHg/e/YdF2e7xcFRVrba109gMFp2evGhmjzpFVZLcvJVpl7K8hWaVB1liNVNdJh7VZ4Wd7P4aaa5I866lFEnDRHWksC5eVgtH8VWy8PHGTE5V/rr+QqSocTnm9CpTM+SMmRhVVJcPKbPYv5VFcs7x1F3P1eeikl1sXZHGB0lRLH+eSI75ICk6KZ8nctkOkaQN+cNEWjBRIimU0YpkHY4hmxOgqNIMHRaRJo6giLO+dyM/F1nsvpfqWVAv92Eihe0u3bNE+TgR/FkURfWhUHPMIBsguh6N0yKNs7o/EGkVIEpj+XA8fltJ0GzqDxMdQwBka+2gqQ/p9FYkpaNIiEXuje3OddQfg738rFCTcYmME9sdKXntbY1MBOy802JrotJ6bSUiInLia7y2+aZEbXuyxXbn5vXXGQazDs+6xUWGoql2kXU/DDrOssLWNFmZ65oQufeflwvU6PHDdO8ki/0xu/Rb7RVRvZNJgupW7y3bU+T6JLnej97MPLNUhbPIbJEV9U2y/eknHds5lfhfNMo/sb23oRX5LQXWGUmpGdtz3nxEpOiep7eP+5MFUEZJj+0SCnsCVX/CkrZUQFRvQG+8RkNOzHTi5LL0rW6x8YL0bwolGtdolqir0fQxAyQCNrdsVczFmdFS6fXp+4kSecPMEqntrAYkkklTYI288frkYKI+j+XCYtzRUdCIdMV/7mkWTDNmY6AU6bo5C9QknqwSEpFuzAdJUjZFQiJSoFMWfhIDu0ievDjD5ubquEV6AjVet3krU3B/Hvn8cYdDBJxUSlKVaJqmWvENMiXcImEQKcCYi26W1nZaN9SAXXFkcos0JZpxXLeICDpLDnVSBDkDusAtEhGN72p5J78LcMbn9+nudemgiDSlASLF66cC20NKbZ3qCnAnIfKp9gcxiIjVPj8/8mbVCBY9VsNes42C4YgBrgyUJ06NpkRdCuD8yB418pYIOkl2hyuQ2SOkKOMMO4M76vrBB4sG84Cjjrr5Cooeo4TdLwyGbLsC4IKgD93dHY66lUQye7gQxfqgfdcDhr7JeSOtLoL2dOn4KEdX2E+s0hp24j3RaUERsPnLLBmlYPceaYJVBB0Bja85p8ANn3rXgFX02kEqaSGAeywoGs7zjghYdqYoxyp68USCtMDZfX+wqHomav53fkBcWDSYx4NEBpkuAyLj3oSwSDIVsMM6ETVAp/3V/KG2tP/xRPRccI1IW7Comyr8PupE9052bbW/0yLHpX/1T1wRmQuskULa4oqcd/Z1pjLu6li0zqgDP49m5fmo+2NR3z50zFBYczLsBB6Rxx6y8Q5wRoE7LCaylhM5BnTs7cGdmZP1RZzdygeLXOjW9fg94jYXUnjjbBHRcJ5nImVKBA67fFgkL/HzIE4KRW7vM0/i/kQ0WSPHg75KldHdqc+h7pfZ0jKs/GuDM3hvNSLizSEqoroE1Yia7ELf00kIWS/o09z+EmLA6bC3hMh9TwRskDq51x47e4Zzhc73Qt64wyByPOjmUVT6cZZkcQV+0zxNflX05qgD36tSe3MilcCr1FLEe9sPRDYYjmgwD1wjMl1hm4h0ugF43PETVd6wB3RbKES2Pu+2cr9waHFBWESO+8JtyxrkckFYRDa8dxAAoRHNH3hRNTHkUIlsY9Z3TqR6LzcFokScSsKi4TzPRMYske0VT78XJJkJZ8uTzojV6FdEtmNkE9/diqLUzJTpAtmzalQyF6FvI5ETA9+OpraQwTYhwRvQMYqryX6sNn8vq8AynnqoGuXuCY7N/vMR3R7N47DzePR04J+gjJt4rM7V3SzwzbC8FzYtb2Z1jQtDd3nLDOLmD1E9v90++qfT4Lfh5N+cq/508shXb5st6Ll1cWa2RYu2EUo0p6QfkF2EP7sIf3YR/hCRs3ZXFoqzYdEGR92su1D4Q486yzq1D/L0iS85W67R2l1ZKLsIfzYs4l05+bg8rpxU/lZS3UXbyvZE/wFXu+LXNTDaDQAAAABJRU5ErkJggg=="/>
          <p:cNvSpPr>
            <a:spLocks noChangeAspect="1" noChangeArrowheads="1"/>
          </p:cNvSpPr>
          <p:nvPr/>
        </p:nvSpPr>
        <p:spPr bwMode="auto">
          <a:xfrm>
            <a:off x="207436" y="-116412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1600" dirty="0"/>
          </a:p>
        </p:txBody>
      </p:sp>
      <p:sp>
        <p:nvSpPr>
          <p:cNvPr id="2" name="AutoShape 2" descr="Image result for file"/>
          <p:cNvSpPr>
            <a:spLocks noChangeAspect="1" noChangeArrowheads="1"/>
          </p:cNvSpPr>
          <p:nvPr/>
        </p:nvSpPr>
        <p:spPr bwMode="auto">
          <a:xfrm>
            <a:off x="410635" y="86789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6" name="AutoShape 2" descr="Image result for activemq image"/>
          <p:cNvSpPr>
            <a:spLocks noChangeAspect="1" noChangeArrowheads="1"/>
          </p:cNvSpPr>
          <p:nvPr/>
        </p:nvSpPr>
        <p:spPr bwMode="auto">
          <a:xfrm>
            <a:off x="2256320" y="2549494"/>
            <a:ext cx="406400" cy="406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 dirty="0"/>
          </a:p>
        </p:txBody>
      </p:sp>
      <p:sp>
        <p:nvSpPr>
          <p:cNvPr id="4" name="AutoShape 2" descr="3 Ways to Design a Car - wikiHow">
            <a:extLst>
              <a:ext uri="{FF2B5EF4-FFF2-40B4-BE49-F238E27FC236}">
                <a16:creationId xmlns:a16="http://schemas.microsoft.com/office/drawing/2014/main" id="{233B23E8-8BDE-BBCA-03C1-83E3A4EFBF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5885" y="187850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6D662F2B-7104-6EC2-FDA1-6509EEBE4F19}"/>
              </a:ext>
            </a:extLst>
          </p:cNvPr>
          <p:cNvSpPr/>
          <p:nvPr/>
        </p:nvSpPr>
        <p:spPr>
          <a:xfrm>
            <a:off x="131237" y="2693993"/>
            <a:ext cx="11832163" cy="1801807"/>
          </a:xfrm>
          <a:prstGeom prst="flowChartAlternateProcess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	By following this lifecycle, </a:t>
            </a:r>
            <a:r>
              <a:rPr lang="en-US" sz="2400" dirty="0">
                <a:solidFill>
                  <a:srgbClr val="C00000"/>
                </a:solidFill>
              </a:rPr>
              <a:t>DevOps teams can deliver software faster, more reliably, and with better quality</a:t>
            </a:r>
            <a:r>
              <a:rPr lang="en-US" sz="2400" dirty="0">
                <a:solidFill>
                  <a:schemeClr val="tx1"/>
                </a:solidFill>
              </a:rPr>
              <a:t>. The key to DevOps is </a:t>
            </a:r>
            <a:r>
              <a:rPr lang="en-US" sz="2400" dirty="0">
                <a:solidFill>
                  <a:srgbClr val="C00000"/>
                </a:solidFill>
              </a:rPr>
              <a:t>collaboration and continuous improvement</a:t>
            </a:r>
            <a:r>
              <a:rPr lang="en-US" sz="2400" dirty="0">
                <a:solidFill>
                  <a:schemeClr val="tx1"/>
                </a:solidFill>
              </a:rPr>
              <a:t>, making sure that the development and operations teams work together seamlessly throughout the entire process.</a:t>
            </a:r>
            <a:endParaRPr lang="en-US" sz="4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D67E2-57D2-CF64-FB41-766C84C65D98}"/>
              </a:ext>
            </a:extLst>
          </p:cNvPr>
          <p:cNvSpPr txBox="1"/>
          <p:nvPr/>
        </p:nvSpPr>
        <p:spPr>
          <a:xfrm>
            <a:off x="410635" y="2133600"/>
            <a:ext cx="1433213" cy="470000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Summary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C7D8C9-A367-9805-1081-6AD42DD272F4}"/>
              </a:ext>
            </a:extLst>
          </p:cNvPr>
          <p:cNvSpPr/>
          <p:nvPr/>
        </p:nvSpPr>
        <p:spPr>
          <a:xfrm>
            <a:off x="3326367" y="32238"/>
            <a:ext cx="5539266" cy="40011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/>
              <a:t>DevOps Lifecycle for Beginners: An Easy Overview</a:t>
            </a:r>
          </a:p>
        </p:txBody>
      </p:sp>
    </p:spTree>
    <p:extLst>
      <p:ext uri="{BB962C8B-B14F-4D97-AF65-F5344CB8AC3E}">
        <p14:creationId xmlns:p14="http://schemas.microsoft.com/office/powerpoint/2010/main" val="2055873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93382</TotalTime>
  <Words>531</Words>
  <Application>Microsoft Office PowerPoint</Application>
  <PresentationFormat>Widescreen</PresentationFormat>
  <Paragraphs>36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Ramesh</dc:creator>
  <cp:lastModifiedBy>Ramesh N</cp:lastModifiedBy>
  <cp:revision>10182</cp:revision>
  <dcterms:created xsi:type="dcterms:W3CDTF">2006-08-16T00:00:00Z</dcterms:created>
  <dcterms:modified xsi:type="dcterms:W3CDTF">2024-06-19T07:55:22Z</dcterms:modified>
</cp:coreProperties>
</file>