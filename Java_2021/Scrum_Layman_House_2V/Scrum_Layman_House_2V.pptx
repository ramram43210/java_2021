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72" r:id="rId1"/>
  </p:sldMasterIdLst>
  <p:notesMasterIdLst>
    <p:notesMasterId r:id="rId5"/>
  </p:notesMasterIdLst>
  <p:sldIdLst>
    <p:sldId id="475" r:id="rId2"/>
    <p:sldId id="472" r:id="rId3"/>
    <p:sldId id="474" r:id="rId4"/>
  </p:sldIdLst>
  <p:sldSz cx="12192000" cy="6858000"/>
  <p:notesSz cx="6858000" cy="9144000"/>
  <p:defaultTextStyle>
    <a:defPPr>
      <a:defRPr lang="en-US"/>
    </a:defPPr>
    <a:lvl1pPr marL="0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1pPr>
    <a:lvl2pPr marL="623438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2pPr>
    <a:lvl3pPr marL="1246876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3pPr>
    <a:lvl4pPr marL="1870314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4pPr>
    <a:lvl5pPr marL="2493752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5pPr>
    <a:lvl6pPr marL="3117190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6pPr>
    <a:lvl7pPr marL="3740628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7pPr>
    <a:lvl8pPr marL="4364065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8pPr>
    <a:lvl9pPr marL="4987503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amesh N" initials="RN" lastIdx="1" clrIdx="0">
    <p:extLst>
      <p:ext uri="{19B8F6BF-5375-455C-9EA6-DF929625EA0E}">
        <p15:presenceInfo xmlns:p15="http://schemas.microsoft.com/office/powerpoint/2012/main" userId="10c340b3cc87b96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E4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31" autoAdjust="0"/>
    <p:restoredTop sz="94291" autoAdjust="0"/>
  </p:normalViewPr>
  <p:slideViewPr>
    <p:cSldViewPr>
      <p:cViewPr varScale="1">
        <p:scale>
          <a:sx n="71" d="100"/>
          <a:sy n="71" d="100"/>
        </p:scale>
        <p:origin x="1099" y="91"/>
      </p:cViewPr>
      <p:guideLst>
        <p:guide orient="horz" pos="2161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2838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274EC6-3890-417B-9308-14EFBD00FA63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83C400-BD9D-4609-A213-F91E975003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1783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1pPr>
    <a:lvl2pPr marL="623438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2pPr>
    <a:lvl3pPr marL="1246876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3pPr>
    <a:lvl4pPr marL="1870314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4pPr>
    <a:lvl5pPr marL="2493752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5pPr>
    <a:lvl6pPr marL="3117190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6pPr>
    <a:lvl7pPr marL="3740628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7pPr>
    <a:lvl8pPr marL="4364065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8pPr>
    <a:lvl9pPr marL="4987503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60997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17620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170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5386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918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6" y="440691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6" y="2906724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2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65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4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1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1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49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7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5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9492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3164"/>
            <a:ext cx="5384800" cy="3319462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2" y="1173164"/>
            <a:ext cx="5384800" cy="3319462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105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3" y="1535120"/>
            <a:ext cx="5386919" cy="63976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2" indent="0">
              <a:buNone/>
              <a:defRPr sz="2667" b="1"/>
            </a:lvl2pPr>
            <a:lvl3pPr marL="1219165" indent="0">
              <a:buNone/>
              <a:defRPr sz="2400" b="1"/>
            </a:lvl3pPr>
            <a:lvl4pPr marL="1828747" indent="0">
              <a:buNone/>
              <a:defRPr sz="2133" b="1"/>
            </a:lvl4pPr>
            <a:lvl5pPr marL="2438331" indent="0">
              <a:buNone/>
              <a:defRPr sz="2133" b="1"/>
            </a:lvl5pPr>
            <a:lvl6pPr marL="3047912" indent="0">
              <a:buNone/>
              <a:defRPr sz="2133" b="1"/>
            </a:lvl6pPr>
            <a:lvl7pPr marL="3657494" indent="0">
              <a:buNone/>
              <a:defRPr sz="2133" b="1"/>
            </a:lvl7pPr>
            <a:lvl8pPr marL="4267075" indent="0">
              <a:buNone/>
              <a:defRPr sz="2133" b="1"/>
            </a:lvl8pPr>
            <a:lvl9pPr marL="4876659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3" y="2174882"/>
            <a:ext cx="5386919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7" y="1535120"/>
            <a:ext cx="5389035" cy="63976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2" indent="0">
              <a:buNone/>
              <a:defRPr sz="2667" b="1"/>
            </a:lvl2pPr>
            <a:lvl3pPr marL="1219165" indent="0">
              <a:buNone/>
              <a:defRPr sz="2400" b="1"/>
            </a:lvl3pPr>
            <a:lvl4pPr marL="1828747" indent="0">
              <a:buNone/>
              <a:defRPr sz="2133" b="1"/>
            </a:lvl4pPr>
            <a:lvl5pPr marL="2438331" indent="0">
              <a:buNone/>
              <a:defRPr sz="2133" b="1"/>
            </a:lvl5pPr>
            <a:lvl6pPr marL="3047912" indent="0">
              <a:buNone/>
              <a:defRPr sz="2133" b="1"/>
            </a:lvl6pPr>
            <a:lvl7pPr marL="3657494" indent="0">
              <a:buNone/>
              <a:defRPr sz="2133" b="1"/>
            </a:lvl7pPr>
            <a:lvl8pPr marL="4267075" indent="0">
              <a:buNone/>
              <a:defRPr sz="2133" b="1"/>
            </a:lvl8pPr>
            <a:lvl9pPr marL="4876659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7" y="2174882"/>
            <a:ext cx="5389035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5226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3635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2554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10" y="273050"/>
            <a:ext cx="4011086" cy="1162050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6" y="273061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5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10" y="1435111"/>
            <a:ext cx="4011086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2" indent="0">
              <a:buNone/>
              <a:defRPr sz="1600"/>
            </a:lvl2pPr>
            <a:lvl3pPr marL="1219165" indent="0">
              <a:buNone/>
              <a:defRPr sz="1335"/>
            </a:lvl3pPr>
            <a:lvl4pPr marL="1828747" indent="0">
              <a:buNone/>
              <a:defRPr sz="1200"/>
            </a:lvl4pPr>
            <a:lvl5pPr marL="2438331" indent="0">
              <a:buNone/>
              <a:defRPr sz="1200"/>
            </a:lvl5pPr>
            <a:lvl6pPr marL="3047912" indent="0">
              <a:buNone/>
              <a:defRPr sz="1200"/>
            </a:lvl6pPr>
            <a:lvl7pPr marL="3657494" indent="0">
              <a:buNone/>
              <a:defRPr sz="1200"/>
            </a:lvl7pPr>
            <a:lvl8pPr marL="4267075" indent="0">
              <a:buNone/>
              <a:defRPr sz="1200"/>
            </a:lvl8pPr>
            <a:lvl9pPr marL="4876659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5159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2" indent="0">
              <a:buNone/>
              <a:defRPr sz="3735"/>
            </a:lvl2pPr>
            <a:lvl3pPr marL="1219165" indent="0">
              <a:buNone/>
              <a:defRPr sz="3200"/>
            </a:lvl3pPr>
            <a:lvl4pPr marL="1828747" indent="0">
              <a:buNone/>
              <a:defRPr sz="2667"/>
            </a:lvl4pPr>
            <a:lvl5pPr marL="2438331" indent="0">
              <a:buNone/>
              <a:defRPr sz="2667"/>
            </a:lvl5pPr>
            <a:lvl6pPr marL="3047912" indent="0">
              <a:buNone/>
              <a:defRPr sz="2667"/>
            </a:lvl6pPr>
            <a:lvl7pPr marL="3657494" indent="0">
              <a:buNone/>
              <a:defRPr sz="2667"/>
            </a:lvl7pPr>
            <a:lvl8pPr marL="4267075" indent="0">
              <a:buNone/>
              <a:defRPr sz="2667"/>
            </a:lvl8pPr>
            <a:lvl9pPr marL="4876659" indent="0">
              <a:buNone/>
              <a:defRPr sz="2667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867"/>
            </a:lvl1pPr>
            <a:lvl2pPr marL="609582" indent="0">
              <a:buNone/>
              <a:defRPr sz="1600"/>
            </a:lvl2pPr>
            <a:lvl3pPr marL="1219165" indent="0">
              <a:buNone/>
              <a:defRPr sz="1335"/>
            </a:lvl3pPr>
            <a:lvl4pPr marL="1828747" indent="0">
              <a:buNone/>
              <a:defRPr sz="1200"/>
            </a:lvl4pPr>
            <a:lvl5pPr marL="2438331" indent="0">
              <a:buNone/>
              <a:defRPr sz="1200"/>
            </a:lvl5pPr>
            <a:lvl6pPr marL="3047912" indent="0">
              <a:buNone/>
              <a:defRPr sz="1200"/>
            </a:lvl6pPr>
            <a:lvl7pPr marL="3657494" indent="0">
              <a:buNone/>
              <a:defRPr sz="1200"/>
            </a:lvl7pPr>
            <a:lvl8pPr marL="4267075" indent="0">
              <a:buNone/>
              <a:defRPr sz="1200"/>
            </a:lvl8pPr>
            <a:lvl9pPr marL="4876659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650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1224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01614"/>
            <a:ext cx="2743200" cy="42910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2" y="201614"/>
            <a:ext cx="8026400" cy="42910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6495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2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4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4994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xStyles>
    <p:titleStyle>
      <a:lvl1pPr algn="ctr" defTabSz="1219165" rtl="0" eaLnBrk="1" latinLnBrk="0" hangingPunct="1">
        <a:spcBef>
          <a:spcPct val="0"/>
        </a:spcBef>
        <a:buNone/>
        <a:defRPr sz="58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8" indent="-457188" algn="l" defTabSz="1219165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2" indent="-380990" algn="l" defTabSz="1219165" rtl="0" eaLnBrk="1" latinLnBrk="0" hangingPunct="1">
        <a:spcBef>
          <a:spcPct val="20000"/>
        </a:spcBef>
        <a:buFont typeface="Arial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3955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39" indent="-304792" algn="l" defTabSz="1219165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21" indent="-304792" algn="l" defTabSz="1219165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04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86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67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51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2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65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47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1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12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94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75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59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32CC46-37AA-1E07-46A7-484FC3D881EC}"/>
              </a:ext>
            </a:extLst>
          </p:cNvPr>
          <p:cNvSpPr/>
          <p:nvPr/>
        </p:nvSpPr>
        <p:spPr>
          <a:xfrm>
            <a:off x="2667000" y="34949"/>
            <a:ext cx="7363882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Mastering Collaboration: Understanding Scrum for Everyday Projects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705DA6-4EF9-EB0E-94C5-017DBC9DCF70}"/>
              </a:ext>
            </a:extLst>
          </p:cNvPr>
          <p:cNvSpPr txBox="1"/>
          <p:nvPr/>
        </p:nvSpPr>
        <p:spPr>
          <a:xfrm>
            <a:off x="243295" y="724240"/>
            <a:ext cx="11755964" cy="830997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Imagine you're part of a 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team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working on a 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project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, like building a house. Now, think of 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Scrum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as a way of 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organizing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this 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teamwork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to get things done efficiently.</a:t>
            </a:r>
            <a:endParaRPr lang="en-US" sz="36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pic>
        <p:nvPicPr>
          <p:cNvPr id="1028" name="Picture 4" descr="Page 2 | Build house Vectors &amp; Illustrations for Free Download | Freepik">
            <a:extLst>
              <a:ext uri="{FF2B5EF4-FFF2-40B4-BE49-F238E27FC236}">
                <a16:creationId xmlns:a16="http://schemas.microsoft.com/office/drawing/2014/main" id="{2C32DAA3-8F61-B752-672E-E8A9B578D2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2133600"/>
            <a:ext cx="7306732" cy="4552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3584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CF7848-873F-1C2B-87DD-7C1001F1C790}"/>
              </a:ext>
            </a:extLst>
          </p:cNvPr>
          <p:cNvSpPr txBox="1"/>
          <p:nvPr/>
        </p:nvSpPr>
        <p:spPr>
          <a:xfrm>
            <a:off x="218018" y="1143000"/>
            <a:ext cx="11755964" cy="5509200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en-US" sz="22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Team Collaboration</a:t>
            </a:r>
            <a:r>
              <a:rPr lang="en-US" sz="22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: </a:t>
            </a:r>
            <a:r>
              <a:rPr lang="en-US" sz="22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In Scrum, you have a small, dedicated team of people (let's say carpenters, electricians, plumbers) who work closely together.</a:t>
            </a:r>
            <a:br>
              <a:rPr lang="en-US" sz="22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</a:br>
            <a:endParaRPr lang="en-US" sz="22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en-US" sz="22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Sprints</a:t>
            </a:r>
            <a:r>
              <a:rPr lang="en-US" sz="22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: </a:t>
            </a:r>
            <a:r>
              <a:rPr lang="en-US" sz="22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Instead of trying to do everything at once, the team breaks the project into smaller parts called "sprints." Each sprint is like a short, focused period (maybe 1-4 weeks) where the team works on specific tasks.</a:t>
            </a:r>
            <a:br>
              <a:rPr lang="en-US" sz="22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</a:br>
            <a:endParaRPr lang="en-US" sz="22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en-US" sz="22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Daily Meetings</a:t>
            </a:r>
            <a:r>
              <a:rPr lang="en-US" sz="22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: </a:t>
            </a:r>
            <a:r>
              <a:rPr lang="en-US" sz="22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Every day, the team has a quick meeting (often standing up) to discuss what they did yesterday, what they're doing today, and any roadblocks they're facing. This helps keep everyone on the same page.</a:t>
            </a:r>
            <a:br>
              <a:rPr lang="en-US" sz="22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</a:br>
            <a:endParaRPr lang="en-US" sz="22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en-US" sz="22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Flexibility</a:t>
            </a:r>
            <a:r>
              <a:rPr lang="en-US" sz="22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: </a:t>
            </a:r>
            <a:r>
              <a:rPr lang="en-US" sz="22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Scrum is flexible. If something isn't working well or new ideas come up, the team can adjust their approach for the next sprint.</a:t>
            </a:r>
            <a:br>
              <a:rPr lang="en-US" sz="22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</a:br>
            <a:endParaRPr lang="en-US" sz="22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en-US" sz="22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Iterative Improvement</a:t>
            </a:r>
            <a:r>
              <a:rPr lang="en-US" sz="22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: </a:t>
            </a:r>
            <a:r>
              <a:rPr lang="en-US" sz="22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After each sprint, the team shows what they've completed to stakeholders (like the homeowner). This helps gather feedback early and make any necessary changes.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B9DBB7-9FDD-4495-D6CB-B7CB76D12100}"/>
              </a:ext>
            </a:extLst>
          </p:cNvPr>
          <p:cNvSpPr txBox="1"/>
          <p:nvPr/>
        </p:nvSpPr>
        <p:spPr>
          <a:xfrm>
            <a:off x="218018" y="655281"/>
            <a:ext cx="2559611" cy="470000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How Scrum works: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2FA6F0-6228-00F5-B6F4-7B653EC93845}"/>
              </a:ext>
            </a:extLst>
          </p:cNvPr>
          <p:cNvSpPr/>
          <p:nvPr/>
        </p:nvSpPr>
        <p:spPr>
          <a:xfrm>
            <a:off x="2667000" y="34949"/>
            <a:ext cx="7363882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Mastering Collaboration: Understanding Scrum for Everyday Projects</a:t>
            </a:r>
          </a:p>
        </p:txBody>
      </p:sp>
    </p:spTree>
    <p:extLst>
      <p:ext uri="{BB962C8B-B14F-4D97-AF65-F5344CB8AC3E}">
        <p14:creationId xmlns:p14="http://schemas.microsoft.com/office/powerpoint/2010/main" val="232278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CF7848-873F-1C2B-87DD-7C1001F1C790}"/>
              </a:ext>
            </a:extLst>
          </p:cNvPr>
          <p:cNvSpPr txBox="1"/>
          <p:nvPr/>
        </p:nvSpPr>
        <p:spPr>
          <a:xfrm>
            <a:off x="218018" y="3011888"/>
            <a:ext cx="11755964" cy="1200329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So, 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Scrum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is like having a 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small, focused team 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that works in 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short bursts 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to steadily progress toward a 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goal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, 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adapting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as needed along the way. It's all about 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collaboration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, 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flexibility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, and 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delivering value 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step by step.</a:t>
            </a:r>
            <a:endParaRPr lang="en-US" sz="36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B9DBB7-9FDD-4495-D6CB-B7CB76D12100}"/>
              </a:ext>
            </a:extLst>
          </p:cNvPr>
          <p:cNvSpPr txBox="1"/>
          <p:nvPr/>
        </p:nvSpPr>
        <p:spPr>
          <a:xfrm>
            <a:off x="5395359" y="2514600"/>
            <a:ext cx="1401281" cy="470000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Summary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8BE941-9061-7EB7-6757-841D9A6B4387}"/>
              </a:ext>
            </a:extLst>
          </p:cNvPr>
          <p:cNvSpPr/>
          <p:nvPr/>
        </p:nvSpPr>
        <p:spPr>
          <a:xfrm>
            <a:off x="2667000" y="34949"/>
            <a:ext cx="7363882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Mastering Collaboration: Understanding Scrum for Everyday Projects</a:t>
            </a:r>
          </a:p>
        </p:txBody>
      </p:sp>
    </p:spTree>
    <p:extLst>
      <p:ext uri="{BB962C8B-B14F-4D97-AF65-F5344CB8AC3E}">
        <p14:creationId xmlns:p14="http://schemas.microsoft.com/office/powerpoint/2010/main" val="2705455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91866</TotalTime>
  <Words>291</Words>
  <Application>Microsoft Office PowerPoint</Application>
  <PresentationFormat>Widescreen</PresentationFormat>
  <Paragraphs>15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Söhne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Ramesh</dc:creator>
  <cp:lastModifiedBy>Ramesh N</cp:lastModifiedBy>
  <cp:revision>10060</cp:revision>
  <dcterms:created xsi:type="dcterms:W3CDTF">2006-08-16T00:00:00Z</dcterms:created>
  <dcterms:modified xsi:type="dcterms:W3CDTF">2024-05-08T03:23:11Z</dcterms:modified>
</cp:coreProperties>
</file>