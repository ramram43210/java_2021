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2" r:id="rId2"/>
    <p:sldId id="490" r:id="rId3"/>
    <p:sldId id="491" r:id="rId4"/>
    <p:sldId id="492" r:id="rId5"/>
    <p:sldId id="493" r:id="rId6"/>
    <p:sldId id="494" r:id="rId7"/>
    <p:sldId id="495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Iterations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Prioritization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Adaptability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Collaboration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3F3B27D1-09F5-4BFB-8B3C-4085988B8F3D}">
      <dgm:prSet phldrT="[Text]"/>
      <dgm:spPr/>
      <dgm:t>
        <a:bodyPr/>
        <a:lstStyle/>
        <a:p>
          <a:r>
            <a:rPr lang="en-US" b="1" i="0" dirty="0"/>
            <a:t>Continuous Improvement</a:t>
          </a:r>
          <a:endParaRPr lang="en-US" dirty="0"/>
        </a:p>
      </dgm:t>
    </dgm:pt>
    <dgm:pt modelId="{AB0F24F1-EBC1-4D70-8ABB-AE1F4A60994D}" type="parTrans" cxnId="{64697D59-B1E2-4D20-B58A-F47825476520}">
      <dgm:prSet/>
      <dgm:spPr/>
      <dgm:t>
        <a:bodyPr/>
        <a:lstStyle/>
        <a:p>
          <a:endParaRPr lang="en-US"/>
        </a:p>
      </dgm:t>
    </dgm:pt>
    <dgm:pt modelId="{B63FEEC5-026D-4601-98BD-349445AD17CE}" type="sibTrans" cxnId="{64697D59-B1E2-4D20-B58A-F47825476520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5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5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5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5">
        <dgm:presLayoutVars>
          <dgm:bulletEnabled val="1"/>
        </dgm:presLayoutVars>
      </dgm:prSet>
      <dgm:spPr/>
    </dgm:pt>
    <dgm:pt modelId="{8BC2C1F6-D819-4356-AE9F-C5B9D478F044}" type="pres">
      <dgm:prSet presAssocID="{07328214-E383-492A-BB62-E72F641864AC}" presName="sibTrans" presStyleCnt="0"/>
      <dgm:spPr/>
    </dgm:pt>
    <dgm:pt modelId="{52B92EC4-FF5C-439F-9FF0-77716267A6D8}" type="pres">
      <dgm:prSet presAssocID="{3F3B27D1-09F5-4BFB-8B3C-4085988B8F3D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2892F95E-D59E-4CED-AC03-0DCDF455F1C2}" type="presOf" srcId="{3F3B27D1-09F5-4BFB-8B3C-4085988B8F3D}" destId="{52B92EC4-FF5C-439F-9FF0-77716267A6D8}" srcOrd="0" destOrd="0" presId="urn:microsoft.com/office/officeart/2005/8/layout/default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64697D59-B1E2-4D20-B58A-F47825476520}" srcId="{7A5FEB69-55EA-4875-9B01-F8586264FD8B}" destId="{3F3B27D1-09F5-4BFB-8B3C-4085988B8F3D}" srcOrd="4" destOrd="0" parTransId="{AB0F24F1-EBC1-4D70-8ABB-AE1F4A60994D}" sibTransId="{B63FEEC5-026D-4601-98BD-349445AD17CE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  <dgm:cxn modelId="{6B3911DB-54F0-46F9-91B9-FDD9F12756E8}" type="presParOf" srcId="{4E9A5B1A-3BDE-4737-A576-D21E81F45921}" destId="{8BC2C1F6-D819-4356-AE9F-C5B9D478F044}" srcOrd="7" destOrd="0" presId="urn:microsoft.com/office/officeart/2005/8/layout/default"/>
    <dgm:cxn modelId="{6FACF1E0-B320-4517-B830-E9B5C4580810}" type="presParOf" srcId="{4E9A5B1A-3BDE-4737-A576-D21E81F45921}" destId="{52B92EC4-FF5C-439F-9FF0-77716267A6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89825"/>
          <a:ext cx="2532062" cy="15192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Iterations</a:t>
          </a:r>
          <a:endParaRPr lang="en-US" sz="3100" kern="1200" dirty="0"/>
        </a:p>
      </dsp:txBody>
      <dsp:txXfrm>
        <a:off x="0" y="89825"/>
        <a:ext cx="2532062" cy="1519237"/>
      </dsp:txXfrm>
    </dsp:sp>
    <dsp:sp modelId="{822120BB-9E70-41F6-838C-2AB42B9F5B56}">
      <dsp:nvSpPr>
        <dsp:cNvPr id="0" name=""/>
        <dsp:cNvSpPr/>
      </dsp:nvSpPr>
      <dsp:spPr>
        <a:xfrm>
          <a:off x="2785268" y="89825"/>
          <a:ext cx="2532062" cy="151923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Prioritization</a:t>
          </a:r>
          <a:endParaRPr lang="en-US" sz="3100" kern="1200" dirty="0"/>
        </a:p>
      </dsp:txBody>
      <dsp:txXfrm>
        <a:off x="2785268" y="89825"/>
        <a:ext cx="2532062" cy="1519237"/>
      </dsp:txXfrm>
    </dsp:sp>
    <dsp:sp modelId="{F45B26B3-55B9-4F65-B9B7-15C6781F5B0D}">
      <dsp:nvSpPr>
        <dsp:cNvPr id="0" name=""/>
        <dsp:cNvSpPr/>
      </dsp:nvSpPr>
      <dsp:spPr>
        <a:xfrm>
          <a:off x="5570537" y="89825"/>
          <a:ext cx="2532062" cy="151923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Adaptability</a:t>
          </a:r>
          <a:endParaRPr lang="en-US" sz="3100" kern="1200" dirty="0"/>
        </a:p>
      </dsp:txBody>
      <dsp:txXfrm>
        <a:off x="5570537" y="89825"/>
        <a:ext cx="2532062" cy="1519237"/>
      </dsp:txXfrm>
    </dsp:sp>
    <dsp:sp modelId="{D91992B5-8647-4DA3-BA19-0FBB00F83FE8}">
      <dsp:nvSpPr>
        <dsp:cNvPr id="0" name=""/>
        <dsp:cNvSpPr/>
      </dsp:nvSpPr>
      <dsp:spPr>
        <a:xfrm>
          <a:off x="1392634" y="1862269"/>
          <a:ext cx="2532062" cy="151923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Collaboration</a:t>
          </a:r>
          <a:endParaRPr lang="en-US" sz="3100" kern="1200" dirty="0"/>
        </a:p>
      </dsp:txBody>
      <dsp:txXfrm>
        <a:off x="1392634" y="1862269"/>
        <a:ext cx="2532062" cy="1519237"/>
      </dsp:txXfrm>
    </dsp:sp>
    <dsp:sp modelId="{52B92EC4-FF5C-439F-9FF0-77716267A6D8}">
      <dsp:nvSpPr>
        <dsp:cNvPr id="0" name=""/>
        <dsp:cNvSpPr/>
      </dsp:nvSpPr>
      <dsp:spPr>
        <a:xfrm>
          <a:off x="4177903" y="1862269"/>
          <a:ext cx="2532062" cy="151923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Continuous Improvement</a:t>
          </a:r>
          <a:endParaRPr lang="en-US" sz="3100" kern="1200" dirty="0"/>
        </a:p>
      </dsp:txBody>
      <dsp:txXfrm>
        <a:off x="4177903" y="1862269"/>
        <a:ext cx="2532062" cy="1519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74347"/>
          <a:ext cx="2555874" cy="15335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Iterations</a:t>
          </a:r>
          <a:endParaRPr lang="en-US" sz="3200" kern="1200" dirty="0"/>
        </a:p>
      </dsp:txBody>
      <dsp:txXfrm>
        <a:off x="0" y="74347"/>
        <a:ext cx="2555874" cy="1533524"/>
      </dsp:txXfrm>
    </dsp:sp>
    <dsp:sp modelId="{822120BB-9E70-41F6-838C-2AB42B9F5B56}">
      <dsp:nvSpPr>
        <dsp:cNvPr id="0" name=""/>
        <dsp:cNvSpPr/>
      </dsp:nvSpPr>
      <dsp:spPr>
        <a:xfrm>
          <a:off x="2811462" y="74347"/>
          <a:ext cx="2555874" cy="153352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Prioritization</a:t>
          </a:r>
          <a:endParaRPr lang="en-US" sz="3200" kern="1200" dirty="0"/>
        </a:p>
      </dsp:txBody>
      <dsp:txXfrm>
        <a:off x="2811462" y="74347"/>
        <a:ext cx="2555874" cy="1533524"/>
      </dsp:txXfrm>
    </dsp:sp>
    <dsp:sp modelId="{F45B26B3-55B9-4F65-B9B7-15C6781F5B0D}">
      <dsp:nvSpPr>
        <dsp:cNvPr id="0" name=""/>
        <dsp:cNvSpPr/>
      </dsp:nvSpPr>
      <dsp:spPr>
        <a:xfrm>
          <a:off x="5622924" y="74347"/>
          <a:ext cx="2555874" cy="153352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Adaptability</a:t>
          </a:r>
          <a:endParaRPr lang="en-US" sz="3200" kern="1200" dirty="0"/>
        </a:p>
      </dsp:txBody>
      <dsp:txXfrm>
        <a:off x="5622924" y="74347"/>
        <a:ext cx="2555874" cy="1533524"/>
      </dsp:txXfrm>
    </dsp:sp>
    <dsp:sp modelId="{D91992B5-8647-4DA3-BA19-0FBB00F83FE8}">
      <dsp:nvSpPr>
        <dsp:cNvPr id="0" name=""/>
        <dsp:cNvSpPr/>
      </dsp:nvSpPr>
      <dsp:spPr>
        <a:xfrm>
          <a:off x="1405731" y="1863460"/>
          <a:ext cx="2555874" cy="153352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Collaboration</a:t>
          </a:r>
          <a:endParaRPr lang="en-US" sz="3200" kern="1200" dirty="0"/>
        </a:p>
      </dsp:txBody>
      <dsp:txXfrm>
        <a:off x="1405731" y="1863460"/>
        <a:ext cx="2555874" cy="1533524"/>
      </dsp:txXfrm>
    </dsp:sp>
    <dsp:sp modelId="{52B92EC4-FF5C-439F-9FF0-77716267A6D8}">
      <dsp:nvSpPr>
        <dsp:cNvPr id="0" name=""/>
        <dsp:cNvSpPr/>
      </dsp:nvSpPr>
      <dsp:spPr>
        <a:xfrm>
          <a:off x="4217193" y="1863460"/>
          <a:ext cx="2555874" cy="153352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217193" y="1863460"/>
        <a:ext cx="2555874" cy="1533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74347"/>
          <a:ext cx="2555874" cy="15335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Iterations</a:t>
          </a:r>
          <a:endParaRPr lang="en-US" sz="3200" kern="1200" dirty="0"/>
        </a:p>
      </dsp:txBody>
      <dsp:txXfrm>
        <a:off x="0" y="74347"/>
        <a:ext cx="2555874" cy="1533524"/>
      </dsp:txXfrm>
    </dsp:sp>
    <dsp:sp modelId="{822120BB-9E70-41F6-838C-2AB42B9F5B56}">
      <dsp:nvSpPr>
        <dsp:cNvPr id="0" name=""/>
        <dsp:cNvSpPr/>
      </dsp:nvSpPr>
      <dsp:spPr>
        <a:xfrm>
          <a:off x="2811462" y="74347"/>
          <a:ext cx="2555874" cy="153352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Prioritization</a:t>
          </a:r>
          <a:endParaRPr lang="en-US" sz="3200" kern="1200" dirty="0"/>
        </a:p>
      </dsp:txBody>
      <dsp:txXfrm>
        <a:off x="2811462" y="74347"/>
        <a:ext cx="2555874" cy="1533524"/>
      </dsp:txXfrm>
    </dsp:sp>
    <dsp:sp modelId="{F45B26B3-55B9-4F65-B9B7-15C6781F5B0D}">
      <dsp:nvSpPr>
        <dsp:cNvPr id="0" name=""/>
        <dsp:cNvSpPr/>
      </dsp:nvSpPr>
      <dsp:spPr>
        <a:xfrm>
          <a:off x="5622924" y="74347"/>
          <a:ext cx="2555874" cy="153352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Adaptability</a:t>
          </a:r>
          <a:endParaRPr lang="en-US" sz="3200" kern="1200" dirty="0"/>
        </a:p>
      </dsp:txBody>
      <dsp:txXfrm>
        <a:off x="5622924" y="74347"/>
        <a:ext cx="2555874" cy="1533524"/>
      </dsp:txXfrm>
    </dsp:sp>
    <dsp:sp modelId="{D91992B5-8647-4DA3-BA19-0FBB00F83FE8}">
      <dsp:nvSpPr>
        <dsp:cNvPr id="0" name=""/>
        <dsp:cNvSpPr/>
      </dsp:nvSpPr>
      <dsp:spPr>
        <a:xfrm>
          <a:off x="1405731" y="1863460"/>
          <a:ext cx="2555874" cy="153352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Collaboration</a:t>
          </a:r>
          <a:endParaRPr lang="en-US" sz="3200" kern="1200" dirty="0"/>
        </a:p>
      </dsp:txBody>
      <dsp:txXfrm>
        <a:off x="1405731" y="1863460"/>
        <a:ext cx="2555874" cy="1533524"/>
      </dsp:txXfrm>
    </dsp:sp>
    <dsp:sp modelId="{52B92EC4-FF5C-439F-9FF0-77716267A6D8}">
      <dsp:nvSpPr>
        <dsp:cNvPr id="0" name=""/>
        <dsp:cNvSpPr/>
      </dsp:nvSpPr>
      <dsp:spPr>
        <a:xfrm>
          <a:off x="4217193" y="1863460"/>
          <a:ext cx="2555874" cy="153352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217193" y="1863460"/>
        <a:ext cx="2555874" cy="15335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74347"/>
          <a:ext cx="2555874" cy="15335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Iterations</a:t>
          </a:r>
          <a:endParaRPr lang="en-US" sz="3200" kern="1200" dirty="0"/>
        </a:p>
      </dsp:txBody>
      <dsp:txXfrm>
        <a:off x="0" y="74347"/>
        <a:ext cx="2555874" cy="1533524"/>
      </dsp:txXfrm>
    </dsp:sp>
    <dsp:sp modelId="{822120BB-9E70-41F6-838C-2AB42B9F5B56}">
      <dsp:nvSpPr>
        <dsp:cNvPr id="0" name=""/>
        <dsp:cNvSpPr/>
      </dsp:nvSpPr>
      <dsp:spPr>
        <a:xfrm>
          <a:off x="2811462" y="74347"/>
          <a:ext cx="2555874" cy="153352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Prioritization</a:t>
          </a:r>
          <a:endParaRPr lang="en-US" sz="3200" kern="1200" dirty="0"/>
        </a:p>
      </dsp:txBody>
      <dsp:txXfrm>
        <a:off x="2811462" y="74347"/>
        <a:ext cx="2555874" cy="1533524"/>
      </dsp:txXfrm>
    </dsp:sp>
    <dsp:sp modelId="{F45B26B3-55B9-4F65-B9B7-15C6781F5B0D}">
      <dsp:nvSpPr>
        <dsp:cNvPr id="0" name=""/>
        <dsp:cNvSpPr/>
      </dsp:nvSpPr>
      <dsp:spPr>
        <a:xfrm>
          <a:off x="5622924" y="74347"/>
          <a:ext cx="2555874" cy="153352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Adaptability</a:t>
          </a:r>
          <a:endParaRPr lang="en-US" sz="3200" kern="1200" dirty="0"/>
        </a:p>
      </dsp:txBody>
      <dsp:txXfrm>
        <a:off x="5622924" y="74347"/>
        <a:ext cx="2555874" cy="1533524"/>
      </dsp:txXfrm>
    </dsp:sp>
    <dsp:sp modelId="{D91992B5-8647-4DA3-BA19-0FBB00F83FE8}">
      <dsp:nvSpPr>
        <dsp:cNvPr id="0" name=""/>
        <dsp:cNvSpPr/>
      </dsp:nvSpPr>
      <dsp:spPr>
        <a:xfrm>
          <a:off x="1405731" y="1863460"/>
          <a:ext cx="2555874" cy="153352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Collaboration</a:t>
          </a:r>
          <a:endParaRPr lang="en-US" sz="3200" kern="1200" dirty="0"/>
        </a:p>
      </dsp:txBody>
      <dsp:txXfrm>
        <a:off x="1405731" y="1863460"/>
        <a:ext cx="2555874" cy="1533524"/>
      </dsp:txXfrm>
    </dsp:sp>
    <dsp:sp modelId="{52B92EC4-FF5C-439F-9FF0-77716267A6D8}">
      <dsp:nvSpPr>
        <dsp:cNvPr id="0" name=""/>
        <dsp:cNvSpPr/>
      </dsp:nvSpPr>
      <dsp:spPr>
        <a:xfrm>
          <a:off x="4217193" y="1863460"/>
          <a:ext cx="2555874" cy="153352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217193" y="1863460"/>
        <a:ext cx="2555874" cy="1533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74347"/>
          <a:ext cx="2555874" cy="15335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Iterations</a:t>
          </a:r>
          <a:endParaRPr lang="en-US" sz="3200" kern="1200" dirty="0"/>
        </a:p>
      </dsp:txBody>
      <dsp:txXfrm>
        <a:off x="0" y="74347"/>
        <a:ext cx="2555874" cy="1533524"/>
      </dsp:txXfrm>
    </dsp:sp>
    <dsp:sp modelId="{822120BB-9E70-41F6-838C-2AB42B9F5B56}">
      <dsp:nvSpPr>
        <dsp:cNvPr id="0" name=""/>
        <dsp:cNvSpPr/>
      </dsp:nvSpPr>
      <dsp:spPr>
        <a:xfrm>
          <a:off x="2811462" y="74347"/>
          <a:ext cx="2555874" cy="153352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Prioritization</a:t>
          </a:r>
          <a:endParaRPr lang="en-US" sz="3200" kern="1200" dirty="0"/>
        </a:p>
      </dsp:txBody>
      <dsp:txXfrm>
        <a:off x="2811462" y="74347"/>
        <a:ext cx="2555874" cy="1533524"/>
      </dsp:txXfrm>
    </dsp:sp>
    <dsp:sp modelId="{F45B26B3-55B9-4F65-B9B7-15C6781F5B0D}">
      <dsp:nvSpPr>
        <dsp:cNvPr id="0" name=""/>
        <dsp:cNvSpPr/>
      </dsp:nvSpPr>
      <dsp:spPr>
        <a:xfrm>
          <a:off x="5622924" y="74347"/>
          <a:ext cx="2555874" cy="153352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Adaptability</a:t>
          </a:r>
          <a:endParaRPr lang="en-US" sz="3200" kern="1200" dirty="0"/>
        </a:p>
      </dsp:txBody>
      <dsp:txXfrm>
        <a:off x="5622924" y="74347"/>
        <a:ext cx="2555874" cy="1533524"/>
      </dsp:txXfrm>
    </dsp:sp>
    <dsp:sp modelId="{D91992B5-8647-4DA3-BA19-0FBB00F83FE8}">
      <dsp:nvSpPr>
        <dsp:cNvPr id="0" name=""/>
        <dsp:cNvSpPr/>
      </dsp:nvSpPr>
      <dsp:spPr>
        <a:xfrm>
          <a:off x="1405731" y="1863460"/>
          <a:ext cx="2555874" cy="153352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Collaboration</a:t>
          </a:r>
          <a:endParaRPr lang="en-US" sz="3200" kern="1200" dirty="0"/>
        </a:p>
      </dsp:txBody>
      <dsp:txXfrm>
        <a:off x="1405731" y="1863460"/>
        <a:ext cx="2555874" cy="1533524"/>
      </dsp:txXfrm>
    </dsp:sp>
    <dsp:sp modelId="{52B92EC4-FF5C-439F-9FF0-77716267A6D8}">
      <dsp:nvSpPr>
        <dsp:cNvPr id="0" name=""/>
        <dsp:cNvSpPr/>
      </dsp:nvSpPr>
      <dsp:spPr>
        <a:xfrm>
          <a:off x="4217193" y="1863460"/>
          <a:ext cx="2555874" cy="153352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217193" y="1863460"/>
        <a:ext cx="2555874" cy="15335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74347"/>
          <a:ext cx="2555874" cy="15335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Iterations</a:t>
          </a:r>
          <a:endParaRPr lang="en-US" sz="3200" kern="1200" dirty="0"/>
        </a:p>
      </dsp:txBody>
      <dsp:txXfrm>
        <a:off x="0" y="74347"/>
        <a:ext cx="2555874" cy="1533524"/>
      </dsp:txXfrm>
    </dsp:sp>
    <dsp:sp modelId="{822120BB-9E70-41F6-838C-2AB42B9F5B56}">
      <dsp:nvSpPr>
        <dsp:cNvPr id="0" name=""/>
        <dsp:cNvSpPr/>
      </dsp:nvSpPr>
      <dsp:spPr>
        <a:xfrm>
          <a:off x="2811462" y="74347"/>
          <a:ext cx="2555874" cy="153352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Prioritization</a:t>
          </a:r>
          <a:endParaRPr lang="en-US" sz="3200" kern="1200" dirty="0"/>
        </a:p>
      </dsp:txBody>
      <dsp:txXfrm>
        <a:off x="2811462" y="74347"/>
        <a:ext cx="2555874" cy="1533524"/>
      </dsp:txXfrm>
    </dsp:sp>
    <dsp:sp modelId="{F45B26B3-55B9-4F65-B9B7-15C6781F5B0D}">
      <dsp:nvSpPr>
        <dsp:cNvPr id="0" name=""/>
        <dsp:cNvSpPr/>
      </dsp:nvSpPr>
      <dsp:spPr>
        <a:xfrm>
          <a:off x="5622924" y="74347"/>
          <a:ext cx="2555874" cy="153352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Adaptability</a:t>
          </a:r>
          <a:endParaRPr lang="en-US" sz="3200" kern="1200" dirty="0"/>
        </a:p>
      </dsp:txBody>
      <dsp:txXfrm>
        <a:off x="5622924" y="74347"/>
        <a:ext cx="2555874" cy="1533524"/>
      </dsp:txXfrm>
    </dsp:sp>
    <dsp:sp modelId="{D91992B5-8647-4DA3-BA19-0FBB00F83FE8}">
      <dsp:nvSpPr>
        <dsp:cNvPr id="0" name=""/>
        <dsp:cNvSpPr/>
      </dsp:nvSpPr>
      <dsp:spPr>
        <a:xfrm>
          <a:off x="1405731" y="1863460"/>
          <a:ext cx="2555874" cy="153352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Collaboration</a:t>
          </a:r>
          <a:endParaRPr lang="en-US" sz="3200" kern="1200" dirty="0"/>
        </a:p>
      </dsp:txBody>
      <dsp:txXfrm>
        <a:off x="1405731" y="1863460"/>
        <a:ext cx="2555874" cy="1533524"/>
      </dsp:txXfrm>
    </dsp:sp>
    <dsp:sp modelId="{52B92EC4-FF5C-439F-9FF0-77716267A6D8}">
      <dsp:nvSpPr>
        <dsp:cNvPr id="0" name=""/>
        <dsp:cNvSpPr/>
      </dsp:nvSpPr>
      <dsp:spPr>
        <a:xfrm>
          <a:off x="4217193" y="1863460"/>
          <a:ext cx="2555874" cy="153352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Continuous Improvement</a:t>
          </a:r>
          <a:endParaRPr lang="en-US" sz="3200" kern="1200" dirty="0"/>
        </a:p>
      </dsp:txBody>
      <dsp:txXfrm>
        <a:off x="4217193" y="1863460"/>
        <a:ext cx="2555874" cy="15335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0" y="89825"/>
          <a:ext cx="2532062" cy="15192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Iterations</a:t>
          </a:r>
          <a:endParaRPr lang="en-US" sz="3100" kern="1200" dirty="0"/>
        </a:p>
      </dsp:txBody>
      <dsp:txXfrm>
        <a:off x="0" y="89825"/>
        <a:ext cx="2532062" cy="1519237"/>
      </dsp:txXfrm>
    </dsp:sp>
    <dsp:sp modelId="{822120BB-9E70-41F6-838C-2AB42B9F5B56}">
      <dsp:nvSpPr>
        <dsp:cNvPr id="0" name=""/>
        <dsp:cNvSpPr/>
      </dsp:nvSpPr>
      <dsp:spPr>
        <a:xfrm>
          <a:off x="2785268" y="89825"/>
          <a:ext cx="2532062" cy="151923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Prioritization</a:t>
          </a:r>
          <a:endParaRPr lang="en-US" sz="3100" kern="1200" dirty="0"/>
        </a:p>
      </dsp:txBody>
      <dsp:txXfrm>
        <a:off x="2785268" y="89825"/>
        <a:ext cx="2532062" cy="1519237"/>
      </dsp:txXfrm>
    </dsp:sp>
    <dsp:sp modelId="{F45B26B3-55B9-4F65-B9B7-15C6781F5B0D}">
      <dsp:nvSpPr>
        <dsp:cNvPr id="0" name=""/>
        <dsp:cNvSpPr/>
      </dsp:nvSpPr>
      <dsp:spPr>
        <a:xfrm>
          <a:off x="5570537" y="89825"/>
          <a:ext cx="2532062" cy="151923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Adaptability</a:t>
          </a:r>
          <a:endParaRPr lang="en-US" sz="3100" kern="1200" dirty="0"/>
        </a:p>
      </dsp:txBody>
      <dsp:txXfrm>
        <a:off x="5570537" y="89825"/>
        <a:ext cx="2532062" cy="1519237"/>
      </dsp:txXfrm>
    </dsp:sp>
    <dsp:sp modelId="{D91992B5-8647-4DA3-BA19-0FBB00F83FE8}">
      <dsp:nvSpPr>
        <dsp:cNvPr id="0" name=""/>
        <dsp:cNvSpPr/>
      </dsp:nvSpPr>
      <dsp:spPr>
        <a:xfrm>
          <a:off x="1392634" y="1862269"/>
          <a:ext cx="2532062" cy="151923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Collaboration</a:t>
          </a:r>
          <a:endParaRPr lang="en-US" sz="3100" kern="1200" dirty="0"/>
        </a:p>
      </dsp:txBody>
      <dsp:txXfrm>
        <a:off x="1392634" y="1862269"/>
        <a:ext cx="2532062" cy="1519237"/>
      </dsp:txXfrm>
    </dsp:sp>
    <dsp:sp modelId="{52B92EC4-FF5C-439F-9FF0-77716267A6D8}">
      <dsp:nvSpPr>
        <dsp:cNvPr id="0" name=""/>
        <dsp:cNvSpPr/>
      </dsp:nvSpPr>
      <dsp:spPr>
        <a:xfrm>
          <a:off x="4177903" y="1862269"/>
          <a:ext cx="2532062" cy="151923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Continuous Improvement</a:t>
          </a:r>
          <a:endParaRPr lang="en-US" sz="3100" kern="1200" dirty="0"/>
        </a:p>
      </dsp:txBody>
      <dsp:txXfrm>
        <a:off x="4177903" y="1862269"/>
        <a:ext cx="2532062" cy="1519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2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8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598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01600" y="621609"/>
            <a:ext cx="11963399" cy="156966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an approach to managing projects and developing products that focuses on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flexibility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Instead of following a rigid plan from start to finish,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work in short cycles called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or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Here's a simplified breakdown of how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works</a:t>
            </a:r>
            <a:endParaRPr lang="en-US" sz="3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235181"/>
              </p:ext>
            </p:extLst>
          </p:nvPr>
        </p:nvGraphicFramePr>
        <p:xfrm>
          <a:off x="2032000" y="26670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165065"/>
              </p:ext>
            </p:extLst>
          </p:nvPr>
        </p:nvGraphicFramePr>
        <p:xfrm>
          <a:off x="2032000" y="2853267"/>
          <a:ext cx="81788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9A430A0-66CB-C2D5-524D-E75EBE7B5383}"/>
              </a:ext>
            </a:extLst>
          </p:cNvPr>
          <p:cNvSpPr/>
          <p:nvPr/>
        </p:nvSpPr>
        <p:spPr>
          <a:xfrm>
            <a:off x="390015" y="838200"/>
            <a:ext cx="11279807" cy="1295400"/>
          </a:xfrm>
          <a:prstGeom prst="wedgeRectCallout">
            <a:avLst>
              <a:gd name="adj1" fmla="val -22953"/>
              <a:gd name="adj2" fmla="val 1164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Iterations</a:t>
            </a:r>
            <a:r>
              <a:rPr lang="en-US" sz="2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are divided into short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typically lasting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1-4 weeks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Each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involves a cross-functional team working together to deliver a small, usable piece of the product.</a:t>
            </a:r>
            <a:endParaRPr lang="en-US" sz="3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94428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548785"/>
              </p:ext>
            </p:extLst>
          </p:nvPr>
        </p:nvGraphicFramePr>
        <p:xfrm>
          <a:off x="2032000" y="2929467"/>
          <a:ext cx="81788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9A430A0-66CB-C2D5-524D-E75EBE7B5383}"/>
              </a:ext>
            </a:extLst>
          </p:cNvPr>
          <p:cNvSpPr/>
          <p:nvPr/>
        </p:nvSpPr>
        <p:spPr>
          <a:xfrm>
            <a:off x="390015" y="914400"/>
            <a:ext cx="11279807" cy="1295400"/>
          </a:xfrm>
          <a:prstGeom prst="wedgeRectCallout">
            <a:avLst>
              <a:gd name="adj1" fmla="val -5119"/>
              <a:gd name="adj2" fmla="val 11564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Prioritization</a:t>
            </a:r>
            <a:r>
              <a:rPr lang="en-US" sz="2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At the beginning of each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team and stakeholders decide which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features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or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tasks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are the most important to work on next. These are often based on customer feedback, market changes, or business needs.</a:t>
            </a:r>
            <a:endParaRPr lang="en-US" sz="4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38321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0156996"/>
              </p:ext>
            </p:extLst>
          </p:nvPr>
        </p:nvGraphicFramePr>
        <p:xfrm>
          <a:off x="2032000" y="2929467"/>
          <a:ext cx="81788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9A430A0-66CB-C2D5-524D-E75EBE7B5383}"/>
              </a:ext>
            </a:extLst>
          </p:cNvPr>
          <p:cNvSpPr/>
          <p:nvPr/>
        </p:nvSpPr>
        <p:spPr>
          <a:xfrm>
            <a:off x="390015" y="914400"/>
            <a:ext cx="11279807" cy="1295400"/>
          </a:xfrm>
          <a:prstGeom prst="wedgeRectCallout">
            <a:avLst>
              <a:gd name="adj1" fmla="val 19677"/>
              <a:gd name="adj2" fmla="val 1098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Adaptability</a:t>
            </a:r>
            <a:r>
              <a:rPr lang="en-US" sz="2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are able to adapt to change quickly. If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priorities shift or new information comes to light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team can adjust their plans and priorities for the next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en-US" sz="6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0405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62435"/>
              </p:ext>
            </p:extLst>
          </p:nvPr>
        </p:nvGraphicFramePr>
        <p:xfrm>
          <a:off x="2032000" y="762000"/>
          <a:ext cx="81788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9A430A0-66CB-C2D5-524D-E75EBE7B5383}"/>
              </a:ext>
            </a:extLst>
          </p:cNvPr>
          <p:cNvSpPr/>
          <p:nvPr/>
        </p:nvSpPr>
        <p:spPr>
          <a:xfrm>
            <a:off x="410635" y="4800600"/>
            <a:ext cx="11279807" cy="1295400"/>
          </a:xfrm>
          <a:prstGeom prst="wedgeRectCallout">
            <a:avLst>
              <a:gd name="adj1" fmla="val -6264"/>
              <a:gd name="adj2" fmla="val -10940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Agile encourages close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between team members, stakeholders, and customers. This helps ensure that everyone is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aligned on goals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feedback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incorporated throughout the process, and the final product meets user needs.</a:t>
            </a:r>
            <a:endParaRPr lang="en-US" sz="8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7250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/>
        </p:nvGraphicFramePr>
        <p:xfrm>
          <a:off x="2032000" y="762000"/>
          <a:ext cx="81788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9A430A0-66CB-C2D5-524D-E75EBE7B5383}"/>
              </a:ext>
            </a:extLst>
          </p:cNvPr>
          <p:cNvSpPr/>
          <p:nvPr/>
        </p:nvSpPr>
        <p:spPr>
          <a:xfrm>
            <a:off x="410635" y="4800600"/>
            <a:ext cx="11279807" cy="1295400"/>
          </a:xfrm>
          <a:prstGeom prst="wedgeRectCallout">
            <a:avLst>
              <a:gd name="adj1" fmla="val 6230"/>
              <a:gd name="adj2" fmla="val -10608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teams regularly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reflect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on their processes and outcomes to identify areas for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improvement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This could involve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refining team practices, streamlining workflows, or enhancing </a:t>
            </a:r>
          </a:p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features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based on user feedback.</a:t>
            </a:r>
            <a:endParaRPr lang="en-US" sz="1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56536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Overall,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about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delivering value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customers more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quickly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efficiently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by </a:t>
            </a:r>
          </a:p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breaking down work into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smaller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manageable chunks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remaining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responsive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to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change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throughout the project lifecycle.</a:t>
            </a:r>
            <a:endParaRPr lang="en-US" sz="4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/>
        </p:nvGraphicFramePr>
        <p:xfrm>
          <a:off x="2032000" y="26670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4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91820</TotalTime>
  <Words>392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10017</cp:revision>
  <dcterms:created xsi:type="dcterms:W3CDTF">2006-08-16T00:00:00Z</dcterms:created>
  <dcterms:modified xsi:type="dcterms:W3CDTF">2024-05-01T02:21:31Z</dcterms:modified>
</cp:coreProperties>
</file>