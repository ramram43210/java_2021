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6"/>
  </p:notesMasterIdLst>
  <p:sldIdLst>
    <p:sldId id="474" r:id="rId2"/>
    <p:sldId id="476" r:id="rId3"/>
    <p:sldId id="478" r:id="rId4"/>
    <p:sldId id="485" r:id="rId5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8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67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03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://142.251.46.238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acts as an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address book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It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translates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human-readable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domain names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(google.com) to machine-readable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IP addresses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(142.251.46.238).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0D0D0D"/>
              </a:solidFill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Spectral"/>
              </a:rPr>
              <a:t>To achieve better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pectral"/>
              </a:rPr>
              <a:t>scalability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Spectral"/>
              </a:rPr>
              <a:t>,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pectral"/>
              </a:rPr>
              <a:t>DNS servers 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Spectral"/>
              </a:rPr>
              <a:t>are organized in a hierarchical tree structure.</a:t>
            </a: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450525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What is DNS?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276600" y="25434"/>
            <a:ext cx="6172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How does the Domain Name System (DNS) lookup work?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8177C2-1C17-DEF7-A131-1BF54CDD8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514562"/>
            <a:ext cx="9067800" cy="404952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230832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C00000"/>
                </a:solidFill>
                <a:effectLst/>
              </a:rPr>
              <a:t>Root name server (.).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It stores the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IP addresses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of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Top Level Domain (TLD) name servers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. There are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13 logical root name servers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 globally.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i="0" dirty="0">
                <a:solidFill>
                  <a:srgbClr val="C00000"/>
                </a:solidFill>
                <a:effectLst/>
              </a:rPr>
              <a:t>2. TLD name server.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It stores the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IP addresses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of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authoritative name servers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. There are several types of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TLD names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. For example,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generic TLD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(.com, .org),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country code TLD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(.us),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test TLD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(.test).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i="0" dirty="0">
                <a:solidFill>
                  <a:srgbClr val="C00000"/>
                </a:solidFill>
                <a:effectLst/>
              </a:rPr>
              <a:t>3. Authoritative name server.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It provides actual answers to the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DNS query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. You can register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authoritative name servers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with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domain name registrar </a:t>
            </a:r>
            <a:r>
              <a:rPr lang="en-US" sz="1800" b="0" i="0" dirty="0">
                <a:solidFill>
                  <a:srgbClr val="404040"/>
                </a:solidFill>
                <a:effectLst/>
              </a:rPr>
              <a:t>such as GoDaddy, Google, Yahoo etc. </a:t>
            </a:r>
            <a:endParaRPr lang="en-US" sz="2800" b="0" i="0" dirty="0">
              <a:solidFill>
                <a:srgbClr val="0D0D0D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3840410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There are 3 basic levels of DNS servers: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E9B19A-E2BA-C9CA-AFA0-4E04DEA2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418114"/>
            <a:ext cx="7505700" cy="33519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67485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647274"/>
            <a:ext cx="11832164" cy="156966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404040"/>
                </a:solidFill>
                <a:effectLst/>
              </a:rPr>
              <a:t>1. </a:t>
            </a:r>
            <a:r>
              <a:rPr lang="en-US" sz="1200" u="sng" dirty="0">
                <a:solidFill>
                  <a:srgbClr val="FF0000"/>
                </a:solidFill>
              </a:rPr>
              <a:t>www.</a:t>
            </a:r>
            <a:r>
              <a:rPr lang="en-US" sz="1200" u="sng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</a:t>
            </a:r>
            <a:r>
              <a:rPr lang="en-US" sz="1200" b="0" i="0" u="sng" dirty="0">
                <a:solidFill>
                  <a:srgbClr val="FF0000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 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is typed into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browser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, and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browser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 sends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domain name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to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.</a:t>
            </a:r>
            <a:br>
              <a:rPr lang="en-US" sz="1200" dirty="0"/>
            </a:br>
            <a:r>
              <a:rPr lang="en-US" sz="1200" b="0" i="0" dirty="0">
                <a:solidFill>
                  <a:srgbClr val="404040"/>
                </a:solidFill>
                <a:effectLst/>
              </a:rPr>
              <a:t>2.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queries a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root name server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.</a:t>
            </a:r>
            <a:br>
              <a:rPr lang="en-US" sz="1200" dirty="0"/>
            </a:br>
            <a:r>
              <a:rPr lang="en-US" sz="1200" b="0" i="0" dirty="0">
                <a:solidFill>
                  <a:srgbClr val="404040"/>
                </a:solidFill>
                <a:effectLst/>
              </a:rPr>
              <a:t>3.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root server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responds to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with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IP address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of a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TLD DNS server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. In this case, it is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.com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.</a:t>
            </a:r>
            <a:br>
              <a:rPr lang="en-US" sz="1200" dirty="0"/>
            </a:br>
            <a:r>
              <a:rPr lang="en-US" sz="1200" b="0" i="0" dirty="0">
                <a:solidFill>
                  <a:srgbClr val="404040"/>
                </a:solidFill>
                <a:effectLst/>
              </a:rPr>
              <a:t>4.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then makes a request to the .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com TLD.</a:t>
            </a:r>
          </a:p>
          <a:p>
            <a:r>
              <a:rPr lang="en-US" sz="1200" b="0" i="0" dirty="0">
                <a:solidFill>
                  <a:srgbClr val="404040"/>
                </a:solidFill>
                <a:effectLst/>
              </a:rPr>
              <a:t>5.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TLD server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 responds with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IP address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of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domain’s name server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, </a:t>
            </a:r>
            <a:r>
              <a:rPr lang="en-US" sz="1200" b="0" i="0" u="sng" dirty="0">
                <a:effectLst/>
                <a:hlinkClick r:id="rId3"/>
              </a:rPr>
              <a:t>google.com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 (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authoritative name server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).</a:t>
            </a:r>
            <a:br>
              <a:rPr lang="en-US" sz="1200" dirty="0"/>
            </a:br>
            <a:r>
              <a:rPr lang="en-US" sz="1200" b="0" i="0" dirty="0">
                <a:solidFill>
                  <a:srgbClr val="404040"/>
                </a:solidFill>
                <a:effectLst/>
              </a:rPr>
              <a:t>6.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 sends a query to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domain’s nameserver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.</a:t>
            </a:r>
            <a:br>
              <a:rPr lang="en-US" sz="1200" dirty="0"/>
            </a:br>
            <a:r>
              <a:rPr lang="en-US" sz="1200" b="0" i="0" dirty="0">
                <a:solidFill>
                  <a:srgbClr val="404040"/>
                </a:solidFill>
                <a:effectLst/>
              </a:rPr>
              <a:t>7.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IP address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for </a:t>
            </a:r>
            <a:r>
              <a:rPr lang="en-US" sz="1200" b="0" i="0" u="sng" dirty="0">
                <a:effectLst/>
                <a:hlinkClick r:id="rId3"/>
              </a:rPr>
              <a:t>google.com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 is then returned to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from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nameserver.</a:t>
            </a:r>
            <a:br>
              <a:rPr lang="en-US" sz="1200" dirty="0"/>
            </a:br>
            <a:r>
              <a:rPr lang="en-US" sz="1200" b="0" i="0" dirty="0">
                <a:solidFill>
                  <a:srgbClr val="404040"/>
                </a:solidFill>
                <a:effectLst/>
              </a:rPr>
              <a:t>8.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DNS resolver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responds to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web browser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with the </a:t>
            </a:r>
            <a:r>
              <a:rPr lang="en-US" sz="1200" b="0" i="0" dirty="0">
                <a:solidFill>
                  <a:srgbClr val="FF0000"/>
                </a:solidFill>
                <a:effectLst/>
              </a:rPr>
              <a:t>IP address 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(</a:t>
            </a:r>
            <a:r>
              <a:rPr lang="en-US" sz="1200" b="0" i="0" u="sng" dirty="0">
                <a:effectLst/>
                <a:hlinkClick r:id="rId4"/>
              </a:rPr>
              <a:t>142.251.46.238</a:t>
            </a:r>
            <a:r>
              <a:rPr lang="en-US" sz="1200" b="0" i="0" dirty="0">
                <a:solidFill>
                  <a:srgbClr val="404040"/>
                </a:solidFill>
                <a:effectLst/>
              </a:rPr>
              <a:t>) of the domain requested initially.</a:t>
            </a:r>
            <a:endParaRPr lang="en-US" sz="1800" b="0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74F6DF-0897-3E00-E996-15FE4AF4E1F9}"/>
              </a:ext>
            </a:extLst>
          </p:cNvPr>
          <p:cNvSpPr txBox="1"/>
          <p:nvPr/>
        </p:nvSpPr>
        <p:spPr>
          <a:xfrm>
            <a:off x="226808" y="228600"/>
            <a:ext cx="3110403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Steps involved in a DNS lookup: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203C9-0FDF-856E-3BCD-1E604C3BA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2338890"/>
            <a:ext cx="9869814" cy="440769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1487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1A750C-9557-4093-DD6D-4B405F65DBCA}"/>
              </a:ext>
            </a:extLst>
          </p:cNvPr>
          <p:cNvSpPr/>
          <p:nvPr/>
        </p:nvSpPr>
        <p:spPr>
          <a:xfrm>
            <a:off x="8077200" y="1371600"/>
            <a:ext cx="2971800" cy="76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800" b="1" dirty="0"/>
              <a:t>Root Name Server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379DD6-2164-DB82-2417-FAB475CD25A9}"/>
              </a:ext>
            </a:extLst>
          </p:cNvPr>
          <p:cNvSpPr/>
          <p:nvPr/>
        </p:nvSpPr>
        <p:spPr>
          <a:xfrm>
            <a:off x="8077200" y="3048000"/>
            <a:ext cx="2971800" cy="7620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700" b="1" dirty="0"/>
              <a:t>Top Level Domain</a:t>
            </a:r>
          </a:p>
          <a:p>
            <a:pPr algn="r"/>
            <a:r>
              <a:rPr lang="en-US" sz="1700" b="1" dirty="0"/>
              <a:t>(TLD) Name Server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A1EE47-5656-0138-B337-9B02F1DE7E9A}"/>
              </a:ext>
            </a:extLst>
          </p:cNvPr>
          <p:cNvSpPr/>
          <p:nvPr/>
        </p:nvSpPr>
        <p:spPr>
          <a:xfrm>
            <a:off x="8077200" y="4572000"/>
            <a:ext cx="2971800" cy="7620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800" b="1" dirty="0"/>
              <a:t>Authoritative </a:t>
            </a:r>
          </a:p>
          <a:p>
            <a:pPr algn="r"/>
            <a:r>
              <a:rPr lang="en-US" sz="1800" b="1" dirty="0"/>
              <a:t>Name 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94ADFF-055C-4363-B146-2A1A57AB92E2}"/>
              </a:ext>
            </a:extLst>
          </p:cNvPr>
          <p:cNvSpPr/>
          <p:nvPr/>
        </p:nvSpPr>
        <p:spPr>
          <a:xfrm>
            <a:off x="5029200" y="1371600"/>
            <a:ext cx="1295400" cy="411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DNS Resolver</a:t>
            </a:r>
          </a:p>
        </p:txBody>
      </p:sp>
      <p:pic>
        <p:nvPicPr>
          <p:cNvPr id="1026" name="Picture 2" descr="Web browser - Free interface icons">
            <a:extLst>
              <a:ext uri="{FF2B5EF4-FFF2-40B4-BE49-F238E27FC236}">
                <a16:creationId xmlns:a16="http://schemas.microsoft.com/office/drawing/2014/main" id="{120E8B63-7506-04DB-43E2-A359BCD65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11" y="2247900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33948D-9DAD-25B1-9A3C-35D204C9ECE0}"/>
              </a:ext>
            </a:extLst>
          </p:cNvPr>
          <p:cNvCxnSpPr/>
          <p:nvPr/>
        </p:nvCxnSpPr>
        <p:spPr>
          <a:xfrm>
            <a:off x="2819400" y="2590800"/>
            <a:ext cx="22098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38E00C-C2BC-CDB7-1E21-4CF742BA5807}"/>
              </a:ext>
            </a:extLst>
          </p:cNvPr>
          <p:cNvCxnSpPr>
            <a:cxnSpLocks/>
          </p:cNvCxnSpPr>
          <p:nvPr/>
        </p:nvCxnSpPr>
        <p:spPr>
          <a:xfrm flipH="1">
            <a:off x="2819400" y="4038600"/>
            <a:ext cx="22098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4934DB-448A-6349-E6C5-D6B4D309AF83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17526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998F474-81FF-FF91-C69C-64A5F0E67C22}"/>
              </a:ext>
            </a:extLst>
          </p:cNvPr>
          <p:cNvCxnSpPr>
            <a:cxnSpLocks/>
          </p:cNvCxnSpPr>
          <p:nvPr/>
        </p:nvCxnSpPr>
        <p:spPr>
          <a:xfrm flipH="1">
            <a:off x="6324600" y="1981200"/>
            <a:ext cx="17526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AF6CBE7-CA95-072A-4BE3-396E64CA6715}"/>
              </a:ext>
            </a:extLst>
          </p:cNvPr>
          <p:cNvCxnSpPr>
            <a:cxnSpLocks/>
          </p:cNvCxnSpPr>
          <p:nvPr/>
        </p:nvCxnSpPr>
        <p:spPr>
          <a:xfrm>
            <a:off x="6324600" y="3276600"/>
            <a:ext cx="17526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08DB2B-CB03-3EA8-D694-4DFE0A7311B8}"/>
              </a:ext>
            </a:extLst>
          </p:cNvPr>
          <p:cNvCxnSpPr>
            <a:cxnSpLocks/>
          </p:cNvCxnSpPr>
          <p:nvPr/>
        </p:nvCxnSpPr>
        <p:spPr>
          <a:xfrm flipH="1">
            <a:off x="6324600" y="3657600"/>
            <a:ext cx="17526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CA93A1-9667-8453-6706-ADA62B16C8E6}"/>
              </a:ext>
            </a:extLst>
          </p:cNvPr>
          <p:cNvCxnSpPr>
            <a:cxnSpLocks/>
          </p:cNvCxnSpPr>
          <p:nvPr/>
        </p:nvCxnSpPr>
        <p:spPr>
          <a:xfrm>
            <a:off x="6324600" y="4800600"/>
            <a:ext cx="17526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F36A93-3328-BCF0-7EA0-6CAB4B063958}"/>
              </a:ext>
            </a:extLst>
          </p:cNvPr>
          <p:cNvCxnSpPr>
            <a:cxnSpLocks/>
          </p:cNvCxnSpPr>
          <p:nvPr/>
        </p:nvCxnSpPr>
        <p:spPr>
          <a:xfrm flipH="1">
            <a:off x="6324600" y="5181600"/>
            <a:ext cx="17526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B95442A-517E-FCC8-4802-42D78050A5C0}"/>
              </a:ext>
            </a:extLst>
          </p:cNvPr>
          <p:cNvSpPr txBox="1"/>
          <p:nvPr/>
        </p:nvSpPr>
        <p:spPr>
          <a:xfrm>
            <a:off x="3133442" y="2247900"/>
            <a:ext cx="1665008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1. www.google.com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AC5DB9-76F5-B875-6128-C1D0B7458F06}"/>
              </a:ext>
            </a:extLst>
          </p:cNvPr>
          <p:cNvSpPr txBox="1"/>
          <p:nvPr/>
        </p:nvSpPr>
        <p:spPr>
          <a:xfrm>
            <a:off x="6379266" y="1249233"/>
            <a:ext cx="1665008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2. www.google.com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53A615-58A0-44F1-648B-B0EE9B275A89}"/>
              </a:ext>
            </a:extLst>
          </p:cNvPr>
          <p:cNvSpPr txBox="1"/>
          <p:nvPr/>
        </p:nvSpPr>
        <p:spPr>
          <a:xfrm>
            <a:off x="6410042" y="2057400"/>
            <a:ext cx="1758623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3. Go to Name server</a:t>
            </a:r>
          </a:p>
          <a:p>
            <a:r>
              <a:rPr lang="en-US" sz="1400" b="1" dirty="0"/>
              <a:t>    for .</a:t>
            </a:r>
            <a:r>
              <a:rPr lang="en-US" sz="1400" b="1" dirty="0">
                <a:solidFill>
                  <a:srgbClr val="FF0000"/>
                </a:solidFill>
              </a:rPr>
              <a:t>com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7D08AE-757F-8BD6-E65B-2F5F188AABB1}"/>
              </a:ext>
            </a:extLst>
          </p:cNvPr>
          <p:cNvSpPr txBox="1"/>
          <p:nvPr/>
        </p:nvSpPr>
        <p:spPr>
          <a:xfrm>
            <a:off x="6412192" y="2935189"/>
            <a:ext cx="1665008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4. www.google.com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656EC7-C4D1-5069-DC85-08875328237E}"/>
              </a:ext>
            </a:extLst>
          </p:cNvPr>
          <p:cNvSpPr txBox="1"/>
          <p:nvPr/>
        </p:nvSpPr>
        <p:spPr>
          <a:xfrm>
            <a:off x="6355594" y="3743981"/>
            <a:ext cx="1758623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5. Go to Name server</a:t>
            </a:r>
          </a:p>
          <a:p>
            <a:r>
              <a:rPr lang="en-US" sz="1400" b="1" dirty="0"/>
              <a:t>    for </a:t>
            </a:r>
            <a:r>
              <a:rPr lang="en-US" sz="1400" b="1" dirty="0">
                <a:solidFill>
                  <a:srgbClr val="FF0000"/>
                </a:solidFill>
              </a:rPr>
              <a:t>google.com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C327B8-0C1E-BF8A-68F1-5D017ABF1CCD}"/>
              </a:ext>
            </a:extLst>
          </p:cNvPr>
          <p:cNvSpPr txBox="1"/>
          <p:nvPr/>
        </p:nvSpPr>
        <p:spPr>
          <a:xfrm>
            <a:off x="6410042" y="4456212"/>
            <a:ext cx="1665008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6. www.google.com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6C51AB-DCA9-50AB-F6BC-6FA17D960F46}"/>
              </a:ext>
            </a:extLst>
          </p:cNvPr>
          <p:cNvSpPr txBox="1"/>
          <p:nvPr/>
        </p:nvSpPr>
        <p:spPr>
          <a:xfrm>
            <a:off x="6555350" y="5224790"/>
            <a:ext cx="1334020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7. IP Address =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142.151.45.200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4C1446-47DB-EAC0-6371-031D668AE1C4}"/>
              </a:ext>
            </a:extLst>
          </p:cNvPr>
          <p:cNvSpPr/>
          <p:nvPr/>
        </p:nvSpPr>
        <p:spPr>
          <a:xfrm>
            <a:off x="8318238" y="1442712"/>
            <a:ext cx="533400" cy="60959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3600" dirty="0"/>
              <a:t>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45E706-BAB2-CA1C-4152-0C6BD5E35FA5}"/>
              </a:ext>
            </a:extLst>
          </p:cNvPr>
          <p:cNvSpPr/>
          <p:nvPr/>
        </p:nvSpPr>
        <p:spPr>
          <a:xfrm>
            <a:off x="8402336" y="4648200"/>
            <a:ext cx="817864" cy="60959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google.</a:t>
            </a:r>
          </a:p>
          <a:p>
            <a:pPr algn="ctr"/>
            <a:r>
              <a:rPr lang="en-US" sz="1400" dirty="0"/>
              <a:t>com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A7EBA3-21A3-D654-5760-F922C654FC28}"/>
              </a:ext>
            </a:extLst>
          </p:cNvPr>
          <p:cNvSpPr/>
          <p:nvPr/>
        </p:nvSpPr>
        <p:spPr>
          <a:xfrm>
            <a:off x="8334034" y="3119110"/>
            <a:ext cx="670004" cy="60959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.com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9B4AD1-87F2-6EA5-18C9-C9911F21C1BF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>
            <a:off x="8584938" y="2052311"/>
            <a:ext cx="84098" cy="1066799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D64376A-D227-6CC5-672D-4D2C456E48A0}"/>
              </a:ext>
            </a:extLst>
          </p:cNvPr>
          <p:cNvCxnSpPr>
            <a:cxnSpLocks/>
          </p:cNvCxnSpPr>
          <p:nvPr/>
        </p:nvCxnSpPr>
        <p:spPr>
          <a:xfrm>
            <a:off x="8711085" y="3810000"/>
            <a:ext cx="0" cy="8001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47A72F3-D6B9-D4FE-B4EA-247BCCEAAE7C}"/>
              </a:ext>
            </a:extLst>
          </p:cNvPr>
          <p:cNvSpPr txBox="1"/>
          <p:nvPr/>
        </p:nvSpPr>
        <p:spPr>
          <a:xfrm>
            <a:off x="991660" y="1701700"/>
            <a:ext cx="123681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76B19C-3F6A-2C71-E36D-295DFEC24A39}"/>
              </a:ext>
            </a:extLst>
          </p:cNvPr>
          <p:cNvSpPr txBox="1"/>
          <p:nvPr/>
        </p:nvSpPr>
        <p:spPr>
          <a:xfrm>
            <a:off x="3147390" y="4133017"/>
            <a:ext cx="1334020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8. IP Address =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142.151.45.200</a:t>
            </a:r>
          </a:p>
        </p:txBody>
      </p:sp>
    </p:spTree>
    <p:extLst>
      <p:ext uri="{BB962C8B-B14F-4D97-AF65-F5344CB8AC3E}">
        <p14:creationId xmlns:p14="http://schemas.microsoft.com/office/powerpoint/2010/main" val="350953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91859</TotalTime>
  <Words>451</Words>
  <Application>Microsoft Office PowerPoint</Application>
  <PresentationFormat>Widescreen</PresentationFormat>
  <Paragraphs>39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Söhne</vt:lpstr>
      <vt:lpstr>Spectral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10009</cp:revision>
  <dcterms:created xsi:type="dcterms:W3CDTF">2006-08-16T00:00:00Z</dcterms:created>
  <dcterms:modified xsi:type="dcterms:W3CDTF">2024-04-09T05:06:26Z</dcterms:modified>
</cp:coreProperties>
</file>