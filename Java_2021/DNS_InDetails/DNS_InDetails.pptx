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9"/>
  </p:notesMasterIdLst>
  <p:sldIdLst>
    <p:sldId id="474" r:id="rId2"/>
    <p:sldId id="476" r:id="rId3"/>
    <p:sldId id="478" r:id="rId4"/>
    <p:sldId id="479" r:id="rId5"/>
    <p:sldId id="480" r:id="rId6"/>
    <p:sldId id="475" r:id="rId7"/>
    <p:sldId id="481" r:id="rId8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77" autoAdjust="0"/>
    <p:restoredTop sz="94291" autoAdjust="0"/>
  </p:normalViewPr>
  <p:slideViewPr>
    <p:cSldViewPr>
      <p:cViewPr>
        <p:scale>
          <a:sx n="71" d="100"/>
          <a:sy n="71" d="100"/>
        </p:scale>
        <p:origin x="1157" y="91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4/7/2024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88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184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567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526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9851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699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630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07436" y="961207"/>
            <a:ext cx="11832164" cy="92333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DNS, or Domain Name System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, is a fundamental part of the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internet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 that acts like a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phonebook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 for the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web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. It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translates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 human-readable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domain names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, like "google.com" or "facebook.com," into numerical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IP addresses 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that computers use to identify each other on the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öhne"/>
              </a:rPr>
              <a:t>internet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D1BC91-471D-C9CD-39B4-2D0792D039D3}"/>
              </a:ext>
            </a:extLst>
          </p:cNvPr>
          <p:cNvSpPr txBox="1"/>
          <p:nvPr/>
        </p:nvSpPr>
        <p:spPr>
          <a:xfrm>
            <a:off x="226808" y="542533"/>
            <a:ext cx="1450525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What is DNS?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478D61-4C92-7941-58A9-5E82685F356E}"/>
              </a:ext>
            </a:extLst>
          </p:cNvPr>
          <p:cNvSpPr/>
          <p:nvPr/>
        </p:nvSpPr>
        <p:spPr>
          <a:xfrm>
            <a:off x="3905249" y="25434"/>
            <a:ext cx="43815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DNS: A Beginner's Guide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BC6A3E-43EC-3C33-0913-7E72D258A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133600"/>
            <a:ext cx="7180983" cy="453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809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07436" y="961207"/>
            <a:ext cx="11832164" cy="1323439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1600" b="1" i="0" dirty="0">
                <a:solidFill>
                  <a:srgbClr val="FF0000"/>
                </a:solidFill>
                <a:effectLst/>
                <a:latin typeface="Söhne"/>
              </a:rPr>
              <a:t>1. User Input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: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When you type a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domain name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(e.g., "example.com") into your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web browser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and press Enter, your device needs to find the </a:t>
            </a:r>
          </a:p>
          <a:p>
            <a:pPr algn="l"/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IP address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associated with that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domain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 to load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website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  <a:b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sz="1600" dirty="0">
              <a:solidFill>
                <a:srgbClr val="0D0D0D"/>
              </a:solidFill>
              <a:latin typeface="Söhne"/>
            </a:endParaRPr>
          </a:p>
          <a:p>
            <a:pPr algn="l"/>
            <a:r>
              <a:rPr lang="en-US" sz="1600" b="1" i="0" dirty="0">
                <a:solidFill>
                  <a:srgbClr val="FF0000"/>
                </a:solidFill>
                <a:effectLst/>
                <a:latin typeface="Söhne"/>
              </a:rPr>
              <a:t>2. DNS Query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: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Your device sends a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request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 called a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DNS query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to a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DNS resolver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(usually provided by your internet service provider or configured manually).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DNS resolver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is like a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librarian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 who knows where to look for the information you need.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D1BC91-471D-C9CD-39B4-2D0792D039D3}"/>
              </a:ext>
            </a:extLst>
          </p:cNvPr>
          <p:cNvSpPr txBox="1"/>
          <p:nvPr/>
        </p:nvSpPr>
        <p:spPr>
          <a:xfrm>
            <a:off x="226808" y="542533"/>
            <a:ext cx="2196627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How does DNS work?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478D61-4C92-7941-58A9-5E82685F356E}"/>
              </a:ext>
            </a:extLst>
          </p:cNvPr>
          <p:cNvSpPr/>
          <p:nvPr/>
        </p:nvSpPr>
        <p:spPr>
          <a:xfrm>
            <a:off x="3905249" y="25434"/>
            <a:ext cx="43815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DNS: A Beginner's Guide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95480-99FE-2F61-67F6-94F4E8014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126" y="2430627"/>
            <a:ext cx="7104783" cy="428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852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07436" y="961207"/>
            <a:ext cx="11832164" cy="1323439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1600" b="1" i="0" dirty="0">
                <a:solidFill>
                  <a:srgbClr val="FF0000"/>
                </a:solidFill>
                <a:effectLst/>
                <a:latin typeface="Söhne"/>
              </a:rPr>
              <a:t>3. DNS Lookup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: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DNS resolver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checks its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cache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 to see if it already knows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IP address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for the requested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domain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. If not, it begins the process of finding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IP address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by querying other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DNS servers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  <a:b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sz="1600" b="0" i="0" dirty="0">
              <a:solidFill>
                <a:srgbClr val="FF0000"/>
              </a:solidFill>
              <a:effectLst/>
              <a:latin typeface="Söhne"/>
            </a:endParaRPr>
          </a:p>
          <a:p>
            <a:pPr algn="l"/>
            <a:r>
              <a:rPr lang="en-US" sz="1600" b="1" i="0" dirty="0">
                <a:solidFill>
                  <a:srgbClr val="FF0000"/>
                </a:solidFill>
                <a:effectLst/>
                <a:latin typeface="Söhne"/>
              </a:rPr>
              <a:t>Root DNS Servers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: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If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DNS resolver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doesn't have the information in its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cache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, it contacts a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root DNS server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. These servers store the information for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top-level domains (like .com, .org, </a:t>
            </a:r>
            <a:r>
              <a:rPr lang="en-US" sz="1600" b="0" i="0" dirty="0" err="1">
                <a:solidFill>
                  <a:srgbClr val="FF0000"/>
                </a:solidFill>
                <a:effectLst/>
                <a:latin typeface="Söhne"/>
              </a:rPr>
              <a:t>.net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)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and direct queries to the appropriate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top-level domain server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D1BC91-471D-C9CD-39B4-2D0792D039D3}"/>
              </a:ext>
            </a:extLst>
          </p:cNvPr>
          <p:cNvSpPr txBox="1"/>
          <p:nvPr/>
        </p:nvSpPr>
        <p:spPr>
          <a:xfrm>
            <a:off x="226808" y="542533"/>
            <a:ext cx="2196627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How does DNS work?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478D61-4C92-7941-58A9-5E82685F356E}"/>
              </a:ext>
            </a:extLst>
          </p:cNvPr>
          <p:cNvSpPr/>
          <p:nvPr/>
        </p:nvSpPr>
        <p:spPr>
          <a:xfrm>
            <a:off x="3905249" y="25434"/>
            <a:ext cx="43815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DNS: A Beginner's Guide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95480-99FE-2F61-67F6-94F4E8014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126" y="2430627"/>
            <a:ext cx="7104783" cy="428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77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07436" y="961207"/>
            <a:ext cx="11832164" cy="1323439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1600" b="1" dirty="0">
                <a:solidFill>
                  <a:srgbClr val="FF0000"/>
                </a:solidFill>
                <a:latin typeface="Söhne"/>
              </a:rPr>
              <a:t>4</a:t>
            </a:r>
            <a:r>
              <a:rPr lang="en-US" sz="1600" b="1" i="0" dirty="0">
                <a:solidFill>
                  <a:srgbClr val="FF0000"/>
                </a:solidFill>
                <a:effectLst/>
                <a:latin typeface="Söhne"/>
              </a:rPr>
              <a:t>. Top-Level Domain (TLD) Servers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: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root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DNS server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directs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DNS resolver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to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TLD server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responsible for the specific domain extension (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e.g., .com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).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TLD server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provides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IP address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of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authoritative name server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for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domain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  <a:b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sz="1600" b="0" i="0" dirty="0">
              <a:solidFill>
                <a:srgbClr val="FF0000"/>
              </a:solidFill>
              <a:effectLst/>
              <a:latin typeface="Söhne"/>
            </a:endParaRPr>
          </a:p>
          <a:p>
            <a:pPr algn="l"/>
            <a:r>
              <a:rPr lang="en-US" sz="1600" b="1" dirty="0">
                <a:solidFill>
                  <a:srgbClr val="FF0000"/>
                </a:solidFill>
                <a:latin typeface="Söhne"/>
              </a:rPr>
              <a:t>5</a:t>
            </a:r>
            <a:r>
              <a:rPr lang="en-US" sz="1600" b="1" i="0" dirty="0">
                <a:solidFill>
                  <a:srgbClr val="FF0000"/>
                </a:solidFill>
                <a:effectLst/>
                <a:latin typeface="Söhne"/>
              </a:rPr>
              <a:t>. Authoritative Name Server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: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DNS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resolver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 contacts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authoritative name server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for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domain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 (provided by the domain registrar or hosting provider). This server holds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DNS records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for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domain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, including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IP address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associated with the requested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domain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name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D1BC91-471D-C9CD-39B4-2D0792D039D3}"/>
              </a:ext>
            </a:extLst>
          </p:cNvPr>
          <p:cNvSpPr txBox="1"/>
          <p:nvPr/>
        </p:nvSpPr>
        <p:spPr>
          <a:xfrm>
            <a:off x="226808" y="542533"/>
            <a:ext cx="2196627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How does DNS work?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478D61-4C92-7941-58A9-5E82685F356E}"/>
              </a:ext>
            </a:extLst>
          </p:cNvPr>
          <p:cNvSpPr/>
          <p:nvPr/>
        </p:nvSpPr>
        <p:spPr>
          <a:xfrm>
            <a:off x="3905249" y="25434"/>
            <a:ext cx="43815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DNS: A Beginner's Guide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95480-99FE-2F61-67F6-94F4E8014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126" y="2430627"/>
            <a:ext cx="7104783" cy="428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77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07436" y="961207"/>
            <a:ext cx="11832164" cy="1323439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1600" b="1" dirty="0">
                <a:solidFill>
                  <a:srgbClr val="FF0000"/>
                </a:solidFill>
                <a:latin typeface="Söhne"/>
              </a:rPr>
              <a:t>6&amp;7.</a:t>
            </a:r>
            <a:r>
              <a:rPr lang="en-US" sz="1600" b="1" i="0" dirty="0">
                <a:solidFill>
                  <a:srgbClr val="FF0000"/>
                </a:solidFill>
                <a:effectLst/>
                <a:latin typeface="Söhne"/>
              </a:rPr>
              <a:t> Response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: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authoritative name server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sends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IP address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back to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DNS resolver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, which caches the information for future use and forwards it to your device.</a:t>
            </a:r>
            <a:b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sz="1600" b="0" i="0" dirty="0">
              <a:solidFill>
                <a:srgbClr val="FF0000"/>
              </a:solidFill>
              <a:effectLst/>
              <a:latin typeface="Söhne"/>
            </a:endParaRPr>
          </a:p>
          <a:p>
            <a:pPr algn="l"/>
            <a:r>
              <a:rPr lang="en-US" sz="1600" b="1" dirty="0">
                <a:solidFill>
                  <a:srgbClr val="FF0000"/>
                </a:solidFill>
                <a:latin typeface="Söhne"/>
              </a:rPr>
              <a:t>8&amp;9. </a:t>
            </a:r>
            <a:r>
              <a:rPr lang="en-US" sz="1600" b="1" i="0" dirty="0">
                <a:solidFill>
                  <a:srgbClr val="FF0000"/>
                </a:solidFill>
                <a:effectLst/>
                <a:latin typeface="Söhne"/>
              </a:rPr>
              <a:t>Accessing the Website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: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Armed with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the IP address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, your device can now establish a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connection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 with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web server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hosting the requested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website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. Your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browser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 retrieves the web page content, and you see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website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 displayed in your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browser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 window.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D1BC91-471D-C9CD-39B4-2D0792D039D3}"/>
              </a:ext>
            </a:extLst>
          </p:cNvPr>
          <p:cNvSpPr txBox="1"/>
          <p:nvPr/>
        </p:nvSpPr>
        <p:spPr>
          <a:xfrm>
            <a:off x="226808" y="542533"/>
            <a:ext cx="2196627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How does DNS work?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478D61-4C92-7941-58A9-5E82685F356E}"/>
              </a:ext>
            </a:extLst>
          </p:cNvPr>
          <p:cNvSpPr/>
          <p:nvPr/>
        </p:nvSpPr>
        <p:spPr>
          <a:xfrm>
            <a:off x="3905249" y="25434"/>
            <a:ext cx="43815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DNS: A Beginner's Guide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95480-99FE-2F61-67F6-94F4E8014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126" y="2430627"/>
            <a:ext cx="7104783" cy="428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08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478D61-4C92-7941-58A9-5E82685F356E}"/>
              </a:ext>
            </a:extLst>
          </p:cNvPr>
          <p:cNvSpPr/>
          <p:nvPr/>
        </p:nvSpPr>
        <p:spPr>
          <a:xfrm>
            <a:off x="3905249" y="25434"/>
            <a:ext cx="43815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DNS: A Beginner's Guide</a:t>
            </a:r>
          </a:p>
        </p:txBody>
      </p:sp>
      <p:pic>
        <p:nvPicPr>
          <p:cNvPr id="1026" name="Picture 2" descr="What is DNS? – Introduction to DNS - AWS">
            <a:extLst>
              <a:ext uri="{FF2B5EF4-FFF2-40B4-BE49-F238E27FC236}">
                <a16:creationId xmlns:a16="http://schemas.microsoft.com/office/drawing/2014/main" id="{D704D8DC-D59E-1EAB-CE82-CCEE26135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609600"/>
            <a:ext cx="7924800" cy="6059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2341286-1FD0-A57E-9450-5859E55026AD}"/>
              </a:ext>
            </a:extLst>
          </p:cNvPr>
          <p:cNvSpPr/>
          <p:nvPr/>
        </p:nvSpPr>
        <p:spPr>
          <a:xfrm>
            <a:off x="8286751" y="3733800"/>
            <a:ext cx="857249" cy="914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01970F-DD9F-D7F7-55FE-7209D45AD827}"/>
              </a:ext>
            </a:extLst>
          </p:cNvPr>
          <p:cNvSpPr txBox="1"/>
          <p:nvPr/>
        </p:nvSpPr>
        <p:spPr>
          <a:xfrm>
            <a:off x="7932495" y="4684059"/>
            <a:ext cx="1516305" cy="58477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i="0" dirty="0">
                <a:solidFill>
                  <a:schemeClr val="bg1"/>
                </a:solidFill>
                <a:effectLst/>
                <a:latin typeface="Söhne"/>
              </a:rPr>
              <a:t>Authoritative </a:t>
            </a:r>
          </a:p>
          <a:p>
            <a:pPr algn="ctr"/>
            <a:r>
              <a:rPr lang="en-US" sz="1600" b="1" i="0" dirty="0">
                <a:solidFill>
                  <a:schemeClr val="bg1"/>
                </a:solidFill>
                <a:effectLst/>
                <a:latin typeface="Söhne"/>
              </a:rPr>
              <a:t>Name Server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A78835B-1186-7338-5805-67EEA7231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6272" y="3801930"/>
            <a:ext cx="518205" cy="33530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850D197-BBD3-7787-D7F5-D48E11BD48AA}"/>
              </a:ext>
            </a:extLst>
          </p:cNvPr>
          <p:cNvSpPr txBox="1"/>
          <p:nvPr/>
        </p:nvSpPr>
        <p:spPr>
          <a:xfrm>
            <a:off x="5638800" y="2740223"/>
            <a:ext cx="264795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i="0" dirty="0">
                <a:effectLst/>
                <a:latin typeface="Söhne"/>
              </a:rPr>
              <a:t>Go to Authoritative Name Server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847182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07436" y="961207"/>
            <a:ext cx="11832164" cy="1015663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DNS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operates in the background, making the internet more user-friendly by allowing us to use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domain names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instead of numerical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IP addresses.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It's a distributed system, with multiple servers working together to ensure efficient and accurate resolution of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domain names to IP addresses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  <a:endParaRPr lang="en-US" sz="3200" b="0" i="0" dirty="0">
              <a:solidFill>
                <a:srgbClr val="0D0D0D"/>
              </a:solidFill>
              <a:effectLst/>
              <a:latin typeface="Söhn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D1BC91-471D-C9CD-39B4-2D0792D039D3}"/>
              </a:ext>
            </a:extLst>
          </p:cNvPr>
          <p:cNvSpPr txBox="1"/>
          <p:nvPr/>
        </p:nvSpPr>
        <p:spPr>
          <a:xfrm>
            <a:off x="226808" y="542533"/>
            <a:ext cx="1077090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478D61-4C92-7941-58A9-5E82685F356E}"/>
              </a:ext>
            </a:extLst>
          </p:cNvPr>
          <p:cNvSpPr/>
          <p:nvPr/>
        </p:nvSpPr>
        <p:spPr>
          <a:xfrm>
            <a:off x="3905249" y="25434"/>
            <a:ext cx="43815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DNS: A Beginner's Guide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95480-99FE-2F61-67F6-94F4E8014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126" y="2286000"/>
            <a:ext cx="7104783" cy="428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393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91810</TotalTime>
  <Words>557</Words>
  <Application>Microsoft Office PowerPoint</Application>
  <PresentationFormat>Widescreen</PresentationFormat>
  <Paragraphs>34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Söhne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9973</cp:revision>
  <dcterms:created xsi:type="dcterms:W3CDTF">2006-08-16T00:00:00Z</dcterms:created>
  <dcterms:modified xsi:type="dcterms:W3CDTF">2024-04-07T02:55:26Z</dcterms:modified>
</cp:coreProperties>
</file>