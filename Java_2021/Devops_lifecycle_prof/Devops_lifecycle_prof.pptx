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3"/>
  </p:notesMasterIdLst>
  <p:sldIdLst>
    <p:sldId id="478" r:id="rId2"/>
    <p:sldId id="479" r:id="rId3"/>
    <p:sldId id="480" r:id="rId4"/>
    <p:sldId id="481" r:id="rId5"/>
    <p:sldId id="482" r:id="rId6"/>
    <p:sldId id="483" r:id="rId7"/>
    <p:sldId id="484" r:id="rId8"/>
    <p:sldId id="485" r:id="rId9"/>
    <p:sldId id="486" r:id="rId10"/>
    <p:sldId id="487" r:id="rId11"/>
    <p:sldId id="491" r:id="rId12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DA"/>
    <a:srgbClr val="004620"/>
    <a:srgbClr val="E0ABAA"/>
    <a:srgbClr val="AF423F"/>
    <a:srgbClr val="FFCE33"/>
    <a:srgbClr val="CC9B00"/>
    <a:srgbClr val="005C2A"/>
    <a:srgbClr val="2AE456"/>
    <a:srgbClr val="FF505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7/1/2024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8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530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13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81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70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33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151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21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83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427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73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533400"/>
            <a:ext cx="357553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DevOps Lifecycle?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214427E1-A554-EF99-7C5B-793EF1A0574E}"/>
              </a:ext>
            </a:extLst>
          </p:cNvPr>
          <p:cNvSpPr/>
          <p:nvPr/>
        </p:nvSpPr>
        <p:spPr>
          <a:xfrm>
            <a:off x="117613" y="1104452"/>
            <a:ext cx="11921987" cy="1496390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The </a:t>
            </a:r>
            <a:r>
              <a:rPr lang="en-US" sz="2400" dirty="0">
                <a:solidFill>
                  <a:srgbClr val="FF0000"/>
                </a:solidFill>
              </a:rPr>
              <a:t>DevOps lifecycle </a:t>
            </a:r>
            <a:r>
              <a:rPr lang="en-US" sz="2400" dirty="0">
                <a:solidFill>
                  <a:schemeClr val="tx1"/>
                </a:solidFill>
              </a:rPr>
              <a:t>is a continuous process that </a:t>
            </a:r>
            <a:r>
              <a:rPr lang="en-US" sz="2400" dirty="0">
                <a:solidFill>
                  <a:srgbClr val="FF0000"/>
                </a:solidFill>
              </a:rPr>
              <a:t>integrates software development (Dev) and IT operations (Ops) </a:t>
            </a:r>
            <a:r>
              <a:rPr lang="en-US" sz="2400" dirty="0">
                <a:solidFill>
                  <a:schemeClr val="tx1"/>
                </a:solidFill>
              </a:rPr>
              <a:t>to enhance the </a:t>
            </a:r>
            <a:r>
              <a:rPr lang="en-US" sz="2400" dirty="0">
                <a:solidFill>
                  <a:srgbClr val="FF0000"/>
                </a:solidFill>
              </a:rPr>
              <a:t>collaboration</a:t>
            </a:r>
            <a:r>
              <a:rPr lang="en-US" sz="2400" dirty="0">
                <a:solidFill>
                  <a:schemeClr val="tx1"/>
                </a:solidFill>
              </a:rPr>
              <a:t> between these traditionally </a:t>
            </a:r>
            <a:r>
              <a:rPr lang="en-US" sz="2400" dirty="0">
                <a:solidFill>
                  <a:srgbClr val="FF0000"/>
                </a:solidFill>
              </a:rPr>
              <a:t>siloed teams</a:t>
            </a:r>
            <a:r>
              <a:rPr lang="en-US" sz="2400" dirty="0">
                <a:solidFill>
                  <a:schemeClr val="tx1"/>
                </a:solidFill>
              </a:rPr>
              <a:t>. This integration aims to improve the efficiency, speed, and quality of software delivery. 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98E3CF-CD5E-8F3A-577A-C7952B8D0396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0134E8-0DB8-036D-5BF4-50773EA28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369" y="3197229"/>
            <a:ext cx="6160474" cy="321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0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8F21DE-BAF1-7B18-0CC7-C3179453A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27" y="3441204"/>
            <a:ext cx="6160474" cy="3211676"/>
          </a:xfrm>
          <a:prstGeom prst="rect">
            <a:avLst/>
          </a:prstGeom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702205"/>
            <a:ext cx="1175865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1. Planning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Description</a:t>
            </a:r>
            <a:r>
              <a:rPr lang="en-US" sz="2000" dirty="0">
                <a:solidFill>
                  <a:schemeClr val="tx1"/>
                </a:solidFill>
              </a:rPr>
              <a:t>: This phase involves </a:t>
            </a:r>
            <a:r>
              <a:rPr lang="en-US" sz="2000" dirty="0">
                <a:solidFill>
                  <a:srgbClr val="C00000"/>
                </a:solidFill>
              </a:rPr>
              <a:t>defining the vision and goals</a:t>
            </a:r>
            <a:r>
              <a:rPr lang="en-US" sz="2000" dirty="0">
                <a:solidFill>
                  <a:schemeClr val="tx1"/>
                </a:solidFill>
              </a:rPr>
              <a:t> of the software project. It includes requirements gathering, project management, and roadmap creation.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</a:t>
            </a:r>
            <a:r>
              <a:rPr lang="en-US" sz="2000" dirty="0">
                <a:solidFill>
                  <a:schemeClr val="tx1"/>
                </a:solidFill>
              </a:rPr>
              <a:t>: JIRA, Confluence, Trello.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791200" y="2749013"/>
            <a:ext cx="295563" cy="16705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6F2C469-887F-1B26-A825-724B77209F97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129027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7171FD-10F5-D5B4-6070-0AA30DEDB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27" y="3441204"/>
            <a:ext cx="6160474" cy="3211676"/>
          </a:xfrm>
          <a:prstGeom prst="rect">
            <a:avLst/>
          </a:prstGeom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2. Coding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Description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rgbClr val="C00000"/>
                </a:solidFill>
              </a:rPr>
              <a:t>Developers write code </a:t>
            </a:r>
            <a:r>
              <a:rPr lang="en-US" sz="2000" dirty="0">
                <a:solidFill>
                  <a:schemeClr val="tx1"/>
                </a:solidFill>
              </a:rPr>
              <a:t>based on the requirements and plans. This phase emphasizes coding standards, peer reviews, and version control.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</a:t>
            </a:r>
            <a:r>
              <a:rPr lang="en-US" sz="2000" dirty="0">
                <a:solidFill>
                  <a:schemeClr val="tx1"/>
                </a:solidFill>
              </a:rPr>
              <a:t>: Git, GitHub, GitLab, Bitbucket.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4800600" y="2759336"/>
            <a:ext cx="789518" cy="11268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9C7ABC0-5C40-050E-A24A-201F1A3958FB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392591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61FE40-BDBD-4448-7457-CF7D07F8D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27" y="3441204"/>
            <a:ext cx="6160474" cy="3211676"/>
          </a:xfrm>
          <a:prstGeom prst="rect">
            <a:avLst/>
          </a:prstGeom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3. Building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Description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rgbClr val="C00000"/>
                </a:solidFill>
              </a:rPr>
              <a:t>The code is compiled and packaged into executable files</a:t>
            </a:r>
            <a:r>
              <a:rPr lang="en-US" sz="2000" dirty="0">
                <a:solidFill>
                  <a:schemeClr val="tx1"/>
                </a:solidFill>
              </a:rPr>
              <a:t>. This phase includes integrating all the code changes and dependencies into a build.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</a:t>
            </a:r>
            <a:r>
              <a:rPr lang="en-US" sz="2000" dirty="0">
                <a:solidFill>
                  <a:schemeClr val="tx1"/>
                </a:solidFill>
              </a:rPr>
              <a:t>: Jenkins, Maven, Gradle, Bamboo.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2057400" y="2743200"/>
            <a:ext cx="1295400" cy="2133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BCDE70F-F109-9FC4-8A98-DF408E3DC154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229100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99C612-DB3F-F109-65C2-BC739558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27" y="3441204"/>
            <a:ext cx="6160474" cy="3211676"/>
          </a:xfrm>
          <a:prstGeom prst="rect">
            <a:avLst/>
          </a:prstGeom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4. Testing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Description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rgbClr val="C00000"/>
                </a:solidFill>
              </a:rPr>
              <a:t>Automated and manual tests are conducted</a:t>
            </a:r>
            <a:r>
              <a:rPr lang="en-US" sz="2000" dirty="0">
                <a:solidFill>
                  <a:schemeClr val="tx1"/>
                </a:solidFill>
              </a:rPr>
              <a:t> to ensure code quality and functionality. This phase aims to identify bugs and issues before deployment.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</a:t>
            </a:r>
            <a:r>
              <a:rPr lang="en-US" sz="2000" dirty="0">
                <a:solidFill>
                  <a:schemeClr val="tx1"/>
                </a:solidFill>
              </a:rPr>
              <a:t>: Selenium, JUnit, TestNG, </a:t>
            </a:r>
            <a:r>
              <a:rPr lang="en-US" sz="2000" dirty="0" err="1">
                <a:solidFill>
                  <a:schemeClr val="tx1"/>
                </a:solidFill>
              </a:rPr>
              <a:t>NUnit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2057400" y="2743200"/>
            <a:ext cx="2590800" cy="3276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F46B415-6DC5-F3A2-935D-D33B758D86BA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111748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C9995B-4CDD-4D12-0299-86A25AC32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27" y="3441204"/>
            <a:ext cx="6160474" cy="3211676"/>
          </a:xfrm>
          <a:prstGeom prst="rect">
            <a:avLst/>
          </a:prstGeom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5. Release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Description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rgbClr val="C00000"/>
                </a:solidFill>
              </a:rPr>
              <a:t>The tested build is deployed to a staging or production environment</a:t>
            </a:r>
            <a:r>
              <a:rPr lang="en-US" sz="2000" dirty="0">
                <a:solidFill>
                  <a:schemeClr val="tx1"/>
                </a:solidFill>
              </a:rPr>
              <a:t>. This phase ensures that the deployment process is smooth and minimizes downtime.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</a:t>
            </a:r>
            <a:r>
              <a:rPr lang="en-US" sz="2000" dirty="0">
                <a:solidFill>
                  <a:schemeClr val="tx1"/>
                </a:solidFill>
              </a:rPr>
              <a:t>: Jenkins, Travis CI, </a:t>
            </a:r>
            <a:r>
              <a:rPr lang="en-US" sz="2000" dirty="0" err="1">
                <a:solidFill>
                  <a:schemeClr val="tx1"/>
                </a:solidFill>
              </a:rPr>
              <a:t>CircleCI</a:t>
            </a:r>
            <a:r>
              <a:rPr lang="en-US" sz="2000" dirty="0">
                <a:solidFill>
                  <a:schemeClr val="tx1"/>
                </a:solidFill>
              </a:rPr>
              <a:t>, Spinnaker.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5105400" y="2743200"/>
            <a:ext cx="1143000" cy="1905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9EFA01E-7B6A-0EC7-E4E1-4C2EA3449A55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213973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8A828F-F9FF-0FB7-1118-C46368B38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27" y="3441204"/>
            <a:ext cx="6160474" cy="3211676"/>
          </a:xfrm>
          <a:prstGeom prst="rect">
            <a:avLst/>
          </a:prstGeom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6. Deployment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Description</a:t>
            </a:r>
            <a:r>
              <a:rPr lang="en-US" sz="2000" dirty="0">
                <a:solidFill>
                  <a:schemeClr val="tx1"/>
                </a:solidFill>
              </a:rPr>
              <a:t>: The software is deployed to the production environment. This phase involves </a:t>
            </a:r>
            <a:r>
              <a:rPr lang="en-US" sz="2000" dirty="0">
                <a:solidFill>
                  <a:srgbClr val="C00000"/>
                </a:solidFill>
              </a:rPr>
              <a:t>monitoring the deployment process and ensuring that the software runs as expected.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</a:t>
            </a:r>
            <a:r>
              <a:rPr lang="en-US" sz="2000" dirty="0">
                <a:solidFill>
                  <a:schemeClr val="tx1"/>
                </a:solidFill>
              </a:rPr>
              <a:t>: Kubernetes, Docker, OpenShift, AWS </a:t>
            </a:r>
            <a:r>
              <a:rPr lang="en-US" sz="2000" dirty="0" err="1">
                <a:solidFill>
                  <a:schemeClr val="tx1"/>
                </a:solidFill>
              </a:rPr>
              <a:t>CodeDeploy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6858000" y="2743200"/>
            <a:ext cx="457200" cy="1143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8A1F1A3-780E-21B0-1C71-49CDBFADF359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333311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0D47F2-0300-C14C-9F0A-B5668970F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27" y="3441204"/>
            <a:ext cx="6160474" cy="3211676"/>
          </a:xfrm>
          <a:prstGeom prst="rect">
            <a:avLst/>
          </a:prstGeom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7. Operations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Description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rgbClr val="C00000"/>
                </a:solidFill>
              </a:rPr>
              <a:t>The deployed software is continuously monitored for performance, availability, and security</a:t>
            </a:r>
            <a:r>
              <a:rPr lang="en-US" sz="2000" dirty="0">
                <a:solidFill>
                  <a:schemeClr val="tx1"/>
                </a:solidFill>
              </a:rPr>
              <a:t>. This phase focuses on maintaining the health of the system.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</a:t>
            </a:r>
            <a:r>
              <a:rPr lang="en-US" sz="2000" dirty="0">
                <a:solidFill>
                  <a:schemeClr val="tx1"/>
                </a:solidFill>
              </a:rPr>
              <a:t>: Nagios, Prometheus, Grafana, ELK Stack.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8686800" y="2727960"/>
            <a:ext cx="1600200" cy="214884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2C37351-810F-DD71-977C-BED54E3FEDE9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77968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529063-ABC9-6B15-8B0F-1DD8D5563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27" y="3441204"/>
            <a:ext cx="6160474" cy="3211676"/>
          </a:xfrm>
          <a:prstGeom prst="rect">
            <a:avLst/>
          </a:prstGeom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8. Monitoring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Description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rgbClr val="C00000"/>
                </a:solidFill>
              </a:rPr>
              <a:t>Continuous monitoring and logging</a:t>
            </a:r>
            <a:r>
              <a:rPr lang="en-US" sz="2000" dirty="0">
                <a:solidFill>
                  <a:schemeClr val="tx1"/>
                </a:solidFill>
              </a:rPr>
              <a:t> provide insights into the system's performance and user behavior. This phase helps in proactive issue resolution and system improvements.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</a:t>
            </a:r>
            <a:r>
              <a:rPr lang="en-US" sz="2000" dirty="0">
                <a:solidFill>
                  <a:schemeClr val="tx1"/>
                </a:solidFill>
              </a:rPr>
              <a:t>: Splunk, Dynatrace, New Relic, Datadog.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7620000" y="2727960"/>
            <a:ext cx="2667000" cy="336804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C190D0E-933C-3CD7-718E-5B151F67CFEE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412321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179918" y="1800668"/>
            <a:ext cx="11832163" cy="4343400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b="1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Enhanced Collaboration</a:t>
            </a:r>
            <a:r>
              <a:rPr lang="en-US" sz="2000" dirty="0">
                <a:solidFill>
                  <a:schemeClr val="tx1"/>
                </a:solidFill>
              </a:rPr>
              <a:t>: By breaking down silos, DevOps fosters a culture of collaboration between development and operations teams.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Faster Time to Market</a:t>
            </a:r>
            <a:r>
              <a:rPr lang="en-US" sz="2000" dirty="0">
                <a:solidFill>
                  <a:schemeClr val="tx1"/>
                </a:solidFill>
              </a:rPr>
              <a:t>: Continuous integration and continuous deployment (CI/CD) practices streamline the development and deployment processes, leading to quicker releases.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Improved Quality</a:t>
            </a:r>
            <a:r>
              <a:rPr lang="en-US" sz="2000" dirty="0">
                <a:solidFill>
                  <a:schemeClr val="tx1"/>
                </a:solidFill>
              </a:rPr>
              <a:t>: Automated testing and continuous monitoring ensure that issues are identified and resolved early, leading to higher-quality software.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Increased Efficiency</a:t>
            </a:r>
            <a:r>
              <a:rPr lang="en-US" sz="2000" dirty="0">
                <a:solidFill>
                  <a:schemeClr val="tx1"/>
                </a:solidFill>
              </a:rPr>
              <a:t>: Automation of repetitive tasks reduces manual effort and increases efficiency.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Scalability</a:t>
            </a:r>
            <a:r>
              <a:rPr lang="en-US" sz="2000" dirty="0">
                <a:solidFill>
                  <a:schemeClr val="tx1"/>
                </a:solidFill>
              </a:rPr>
              <a:t>: DevOps practices support scalable environments, making it easier to manage large-scale deployments.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DDD94-1E91-CF94-6E46-4DAFB28AE7B1}"/>
              </a:ext>
            </a:extLst>
          </p:cNvPr>
          <p:cNvSpPr txBox="1"/>
          <p:nvPr/>
        </p:nvSpPr>
        <p:spPr>
          <a:xfrm>
            <a:off x="4069181" y="1245479"/>
            <a:ext cx="4358437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Benefits of the DevOps Lifecycle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147BDC-E2B8-4317-6B5E-969F41EF3AE9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40534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1828800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2488569"/>
            <a:ext cx="11832163" cy="3192034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The </a:t>
            </a:r>
            <a:r>
              <a:rPr lang="en-US" sz="2400" dirty="0">
                <a:solidFill>
                  <a:srgbClr val="C00000"/>
                </a:solidFill>
              </a:rPr>
              <a:t>DevOps lifecycle </a:t>
            </a:r>
            <a:r>
              <a:rPr lang="en-US" sz="2400" dirty="0">
                <a:solidFill>
                  <a:schemeClr val="tx1"/>
                </a:solidFill>
              </a:rPr>
              <a:t>is an </a:t>
            </a:r>
            <a:r>
              <a:rPr lang="en-US" sz="2400" dirty="0">
                <a:solidFill>
                  <a:srgbClr val="C00000"/>
                </a:solidFill>
              </a:rPr>
              <a:t>iterative process </a:t>
            </a:r>
            <a:r>
              <a:rPr lang="en-US" sz="2400" dirty="0">
                <a:solidFill>
                  <a:schemeClr val="tx1"/>
                </a:solidFill>
              </a:rPr>
              <a:t>that emphasizes </a:t>
            </a:r>
            <a:r>
              <a:rPr lang="en-US" sz="2400" dirty="0">
                <a:solidFill>
                  <a:srgbClr val="C00000"/>
                </a:solidFill>
              </a:rPr>
              <a:t>collaboration, automation, and continuous improvement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C00000"/>
                </a:solidFill>
              </a:rPr>
              <a:t>By integrating development and operations</a:t>
            </a:r>
            <a:r>
              <a:rPr lang="en-US" sz="2400" dirty="0">
                <a:solidFill>
                  <a:schemeClr val="tx1"/>
                </a:solidFill>
              </a:rPr>
              <a:t>, organizations can achieve </a:t>
            </a:r>
            <a:r>
              <a:rPr lang="en-US" sz="2400" dirty="0">
                <a:solidFill>
                  <a:srgbClr val="C00000"/>
                </a:solidFill>
              </a:rPr>
              <a:t>faster delivery, higher quality, and improved efficiency</a:t>
            </a:r>
            <a:r>
              <a:rPr lang="en-US" sz="2400" dirty="0">
                <a:solidFill>
                  <a:schemeClr val="tx1"/>
                </a:solidFill>
              </a:rPr>
              <a:t> in software development and deployment.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Adopting the right tools and practices </a:t>
            </a:r>
            <a:r>
              <a:rPr lang="en-US" sz="2400" dirty="0">
                <a:solidFill>
                  <a:schemeClr val="tx1"/>
                </a:solidFill>
              </a:rPr>
              <a:t>at each stage of the lifecycle is crucial for maximizing the benefits of DevOps.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D67E2-57D2-CF64-FB41-766C84C65D98}"/>
              </a:ext>
            </a:extLst>
          </p:cNvPr>
          <p:cNvSpPr txBox="1"/>
          <p:nvPr/>
        </p:nvSpPr>
        <p:spPr>
          <a:xfrm>
            <a:off x="5292735" y="1916810"/>
            <a:ext cx="1606530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9B941F-E1D2-0DCF-3E98-CE629DBE7980}"/>
              </a:ext>
            </a:extLst>
          </p:cNvPr>
          <p:cNvSpPr/>
          <p:nvPr/>
        </p:nvSpPr>
        <p:spPr>
          <a:xfrm>
            <a:off x="1943100" y="71200"/>
            <a:ext cx="80009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the DevOps Lifecycle: A Comprehensive Guide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205587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93413</TotalTime>
  <Words>684</Words>
  <Application>Microsoft Office PowerPoint</Application>
  <PresentationFormat>Widescreen</PresentationFormat>
  <Paragraphs>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10188</cp:revision>
  <dcterms:created xsi:type="dcterms:W3CDTF">2006-08-16T00:00:00Z</dcterms:created>
  <dcterms:modified xsi:type="dcterms:W3CDTF">2024-07-01T08:22:16Z</dcterms:modified>
</cp:coreProperties>
</file>